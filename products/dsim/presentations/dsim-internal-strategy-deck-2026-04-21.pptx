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4A"/>
                </a:solidFill>
                <a:latin typeface="Arial"/>
              </a:rPr>
              <a:t>iROI by Channel — Lactalis PoC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iROI per $1 spent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8B1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8A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Onsite Search</c:v>
                  </c:pt>
                  <c:pt idx="1">
                    <c:v>Sponsored Brands</c:v>
                  </c:pt>
                  <c:pt idx="2">
                    <c:v>Offsite Display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</c:v>
                </c:pt>
                <c:pt idx="1">
                  <c:v>1.12</c:v>
                </c:pt>
                <c:pt idx="2">
                  <c:v>1.55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0"/>
            <a:ext cx="2587752" cy="91440"/>
          </a:xfrm>
          <a:prstGeom prst="rect">
            <a:avLst/>
          </a:prstGeom>
          <a:solidFill>
            <a:srgbClr val="E8612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60936" y="0"/>
            <a:ext cx="128016" cy="3200400"/>
          </a:xfrm>
          <a:prstGeom prst="rect">
            <a:avLst/>
          </a:prstGeom>
          <a:solidFill>
            <a:srgbClr val="E8612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STRATEGY REVIEW  ·  APRIL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Shelf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Measurement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02920" y="4069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attribution gap between media spend and shelf outcomes on Walmart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4663440"/>
            <a:ext cx="3200400" cy="36576"/>
          </a:xfrm>
          <a:prstGeom prst="rect">
            <a:avLst/>
          </a:prstGeom>
          <a:solidFill>
            <a:srgbClr val="E8612C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892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Sales Leadership  ·  CXO  ·  Engineering Leads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Agenda: Competitive landscape  ·  GTM plan  ·  Productization roadmap  ·  Risks  ·  Q2–Q3 KRAs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D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Has Moved. Measurement Hasn't.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media crossed $45B in 2025. Most brands still report success with platform-attributed ROAS — a number the platform controls.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98448"/>
            <a:ext cx="36576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3657600" cy="109728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$45B+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retail media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in 2025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Walmart: $4.5B+ of that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9392" y="1298448"/>
            <a:ext cx="36576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9392" y="1298448"/>
            <a:ext cx="3657600" cy="109728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463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462272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advertisers name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incrementality as top KPI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62272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most still measure via platform ROAS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93024" y="1298448"/>
            <a:ext cx="365760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1298448"/>
            <a:ext cx="3657600" cy="109728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1463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8375904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categories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uncontested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75904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Shelf-native diagnostic — DataWeave's space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11430000" cy="1234440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977640"/>
            <a:ext cx="73152" cy="1234440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0690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gap: brands running Walmart Connect campaigns can measure ROAS. They cannot measure whether that ROAS reflects truly incremental sales — or whether an availability issue, low Share of Search, or poor content silently suppressed the lift they paid for.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53949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DSIM was built to answer the question no activation platform, MMM, or retailer reporting tool closes.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Categories. One Uncontested Space.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 media measurement market has split into three distinct categories — each with a different buyer, question, and incentive structure.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61872"/>
            <a:ext cx="3749040" cy="4892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3749040" cy="128016"/>
          </a:xfrm>
          <a:prstGeom prst="rect">
            <a:avLst/>
          </a:prstGeom>
          <a:solidFill>
            <a:srgbClr val="D48B1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7218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8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Activation-Led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bids in real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338328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957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33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CommerceIQ, Pacvue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358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buyer: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ops / Campaign manager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675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913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optimize my campaigns right now?"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988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7365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conflict: model justifies more spend on their own platform. ROAS is the output; incrementality is the input to their bid engine.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1261872"/>
            <a:ext cx="3749040" cy="4892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1261872"/>
            <a:ext cx="3749040" cy="12801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147218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Measurement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80560" y="1938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this campaign generate net-new sales?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2304288"/>
            <a:ext cx="338328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23957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2633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Incremental.com, Skai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30358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buyer: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/ Marketing Finance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80560" y="3675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3913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 this campaign incremental?"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0560" y="44988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0560" y="47365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shelf-signal integration. Measures whether media worked — not what constrained it. National-level, no store-cluster resolution.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1261872"/>
            <a:ext cx="3749040" cy="489204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0" y="1261872"/>
            <a:ext cx="3749040" cy="128016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0" y="147218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Shelf-Native Diagnostic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412480" y="1938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lever drove sales — and why?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2304288"/>
            <a:ext cx="3383280" cy="18288"/>
          </a:xfrm>
          <a:prstGeom prst="rect">
            <a:avLst/>
          </a:prstGeom>
          <a:solidFill>
            <a:srgbClr val="3A5A8A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23957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2633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DataWeave DSIM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12480" y="30358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buyer: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RGM / Finance / C-suite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12480" y="3675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3913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of my 6 shelf + media levers drove incremental sales — and what should I change for next quarter?"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12480" y="44988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12480" y="47365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Uncontested — no competitor operates in this quadrant. Shelf signals as first-class inputs. Store-cluster localization. Vendor-neutral.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wouldn't let the student grade their own test."  — DataWeave DSIM positioning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Levers. One Causal Story.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DSIM models six shelf and media levers simultaneously — attributing how much each contributed to (or constrained) incremental sales.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566928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73152" cy="1444752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71600"/>
            <a:ext cx="640080" cy="210312"/>
          </a:xfrm>
          <a:prstGeom prst="rect">
            <a:avLst/>
          </a:prstGeom>
          <a:solidFill>
            <a:srgbClr val="1A6B4A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6245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On-Shelf Availability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time product is in-stock and purchasable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16712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caps media ROI — spending on out-of-stock products wastes every dollar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280160"/>
            <a:ext cx="566928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280160"/>
            <a:ext cx="73152" cy="1444752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1371600"/>
            <a:ext cx="640080" cy="210312"/>
          </a:xfrm>
          <a:prstGeom prst="rect">
            <a:avLst/>
          </a:prstGeom>
          <a:solidFill>
            <a:srgbClr val="1A6B4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36245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2376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Search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17830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category search results where brand appears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16712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Second-largest driver of sales velocity in Lactalis PoC; suppressed by competitive SoS loss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852928"/>
            <a:ext cx="566928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52928"/>
            <a:ext cx="73152" cy="1444752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2944368"/>
            <a:ext cx="640080" cy="210312"/>
          </a:xfrm>
          <a:prstGeom prst="rect">
            <a:avLst/>
          </a:prstGeom>
          <a:solidFill>
            <a:srgbClr val="1A6B4A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352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25880" y="2944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Quality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35584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completeness, image count, A+ content compliance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73989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add-to-cart rate and conversion rate upstream of any media-driven visit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852928"/>
            <a:ext cx="566928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2852928"/>
            <a:ext cx="73152" cy="1444752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2944368"/>
            <a:ext cx="640080" cy="210312"/>
          </a:xfrm>
          <a:prstGeom prst="rect">
            <a:avLst/>
          </a:prstGeom>
          <a:solidFill>
            <a:srgbClr val="2E5D9E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29352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23760" y="2944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Media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46520" y="335584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sales per $1 of Walmart Connect spend, by channel and campaign type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3739896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incremental lift from organic baseline; iROI identifies which channels over- or under-return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425696"/>
            <a:ext cx="566928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425696"/>
            <a:ext cx="73152" cy="1444752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517136"/>
            <a:ext cx="640080" cy="210312"/>
          </a:xfrm>
          <a:prstGeom prst="rect">
            <a:avLst/>
          </a:prstGeom>
          <a:solidFill>
            <a:srgbClr val="2E5D9E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50799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25880" y="45171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Sub-Brand Halo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492861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in Brand B organic sales attributed to Brand A media spend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5312664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Lactalis PoC: Kids/Baby media → +12% Adult sub-brand lift — invisible without DSIM decomposition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63640" y="4425696"/>
            <a:ext cx="5669280" cy="1444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63640" y="4425696"/>
            <a:ext cx="73152" cy="1444752"/>
          </a:xfrm>
          <a:prstGeom prst="rect">
            <a:avLst/>
          </a:prstGeom>
          <a:solidFill>
            <a:srgbClr val="1A6B4A"/>
          </a:solidFill>
          <a:ln/>
        </p:spPr>
      </p:sp>
      <p:sp>
        <p:nvSpPr>
          <p:cNvPr id="43" name="Shape 41"/>
          <p:cNvSpPr/>
          <p:nvPr/>
        </p:nvSpPr>
        <p:spPr>
          <a:xfrm>
            <a:off x="6446520" y="4517136"/>
            <a:ext cx="640080" cy="210312"/>
          </a:xfrm>
          <a:prstGeom prst="rect">
            <a:avLst/>
          </a:prstGeom>
          <a:solidFill>
            <a:srgbClr val="1A6B4A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450799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23760" y="45171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Promotion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46520" y="492861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depth and price competitiveness vs. category benchmark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46520" y="5312664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price-driven volume from media-driven volume in the model decomposition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Proof: What We Found on Our First Engagement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Lactalis PoC  ·  Sept 2025 – Jan 2026  ·  5 sub-brands  ·  17 store clusters  ·  Walmart-only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61872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2651760" cy="91440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0817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(R²)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70–80% typical MMM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261872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61872"/>
            <a:ext cx="2651760" cy="91440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40817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83280" y="2121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error (MAPE)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3957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10–15% industry standard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261872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61872"/>
            <a:ext cx="2651760" cy="9144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40817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$30K/d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263640" y="2121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Reallocation opportunity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3957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budget misallocation alone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06840" y="1261872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06840" y="1261872"/>
            <a:ext cx="2651760" cy="91440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140817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9144000" y="2121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clusters analyzed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0" y="23957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distinct media response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365760" y="2834640"/>
          <a:ext cx="58521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6492240" y="28346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492240" y="3291840"/>
            <a:ext cx="292608" cy="438912"/>
          </a:xfrm>
          <a:prstGeom prst="rect">
            <a:avLst/>
          </a:prstGeom>
          <a:solidFill>
            <a:srgbClr val="C0392B">
              <a:alpha val="8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492240" y="3291840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876288" y="33101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budget in Onsite Search (iROI 0.83) — losing money per dollar on the dominant channel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92240" y="3931920"/>
            <a:ext cx="292608" cy="438912"/>
          </a:xfrm>
          <a:prstGeom prst="rect">
            <a:avLst/>
          </a:prstGeom>
          <a:solidFill>
            <a:srgbClr val="1D8A5B">
              <a:alpha val="8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492240" y="3931920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876288" y="39502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budget in Offsite Display (iROI 1.55) — highest return, critically under-invested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492240" y="4572000"/>
            <a:ext cx="292608" cy="438912"/>
          </a:xfrm>
          <a:prstGeom prst="rect">
            <a:avLst/>
          </a:prstGeom>
          <a:solidFill>
            <a:srgbClr val="D48B14">
              <a:alpha val="8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6492240" y="4572000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8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876288" y="45902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in-stock during peak media periods — ad spend amplifying an availability problem, not solving it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492240" y="5212080"/>
            <a:ext cx="292608" cy="438912"/>
          </a:xfrm>
          <a:prstGeom prst="rect">
            <a:avLst/>
          </a:prstGeom>
          <a:solidFill>
            <a:srgbClr val="2E5D9E">
              <a:alpha val="8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6492240" y="5212080"/>
            <a:ext cx="292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876288" y="52303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Kids/Baby media generated +12% Adult sub-brand lift — invisible in any platform ROAS report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— Who, How, and When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Services-led motion first. Validate willingness-to-pay before investing in full productization.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61872"/>
            <a:ext cx="420624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4206240" cy="109728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356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 Profile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" y="1901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size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130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Mid-to-large CPG with $100M+ Walmart.com GMV/year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6334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buyer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28620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Director RGM or eCommerce Analytics — owns Walmart media budget, accountable to CFO for ROI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3364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35935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Channel Manager — daily user of output; owns availability and SoS KPIs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4096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trigger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43251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asking 'was our Walmart Connect spend worth it?' — or persistent availability issues suppressing media ROI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accounts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5056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Clorox · Mondelēz · Kraft Heinz · PepsiCo / Frito-Lay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298448"/>
            <a:ext cx="7086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Entry Paths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00600" y="1810512"/>
            <a:ext cx="70866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810512"/>
            <a:ext cx="73152" cy="1078992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22" name="Shape 20"/>
          <p:cNvSpPr/>
          <p:nvPr/>
        </p:nvSpPr>
        <p:spPr>
          <a:xfrm>
            <a:off x="4937760" y="2029968"/>
            <a:ext cx="438912" cy="438912"/>
          </a:xfrm>
          <a:prstGeom prst="ellipse">
            <a:avLst/>
          </a:prstGeom>
          <a:solidFill>
            <a:srgbClr val="1D8A5B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04688" y="19202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DataWeave accounts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04688" y="2286000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 via CS lead. Cross-sell DSIM to brands on DSA or other DataWeave data modules. Fastest to close — trust is established.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3017520"/>
            <a:ext cx="70866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017520"/>
            <a:ext cx="73152" cy="1078992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3236976"/>
            <a:ext cx="438912" cy="438912"/>
          </a:xfrm>
          <a:prstGeom prst="ellipse">
            <a:avLst/>
          </a:prstGeom>
          <a:solidFill>
            <a:srgbClr val="E8612C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236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04688" y="31272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losses and churned accounts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04688" y="3493008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lost to competitors or churned from DataWeave. DSIM offers the attribution layer that wasn't available in the original relationship.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4224528"/>
            <a:ext cx="70866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4224528"/>
            <a:ext cx="73152" cy="1078992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34" name="Shape 32"/>
          <p:cNvSpPr/>
          <p:nvPr/>
        </p:nvSpPr>
        <p:spPr>
          <a:xfrm>
            <a:off x="4937760" y="4443984"/>
            <a:ext cx="438912" cy="438912"/>
          </a:xfrm>
          <a:prstGeom prst="ellipse">
            <a:avLst/>
          </a:prstGeom>
          <a:solidFill>
            <a:srgbClr val="2E5D9E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4443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04688" y="433425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New-to-DataWeave via cold outreach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504688" y="4700016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RGM at Tier 1/2 CPG brands tied to Walmart JBP cycle. Q2 outreach aligns with post-JBP reassessment — optimal timing window.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5440680"/>
            <a:ext cx="7086600" cy="804672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54681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550468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57515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outreach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(Clorox, Mondelēz)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28816" y="5925312"/>
            <a:ext cx="73152" cy="18288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550468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9400" y="57515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signed PoC SOW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0456" y="5925312"/>
            <a:ext cx="73152" cy="18288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46" name="Text 44"/>
          <p:cNvSpPr/>
          <p:nvPr/>
        </p:nvSpPr>
        <p:spPr>
          <a:xfrm>
            <a:off x="8321040" y="550468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21040" y="57515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PoC-to-paid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912096" y="5925312"/>
            <a:ext cx="73152" cy="18288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49" name="Text 47"/>
          <p:cNvSpPr/>
          <p:nvPr/>
        </p:nvSpPr>
        <p:spPr>
          <a:xfrm>
            <a:off x="10012680" y="550468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012680" y="57515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paying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Services to Product — Four Phases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Productization is earned, not assumed. Each phase gates on signal from the previous one. No phase is skipped on ambition alone.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61872"/>
            <a:ext cx="2788920" cy="443484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2788920" cy="109728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63040"/>
            <a:ext cx="502920" cy="502920"/>
          </a:xfrm>
          <a:prstGeom prst="ellipse">
            <a:avLst/>
          </a:prstGeom>
          <a:solidFill>
            <a:srgbClr val="E8612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4721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Services-Led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066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Q3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2514600" cy="18288"/>
          </a:xfrm>
          <a:prstGeom prst="rect">
            <a:avLst/>
          </a:prstGeom>
          <a:solidFill>
            <a:srgbClr val="3A5A8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5059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delivered manually by CS + DS team. PoC → paid engagement path. Validates the model's ROI story with real brand data.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7673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signal: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paying accounts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$300K+ ARR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526280"/>
            <a:ext cx="2514600" cy="18288"/>
          </a:xfrm>
          <a:prstGeom prst="rect">
            <a:avLst/>
          </a:prstGeom>
          <a:solidFill>
            <a:srgbClr val="3A5A8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617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gate: 2 accounts signed before productization investment is authorized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1261872"/>
            <a:ext cx="278892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1261872"/>
            <a:ext cx="2788920" cy="109728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rgbClr val="2E5D9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87368" y="14721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2066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2359152"/>
            <a:ext cx="25146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245059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DSIM Setup Wizard. Automated data pipeline. Results data store built behind the scenes. Output still via Tableau — delivery faster and cheaper.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37673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signal: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10-week time-to-insight (down from 13)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4526280"/>
            <a:ext cx="25146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4617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3+ concurrent PoCs running simultaneously hits delivery capacity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9360" y="1261872"/>
            <a:ext cx="278892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1261872"/>
            <a:ext cx="2788920" cy="109728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32" name="Shape 30"/>
          <p:cNvSpPr/>
          <p:nvPr/>
        </p:nvSpPr>
        <p:spPr>
          <a:xfrm>
            <a:off x="6446520" y="1463040"/>
            <a:ext cx="502920" cy="502920"/>
          </a:xfrm>
          <a:prstGeom prst="ellipse">
            <a:avLst/>
          </a:prstGeom>
          <a:solidFill>
            <a:srgbClr val="2E5D9E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59168" y="14721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46520" y="2066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2027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46520" y="2359152"/>
            <a:ext cx="25146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245059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product UI built on Phase 1 results store. Tableau deprecated. Agency export API goes live. Alert engine added for shelf threshold triggers.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46520" y="37673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signal: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4652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accounts; churn &lt; 20%; NPS &gt; 40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46520" y="4526280"/>
            <a:ext cx="25146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4617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Customer says 'we need a product, not a spreadsheet'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281160" y="1261872"/>
            <a:ext cx="278892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281160" y="1261872"/>
            <a:ext cx="2788920" cy="109728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44" name="Shape 42"/>
          <p:cNvSpPr/>
          <p:nvPr/>
        </p:nvSpPr>
        <p:spPr>
          <a:xfrm>
            <a:off x="9418320" y="1463040"/>
            <a:ext cx="502920" cy="5029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45" name="Text 43"/>
          <p:cNvSpPr/>
          <p:nvPr/>
        </p:nvSpPr>
        <p:spPr>
          <a:xfrm>
            <a:off x="9418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030968" y="14721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418320" y="20665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418320" y="2359152"/>
            <a:ext cx="25146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9" name="Text 47"/>
          <p:cNvSpPr/>
          <p:nvPr/>
        </p:nvSpPr>
        <p:spPr>
          <a:xfrm>
            <a:off x="9418320" y="245059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budget reallocation on DSIM outputs. Live media integration. DSIM and activation start to converge — on DataWeave's terms, not CommerceIQ's.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418320" y="37673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signal: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418320" y="4005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revenue from cross-brand and multi-retailer upsell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418320" y="4526280"/>
            <a:ext cx="25146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53" name="Text 51"/>
          <p:cNvSpPr/>
          <p:nvPr/>
        </p:nvSpPr>
        <p:spPr>
          <a:xfrm>
            <a:off x="9418320" y="4617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Competitive pressure or enterprise demand signals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587044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productization is triggered by signal, not schedule — and by capacity ceiling, not ambition.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Discovery: How PoC Becomes Product Signal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PoC is both a delivery and a discovery sprint — generating the feature signal that feeds productization.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10-Week PoC Process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52120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19072"/>
            <a:ext cx="73152" cy="1188720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" y="1792224"/>
            <a:ext cx="777240" cy="219456"/>
          </a:xfrm>
          <a:prstGeom prst="rect">
            <a:avLst/>
          </a:prstGeom>
          <a:solidFill>
            <a:srgbClr val="2E5D9E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7830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26464" y="18105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&amp; Data Onboarding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17627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brand's data streams: shelf KPIs source, campaign data access, Scintilla module access. Confirm sub-brand scope. Define store-cluster boundaries.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44952"/>
            <a:ext cx="52120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44952"/>
            <a:ext cx="73152" cy="118872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" y="3118104"/>
            <a:ext cx="777240" cy="219456"/>
          </a:xfrm>
          <a:prstGeom prst="rect">
            <a:avLst/>
          </a:prstGeom>
          <a:solidFill>
            <a:srgbClr val="E8612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1089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26464" y="31363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 &amp; Iteration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50215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model fit to historical data. Decompose across 6 levers. Cluster analysis. Iterate until model accuracy meets the MAPE target for this brand.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370832"/>
            <a:ext cx="52120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370832"/>
            <a:ext cx="73152" cy="1188720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" y="4443984"/>
            <a:ext cx="777240" cy="219456"/>
          </a:xfrm>
          <a:prstGeom prst="rect">
            <a:avLst/>
          </a:prstGeom>
          <a:solidFill>
            <a:srgbClr val="1D8A5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44348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8–10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26464" y="44622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Delivery &amp; Executive Readout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482803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+ executive presentation. Decomposition by sub-brand. Budget reallocation recommendations. CFO-defensible iROI numbers per channel.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1234440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Qualifying Questions for Every Scoping Call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897880" y="1764792"/>
            <a:ext cx="347472" cy="347472"/>
          </a:xfrm>
          <a:prstGeom prst="ellipse">
            <a:avLst/>
          </a:prstGeom>
          <a:solidFill>
            <a:srgbClr val="2E5D9E"/>
          </a:solidFill>
          <a:ln/>
        </p:spPr>
      </p:sp>
      <p:sp>
        <p:nvSpPr>
          <p:cNvPr id="27" name="Text 25"/>
          <p:cNvSpPr/>
          <p:nvPr/>
        </p:nvSpPr>
        <p:spPr>
          <a:xfrm>
            <a:off x="589788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82512" y="1719072"/>
            <a:ext cx="5623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Walmart Connect channel generated the most net-new incremental sales per dollar — not ROAS, but truly incremental? Can you show us the methodology behind that number today?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97880" y="2633472"/>
            <a:ext cx="347472" cy="347472"/>
          </a:xfrm>
          <a:prstGeom prst="ellipse">
            <a:avLst/>
          </a:prstGeom>
          <a:solidFill>
            <a:srgbClr val="2E5D9E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82512" y="2587752"/>
            <a:ext cx="5623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your last major media push, what was your in-stock rate by store cluster? Did you surface any availability issue in real time — or after the quarter closed?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97880" y="3502152"/>
            <a:ext cx="347472" cy="347472"/>
          </a:xfrm>
          <a:prstGeom prst="ellipse">
            <a:avLst/>
          </a:prstGeom>
          <a:solidFill>
            <a:srgbClr val="2E5D9E"/>
          </a:solidFill>
          <a:ln/>
        </p:spPr>
      </p:sp>
      <p:sp>
        <p:nvSpPr>
          <p:cNvPr id="33" name="Text 31"/>
          <p:cNvSpPr/>
          <p:nvPr/>
        </p:nvSpPr>
        <p:spPr>
          <a:xfrm>
            <a:off x="589788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82512" y="3456432"/>
            <a:ext cx="5623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sub-brands where one brand's media spend is lifting a sister brand's organic sales, and is that currently measured anywhere in your stack?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897880" y="4434840"/>
            <a:ext cx="61722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36" name="Text 34"/>
          <p:cNvSpPr/>
          <p:nvPr/>
        </p:nvSpPr>
        <p:spPr>
          <a:xfrm>
            <a:off x="5897880" y="452628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ideation loop (with every PoC customer)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97880" y="493776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new data dimensions would change how you allocate budget next quarter?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97880" y="5285232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format would your media agency need to act on this output directly — without a human intermediary?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897880" y="5632704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 would make this something your team opens weekly instead of quarterly?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897880" y="6016752"/>
            <a:ext cx="6172200" cy="566928"/>
          </a:xfrm>
          <a:prstGeom prst="rect">
            <a:avLst/>
          </a:prstGeom>
          <a:solidFill>
            <a:srgbClr val="EBF1FB"/>
          </a:solidFill>
          <a:ln/>
        </p:spPr>
      </p:sp>
      <p:sp>
        <p:nvSpPr>
          <p:cNvPr id="41" name="Shape 39"/>
          <p:cNvSpPr/>
          <p:nvPr/>
        </p:nvSpPr>
        <p:spPr>
          <a:xfrm>
            <a:off x="5897880" y="6016752"/>
            <a:ext cx="73152" cy="566928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42" name="Text 40"/>
          <p:cNvSpPr/>
          <p:nvPr/>
        </p:nvSpPr>
        <p:spPr>
          <a:xfrm>
            <a:off x="6053328" y="6062472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5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dashboard concepts (supplemental): Impact Decomposition Waterfall  ·  iROI by Channel  ·  Store Cluster Map  ·  Availability × Media Correlation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Force Us to Adapt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strategy is right for today's signal. These are the scenarios that would require a change of course.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486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73152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" y="1773936"/>
            <a:ext cx="640080" cy="201168"/>
          </a:xfrm>
          <a:prstGeom prst="rect">
            <a:avLst/>
          </a:prstGeom>
          <a:solidFill>
            <a:srgbClr val="C0392B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764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61872" y="176479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onboarding delay — brand cannot get campaign data access quickly enough to hit the 10-week delivery target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61872" y="2258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Pre-qualify data access in scoping call. Build API runway into timeline from day one. Cap at 2 simultaneous PoCs until SLA is validated.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5486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34640"/>
            <a:ext cx="73152" cy="1005840"/>
          </a:xfrm>
          <a:prstGeom prst="rect">
            <a:avLst/>
          </a:prstGeom>
          <a:solidFill>
            <a:srgbClr val="D48B14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" y="2916936"/>
            <a:ext cx="640080" cy="201168"/>
          </a:xfrm>
          <a:prstGeom prst="rect">
            <a:avLst/>
          </a:prstGeom>
          <a:solidFill>
            <a:srgbClr val="D48B14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907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8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61872" y="290779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and compliance concern — brand's legal team blocks sharing campaign or sales data with a third party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1872" y="3401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Define clear data handling policy in MSA. Explore cloud-to-cloud ingestion that avoids direct file transfer. Document encryption and access controls.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5486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77640"/>
            <a:ext cx="73152" cy="1005840"/>
          </a:xfrm>
          <a:prstGeom prst="rect">
            <a:avLst/>
          </a:prstGeom>
          <a:solidFill>
            <a:srgbClr val="D48B14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" y="4059936"/>
            <a:ext cx="640080" cy="201168"/>
          </a:xfrm>
          <a:prstGeom prst="rect">
            <a:avLst/>
          </a:prstGeom>
          <a:solidFill>
            <a:srgbClr val="D48B14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4050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8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61872" y="405079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are sufficient — brand perceives no gap that DSIM fills; existing reporting is 'good enough'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61872" y="4544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the 3 qualifying questions. Press on methodology: ask them to show you how they remove baseline from ROAS. The question usually surfaces the gap.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5120640"/>
            <a:ext cx="5486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5120640"/>
            <a:ext cx="73152" cy="1005840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" y="5202936"/>
            <a:ext cx="640080" cy="201168"/>
          </a:xfrm>
          <a:prstGeom prst="rect">
            <a:avLst/>
          </a:prstGeom>
          <a:solidFill>
            <a:srgbClr val="1D8A5B">
              <a:alpha val="2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5193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61872" y="519379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response — CommerceIQ or Profitero launches always-on diagnostics, neutralizing DSIM's positioning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61872" y="56875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Accelerate store-cluster localization as primary moat — competitors cannot replicate this with national-level models quickly.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Pivot Options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26480" y="157276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current GTM hits a ceiling, these are the pivots — from least to most disruptive: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2029968"/>
            <a:ext cx="5760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2029968"/>
            <a:ext cx="73152" cy="713232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35" name="Shape 33"/>
          <p:cNvSpPr/>
          <p:nvPr/>
        </p:nvSpPr>
        <p:spPr>
          <a:xfrm>
            <a:off x="6263640" y="2157984"/>
            <a:ext cx="347472" cy="347472"/>
          </a:xfrm>
          <a:prstGeom prst="ellipse">
            <a:avLst/>
          </a:prstGeom>
          <a:solidFill>
            <a:srgbClr val="1D8A5B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20840" y="2121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within existing DataWeave accounts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20840" y="2432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within current data relationships. Lowest friction. Ceiling: limited to DataWeave's current customer base.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2852928"/>
            <a:ext cx="5760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852928"/>
            <a:ext cx="73152" cy="713232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41" name="Shape 39"/>
          <p:cNvSpPr/>
          <p:nvPr/>
        </p:nvSpPr>
        <p:spPr>
          <a:xfrm>
            <a:off x="6263640" y="2980944"/>
            <a:ext cx="347472" cy="347472"/>
          </a:xfrm>
          <a:prstGeom prst="ellipse">
            <a:avLst/>
          </a:prstGeom>
          <a:solidFill>
            <a:srgbClr val="2E5D9E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20840" y="2944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Amazon and Target (Q4 2026+)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20840" y="32552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retailer coverage once Walmart PoC delivery SLA is proven. New ICP segment: multi-retailer RGM leads.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26480" y="3675888"/>
            <a:ext cx="5760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675888"/>
            <a:ext cx="73152" cy="713232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47" name="Shape 45"/>
          <p:cNvSpPr/>
          <p:nvPr/>
        </p:nvSpPr>
        <p:spPr>
          <a:xfrm>
            <a:off x="6263640" y="3803904"/>
            <a:ext cx="347472" cy="347472"/>
          </a:xfrm>
          <a:prstGeom prst="ellipse">
            <a:avLst/>
          </a:prstGeom>
          <a:solidFill>
            <a:srgbClr val="2E5D9E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20840" y="3767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certified Walmart measurement partner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20840" y="40782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Incremental.com. Official partner status generates inbound leads from Walmart's own brand relationships.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26480" y="4498848"/>
            <a:ext cx="5760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26480" y="4498848"/>
            <a:ext cx="73152" cy="713232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53" name="Shape 51"/>
          <p:cNvSpPr/>
          <p:nvPr/>
        </p:nvSpPr>
        <p:spPr>
          <a:xfrm>
            <a:off x="6263640" y="4626864"/>
            <a:ext cx="347472" cy="347472"/>
          </a:xfrm>
          <a:prstGeom prst="ellipse">
            <a:avLst/>
          </a:prstGeom>
          <a:solidFill>
            <a:srgbClr val="E8612C"/>
          </a:solidFill>
          <a:ln/>
        </p:spPr>
      </p:sp>
      <p:sp>
        <p:nvSpPr>
          <p:cNvPr id="54" name="Text 52"/>
          <p:cNvSpPr/>
          <p:nvPr/>
        </p:nvSpPr>
        <p:spPr>
          <a:xfrm>
            <a:off x="6263640" y="4626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720840" y="4590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brand category expansion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720840" y="4901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food/CPG to personal care, home goods, electronics. Or expand to non-Walmart retailers with similar shelf + media dynamics.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126480" y="5321808"/>
            <a:ext cx="57607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126480" y="5321808"/>
            <a:ext cx="73152" cy="713232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59" name="Shape 57"/>
          <p:cNvSpPr/>
          <p:nvPr/>
        </p:nvSpPr>
        <p:spPr>
          <a:xfrm>
            <a:off x="6263640" y="5449824"/>
            <a:ext cx="347472" cy="347472"/>
          </a:xfrm>
          <a:prstGeom prst="ellipse">
            <a:avLst/>
          </a:prstGeom>
          <a:solidFill>
            <a:srgbClr val="E8612C"/>
          </a:solidFill>
          <a:ln/>
        </p:spPr>
      </p:sp>
      <p:sp>
        <p:nvSpPr>
          <p:cNvPr id="60" name="Text 58"/>
          <p:cNvSpPr/>
          <p:nvPr/>
        </p:nvSpPr>
        <p:spPr>
          <a:xfrm>
            <a:off x="6263640" y="5449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720840" y="5413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partnership / white-label distribution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720840" y="57241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through media agencies (WPP, Publicis) that lack independent measurement. Scales deal velocity without scaling sales headcount.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 Areas — Q2 and Q3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11430000" cy="18288"/>
          </a:xfrm>
          <a:prstGeom prst="rect">
            <a:avLst/>
          </a:prstGeom>
          <a:solidFill>
            <a:srgbClr val="3A5A8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61872"/>
            <a:ext cx="5394960" cy="384048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261872"/>
            <a:ext cx="5248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 ·  April – June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5394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55648"/>
            <a:ext cx="73152" cy="82296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828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launched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17627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scoping calls completed — Clorox and Mondelēz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88336"/>
            <a:ext cx="5394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688336"/>
            <a:ext cx="73152" cy="82296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76148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established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10896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accounts in active PoC conversation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21024"/>
            <a:ext cx="5394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621024"/>
            <a:ext cx="73152" cy="82296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69417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SOW signed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404164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$50K–$75K PoC; data onboarding underway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553712"/>
            <a:ext cx="5394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4553712"/>
            <a:ext cx="73152" cy="822960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46268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 live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4974336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1-page brief + Lactalis methodology one-pager in Sales hands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1261872"/>
            <a:ext cx="5806440" cy="384048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25" name="Text 23"/>
          <p:cNvSpPr/>
          <p:nvPr/>
        </p:nvSpPr>
        <p:spPr>
          <a:xfrm>
            <a:off x="6181344" y="12618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·  July – September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1755648"/>
            <a:ext cx="5806440" cy="822960"/>
          </a:xfrm>
          <a:prstGeom prst="rect">
            <a:avLst/>
          </a:prstGeom>
          <a:solidFill>
            <a:srgbClr val="1A3B2A"/>
          </a:solidFill>
          <a:ln/>
        </p:spPr>
      </p:sp>
      <p:sp>
        <p:nvSpPr>
          <p:cNvPr id="27" name="Shape 25"/>
          <p:cNvSpPr/>
          <p:nvPr/>
        </p:nvSpPr>
        <p:spPr>
          <a:xfrm>
            <a:off x="6035040" y="1755648"/>
            <a:ext cx="73152" cy="822960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PoC delivered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9632" y="21762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≤ 8%; Tableau dashboard live; executive readout completed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2688336"/>
            <a:ext cx="5806440" cy="822960"/>
          </a:xfrm>
          <a:prstGeom prst="rect">
            <a:avLst/>
          </a:prstGeom>
          <a:solidFill>
            <a:srgbClr val="1A3B2A"/>
          </a:solidFill>
          <a:ln/>
        </p:spPr>
      </p:sp>
      <p:sp>
        <p:nvSpPr>
          <p:cNvPr id="31" name="Shape 29"/>
          <p:cNvSpPr/>
          <p:nvPr/>
        </p:nvSpPr>
        <p:spPr>
          <a:xfrm>
            <a:off x="6035040" y="2688336"/>
            <a:ext cx="73152" cy="822960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32" name="Text 30"/>
          <p:cNvSpPr/>
          <p:nvPr/>
        </p:nvSpPr>
        <p:spPr>
          <a:xfrm>
            <a:off x="6199632" y="2761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PoC-to-paid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99632" y="31089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$150K ARR; expansion or renewal conversation opened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3621024"/>
            <a:ext cx="5806440" cy="822960"/>
          </a:xfrm>
          <a:prstGeom prst="rect">
            <a:avLst/>
          </a:prstGeom>
          <a:solidFill>
            <a:srgbClr val="1A3B2A"/>
          </a:solidFill>
          <a:ln/>
        </p:spPr>
      </p:sp>
      <p:sp>
        <p:nvSpPr>
          <p:cNvPr id="35" name="Shape 33"/>
          <p:cNvSpPr/>
          <p:nvPr/>
        </p:nvSpPr>
        <p:spPr>
          <a:xfrm>
            <a:off x="6035040" y="3621024"/>
            <a:ext cx="73152" cy="822960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632" y="36941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signal achieved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199632" y="40416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paying accounts + $300K total ARR → initiate productization discovery sprint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35040" y="4553712"/>
            <a:ext cx="5806440" cy="822960"/>
          </a:xfrm>
          <a:prstGeom prst="rect">
            <a:avLst/>
          </a:prstGeom>
          <a:solidFill>
            <a:srgbClr val="1A3B2A"/>
          </a:solidFill>
          <a:ln/>
        </p:spPr>
      </p:sp>
      <p:sp>
        <p:nvSpPr>
          <p:cNvPr id="39" name="Shape 37"/>
          <p:cNvSpPr/>
          <p:nvPr/>
        </p:nvSpPr>
        <p:spPr>
          <a:xfrm>
            <a:off x="6035040" y="4553712"/>
            <a:ext cx="73152" cy="822960"/>
          </a:xfrm>
          <a:prstGeom prst="rect">
            <a:avLst/>
          </a:prstGeom>
          <a:solidFill>
            <a:srgbClr val="1D8A5B"/>
          </a:solidFill>
          <a:ln/>
        </p:spPr>
      </p:sp>
      <p:sp>
        <p:nvSpPr>
          <p:cNvPr id="40" name="Text 38"/>
          <p:cNvSpPr/>
          <p:nvPr/>
        </p:nvSpPr>
        <p:spPr>
          <a:xfrm>
            <a:off x="6199632" y="46268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Referenceable account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199632" y="497433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brand willing to be cited by name in an external case study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5943600"/>
            <a:ext cx="11475720" cy="658368"/>
          </a:xfrm>
          <a:prstGeom prst="rect">
            <a:avLst/>
          </a:prstGeom>
          <a:solidFill>
            <a:srgbClr val="0F1E38"/>
          </a:solidFill>
          <a:ln/>
        </p:spPr>
      </p:sp>
      <p:sp>
        <p:nvSpPr>
          <p:cNvPr id="43" name="Shape 41"/>
          <p:cNvSpPr/>
          <p:nvPr/>
        </p:nvSpPr>
        <p:spPr>
          <a:xfrm>
            <a:off x="365760" y="5943600"/>
            <a:ext cx="73152" cy="658368"/>
          </a:xfrm>
          <a:prstGeom prst="rect">
            <a:avLst/>
          </a:prstGeom>
          <a:solidFill>
            <a:srgbClr val="E8612C"/>
          </a:solidFill>
          <a:ln/>
        </p:spPr>
      </p:sp>
      <p:sp>
        <p:nvSpPr>
          <p:cNvPr id="44" name="Text 42"/>
          <p:cNvSpPr/>
          <p:nvPr/>
        </p:nvSpPr>
        <p:spPr>
          <a:xfrm>
            <a:off x="566928" y="598932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gate: If Q3 closes with 2 paying accounts and ≥ $300K ARR → initiate DSIM native product discovery sprint. If Q3 closes short → extend services phase, broaden ICP, or activate one of the strategic pivots from Slide 9.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5D9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Dashboard Concepts — Supplemental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mockups of the four core DSIM dashboard views. These are reference designs for Phase 2 productization scoping.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11430000" cy="18288"/>
          </a:xfrm>
          <a:prstGeom prst="rect">
            <a:avLst/>
          </a:prstGeom>
          <a:solidFill>
            <a:srgbClr val="DDE4F0"/>
          </a:solidFill>
          <a:ln/>
        </p:spPr>
      </p:sp>
      <p:pic>
        <p:nvPicPr>
          <p:cNvPr id="6" name="Image 0" descr="/Users/ia-479/Documents/pm-os/.claude/worktrees/awesome-lamarr-3a20ee/products/dsim/presentations/assets/iroi-cha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18488"/>
            <a:ext cx="5669280" cy="2395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5669280" cy="43891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1887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iROI by Channel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39903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channels generate net-new incremental sales per dollar?</a:t>
            </a:r>
            <a:endParaRPr lang="en-US" sz="1000" dirty="0"/>
          </a:p>
        </p:txBody>
      </p:sp>
      <p:pic>
        <p:nvPicPr>
          <p:cNvPr id="10" name="Image 1" descr="/Users/ia-479/Documents/pm-os/.claude/worktrees/awesome-lamarr-3a20ee/products/dsim/presentations/assets/impact-waterf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18488"/>
            <a:ext cx="5669280" cy="239572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43000"/>
            <a:ext cx="5669280" cy="43891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0" y="11887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Impact Decomposition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0" y="139903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did each of the 6 levers contribute to total sales?</a:t>
            </a:r>
            <a:endParaRPr lang="en-US" sz="1000" dirty="0"/>
          </a:p>
        </p:txBody>
      </p:sp>
      <p:pic>
        <p:nvPicPr>
          <p:cNvPr id="14" name="Image 2" descr="/Users/ia-479/Documents/pm-os/.claude/worktrees/awesome-lamarr-3a20ee/products/dsim/presentations/assets/store-clust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61688"/>
            <a:ext cx="5669280" cy="239572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65760" y="3886200"/>
            <a:ext cx="5669280" cy="43891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3931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Cluster Performance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02920" y="414223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store clusters are over- or under-invested in media?</a:t>
            </a:r>
            <a:endParaRPr lang="en-US" sz="1000" dirty="0"/>
          </a:p>
        </p:txBody>
      </p:sp>
      <p:pic>
        <p:nvPicPr>
          <p:cNvPr id="18" name="Image 3" descr="/Users/ia-479/Documents/pm-os/.claude/worktrees/awesome-lamarr-3a20ee/products/dsim/presentations/assets/availability-medi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361688"/>
            <a:ext cx="5669280" cy="239572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63640" y="3886200"/>
            <a:ext cx="5669280" cy="438912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0" name="Text 14"/>
          <p:cNvSpPr/>
          <p:nvPr/>
        </p:nvSpPr>
        <p:spPr>
          <a:xfrm>
            <a:off x="6400800" y="3931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× Media Correlation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0" y="414223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ED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availability constraints cap media ROI?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DSIM Internal Strategy Review — April 2026</dc:title>
  <dc:subject>PptxGenJS Presentation</dc:subject>
  <dc:creator>PptxGenJS</dc:creator>
  <cp:lastModifiedBy>PptxGenJS</cp:lastModifiedBy>
  <cp:revision>1</cp:revision>
  <dcterms:created xsi:type="dcterms:W3CDTF">2026-04-22T06:46:52Z</dcterms:created>
  <dcterms:modified xsi:type="dcterms:W3CDTF">2026-04-22T06:46:52Z</dcterms:modified>
</cp:coreProperties>
</file>