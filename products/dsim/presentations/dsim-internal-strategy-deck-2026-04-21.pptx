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iROI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B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48B1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8A5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8A5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Onsite Search</c:v>
                  </c:pt>
                  <c:pt idx="1">
                    <c:v>Sponsored Brands</c:v>
                  </c:pt>
                  <c:pt idx="2">
                    <c:v>Sponsored Brands Video</c:v>
                  </c:pt>
                  <c:pt idx="3">
                    <c:v>Offsite Display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0.83</c:v>
                </c:pt>
                <c:pt idx="1">
                  <c:v>1.12</c:v>
                </c:pt>
                <c:pt idx="2">
                  <c:v>1.28</c:v>
                </c:pt>
                <c:pt idx="3">
                  <c:v>1.55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2B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5"/>
        </c:scaling>
        <c:delete val="0"/>
        <c:axPos val="b"/>
        <c:majorGridlines>
          <c:spPr>
            <a:ln w="6350" cap="flat">
              <a:solidFill>
                <a:srgbClr val="DDE4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0"/>
            <a:ext cx="2587752" cy="91440"/>
          </a:xfrm>
          <a:prstGeom prst="rect">
            <a:avLst/>
          </a:prstGeom>
          <a:solidFill>
            <a:srgbClr val="E8612C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2060936" y="0"/>
            <a:ext cx="128016" cy="3200400"/>
          </a:xfrm>
          <a:prstGeom prst="rect">
            <a:avLst/>
          </a:prstGeom>
          <a:solidFill>
            <a:srgbClr val="E8612C">
              <a:alpha val="4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50" kern="0" dirty="0">
                <a:solidFill>
                  <a:srgbClr val="BED3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STRATEGY REVIEW  ·  APRIL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60020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Shelf</a:t>
            </a:r>
            <a:endParaRPr lang="en-US" sz="5000" dirty="0"/>
          </a:p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Measurement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502920" y="40690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BED3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attribution gap between media spend and shelf outcomes on Walmart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4663440"/>
            <a:ext cx="3200400" cy="36576"/>
          </a:xfrm>
          <a:prstGeom prst="rect">
            <a:avLst/>
          </a:prstGeom>
          <a:solidFill>
            <a:srgbClr val="E8612C">
              <a:alpha val="7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892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9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For: Sales Leadership  ·  CXO  ·  Engineering Leads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5212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Agenda: Competitive landscape  ·  GTM plan  ·  Productization roadmap  ·  Risks  ·  Q2–Q3 KRAs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D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Has Moved. Measurement Hasn't.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media crossed $45B in 2025. Most brands still report success with platform-attributed ROAS — a number the platform controls.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11430000" cy="18288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298448"/>
            <a:ext cx="365760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298448"/>
            <a:ext cx="3657600" cy="109728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4630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$45B+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548640" y="24231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retail media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in 2025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Walmart: $4.5B+ of that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9392" y="1298448"/>
            <a:ext cx="365760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79392" y="1298448"/>
            <a:ext cx="3657600" cy="109728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13" name="Text 11"/>
          <p:cNvSpPr/>
          <p:nvPr/>
        </p:nvSpPr>
        <p:spPr>
          <a:xfrm>
            <a:off x="4462272" y="14630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71%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4462272" y="24231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advertisers name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incrementality as top KPI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62272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most still measure via platform ROAS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93024" y="1298448"/>
            <a:ext cx="365760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298448"/>
            <a:ext cx="3657600" cy="109728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18" name="Text 16"/>
          <p:cNvSpPr/>
          <p:nvPr/>
        </p:nvSpPr>
        <p:spPr>
          <a:xfrm>
            <a:off x="8375904" y="14630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of 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8375904" y="24231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categories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remains uncontested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75904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Shelf-native diagnostic — DataWeave's space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977640"/>
            <a:ext cx="11430000" cy="1234440"/>
          </a:xfrm>
          <a:prstGeom prst="rect">
            <a:avLst/>
          </a:prstGeom>
          <a:solidFill>
            <a:srgbClr val="EBF1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" y="3977640"/>
            <a:ext cx="73152" cy="1234440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40690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gap: brands running Walmart Connect campaigns can measure ROAS. They cannot measure whether that ROAS reflects truly incremental sales — or whether an availability issue, low Share of Search, or poor content silently suppressed the lift they paid for.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Three-Way Competitive Split (2026)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6576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3657600" cy="109728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704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Activation-Led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CommerceIQ, Pacvue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57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bids right now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79392" y="1005840"/>
            <a:ext cx="36576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79392" y="1005840"/>
            <a:ext cx="3657600" cy="109728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12" name="Text 10"/>
          <p:cNvSpPr/>
          <p:nvPr/>
        </p:nvSpPr>
        <p:spPr>
          <a:xfrm>
            <a:off x="4462272" y="11704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Measurement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462272" y="1554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Incremental.com, Skai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62272" y="1920240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15" name="Text 13"/>
          <p:cNvSpPr/>
          <p:nvPr/>
        </p:nvSpPr>
        <p:spPr>
          <a:xfrm>
            <a:off x="4462272" y="2057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this generate net-new sales?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1005840"/>
            <a:ext cx="36576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005840"/>
            <a:ext cx="3657600" cy="109728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18" name="Text 16"/>
          <p:cNvSpPr/>
          <p:nvPr/>
        </p:nvSpPr>
        <p:spPr>
          <a:xfrm>
            <a:off x="8375904" y="11704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Shelf-Native Diagnostic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75904" y="1554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DataWeave DSIM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375904" y="1920240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21" name="Text 19"/>
          <p:cNvSpPr/>
          <p:nvPr/>
        </p:nvSpPr>
        <p:spPr>
          <a:xfrm>
            <a:off x="8375904" y="2057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it work? What constrained it?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4389120"/>
            <a:ext cx="11430000" cy="1371600"/>
          </a:xfrm>
          <a:prstGeom prst="rect">
            <a:avLst/>
          </a:prstGeom>
          <a:solidFill>
            <a:srgbClr val="EBF1FB"/>
          </a:solidFill>
          <a:ln/>
        </p:spPr>
      </p:sp>
      <p:sp>
        <p:nvSpPr>
          <p:cNvPr id="23" name="Shape 21"/>
          <p:cNvSpPr/>
          <p:nvPr/>
        </p:nvSpPr>
        <p:spPr>
          <a:xfrm>
            <a:off x="365760" y="4389120"/>
            <a:ext cx="73152" cy="1371600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4498848"/>
            <a:ext cx="10972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DSIM occupies the uncontested quadrant: vendor-neutral measurement where shelf signals (OSA, SoS, content) are first-class inputs alongside media spend — and localized to store clusters, not just channel-level.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Lactalis PoC: Proof of Impact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11430000" cy="18288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298448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98448"/>
            <a:ext cx="3657600" cy="73152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356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207568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/ Model Fit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79392" y="1298448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79392" y="1298448"/>
            <a:ext cx="3657600" cy="73152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11" name="Text 9"/>
          <p:cNvSpPr/>
          <p:nvPr/>
        </p:nvSpPr>
        <p:spPr>
          <a:xfrm>
            <a:off x="4462272" y="14356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462272" y="207568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 / Accuracy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93024" y="1298448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1298448"/>
            <a:ext cx="3657600" cy="73152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15" name="Text 13"/>
          <p:cNvSpPr/>
          <p:nvPr/>
        </p:nvSpPr>
        <p:spPr>
          <a:xfrm>
            <a:off x="8375904" y="14356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$30K+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375904" y="207568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Reallocation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127248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127248"/>
            <a:ext cx="3657600" cy="73152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2644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548640" y="390448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Clusters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79392" y="3127248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279392" y="3127248"/>
            <a:ext cx="3657600" cy="73152"/>
          </a:xfrm>
          <a:prstGeom prst="rect">
            <a:avLst/>
          </a:prstGeom>
          <a:solidFill>
            <a:srgbClr val="D48B14"/>
          </a:solidFill>
          <a:ln/>
        </p:spPr>
      </p:sp>
      <p:sp>
        <p:nvSpPr>
          <p:cNvPr id="23" name="Text 21"/>
          <p:cNvSpPr/>
          <p:nvPr/>
        </p:nvSpPr>
        <p:spPr>
          <a:xfrm>
            <a:off x="4462272" y="32644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48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4462272" y="390448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OSA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93024" y="3127248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93024" y="3127248"/>
            <a:ext cx="3657600" cy="73152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27" name="Text 25"/>
          <p:cNvSpPr/>
          <p:nvPr/>
        </p:nvSpPr>
        <p:spPr>
          <a:xfrm>
            <a:off x="8375904" y="32644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+12%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8375904" y="390448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 Halo Lift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5029200"/>
            <a:ext cx="11430000" cy="1097280"/>
          </a:xfrm>
          <a:prstGeom prst="rect">
            <a:avLst/>
          </a:prstGeom>
          <a:solidFill>
            <a:srgbClr val="EBF1FB"/>
          </a:solidFill>
          <a:ln/>
        </p:spPr>
      </p:sp>
      <p:sp>
        <p:nvSpPr>
          <p:cNvPr id="30" name="Shape 28"/>
          <p:cNvSpPr/>
          <p:nvPr/>
        </p:nvSpPr>
        <p:spPr>
          <a:xfrm>
            <a:off x="365760" y="5029200"/>
            <a:ext cx="73152" cy="1097280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5138928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PoC validates shelf-signal integration into incrementality models. Kids/Baby category showed +12% incremental lift in Adult segment, proving category halo effect — a lever CommerceIQ and Pacvue cannot decompose.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ROI by Channel (Lactalis)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11430000" cy="18288"/>
          </a:xfrm>
          <a:prstGeom prst="rect">
            <a:avLst/>
          </a:prstGeom>
          <a:solidFill>
            <a:srgbClr val="DDE4F0"/>
          </a:solidFill>
          <a:ln/>
        </p:spPr>
      </p:sp>
      <p:graphicFrame>
        <p:nvGraphicFramePr>
          <p:cNvPr id="5" name="Chart 0" descr=""/>
          <p:cNvGraphicFramePr/>
          <p:nvPr/>
        </p:nvGraphicFramePr>
        <p:xfrm>
          <a:off x="365760" y="1298448"/>
          <a:ext cx="114300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89120"/>
            <a:ext cx="11430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Offsite Display shows strongest incremental return. Onsite Search consuming 63% of budget despite weakest iROI — prime reallocation opportunity.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Positioning vs. Activation Players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11430000" cy="18288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298448"/>
            <a:ext cx="1143000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98448"/>
            <a:ext cx="73152" cy="1005840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Conflict?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1371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DataWeave: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0" y="1371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875520" y="13716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own bids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395728"/>
            <a:ext cx="1143000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395728"/>
            <a:ext cx="73152" cy="1005840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Signals as Levers?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DataWeave: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760720" y="24688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inputs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686800" y="2468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875520" y="24688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signals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493008"/>
            <a:ext cx="1143000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3493008"/>
            <a:ext cx="73152" cy="1005840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Store-Cluster Decomposition?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0" y="3566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DataWeave: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760720" y="35661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17 clusters tested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686800" y="3566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Competitors: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875520" y="35661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channel-level only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590288"/>
            <a:ext cx="1143000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4590288"/>
            <a:ext cx="73152" cy="1005840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" y="4663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CFO-Ready Output?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4663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DataWeave: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760720" y="46634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+ reallocation recommendations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686800" y="4663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Competitors: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875520" y="46634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suggestions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6-Month GTM: Services-Led, Tableau Delivery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365760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3657600" cy="73152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234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Launch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4028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Lactalis + 1-2 fast followers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4840" y="1097280"/>
            <a:ext cx="365760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34840" y="1097280"/>
            <a:ext cx="3657600" cy="73152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1234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17720" y="1554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Pilot Accounts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17720" y="2103120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224028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dashboards, weekly QBRs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03920" y="1097280"/>
            <a:ext cx="365760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03920" y="1097280"/>
            <a:ext cx="3657600" cy="73152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0" y="1234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686800" y="1554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Model Run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686800" y="2103120"/>
            <a:ext cx="3291840" cy="9144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0" y="224028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to product, scale to 20+ accounts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5029200"/>
            <a:ext cx="11430000" cy="1097280"/>
          </a:xfrm>
          <a:prstGeom prst="rect">
            <a:avLst/>
          </a:prstGeom>
          <a:solidFill>
            <a:srgbClr val="EBF1FB"/>
          </a:solidFill>
          <a:ln/>
        </p:spPr>
      </p:sp>
      <p:sp>
        <p:nvSpPr>
          <p:cNvPr id="23" name="Shape 21"/>
          <p:cNvSpPr/>
          <p:nvPr/>
        </p:nvSpPr>
        <p:spPr>
          <a:xfrm>
            <a:off x="365760" y="5029200"/>
            <a:ext cx="73152" cy="1097280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5138928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ICP: RGM personas at CPG brands ($500M+ revenue, active on Walmart). Lead with Lactalis success case; deliver PoC via Tableau before productization.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Four-Phase Productization (P0→P3)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11430000" cy="18288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298448"/>
            <a:ext cx="11430000" cy="10789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98448"/>
            <a:ext cx="73152" cy="1078992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441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P0: Services-Led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17520" y="13441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Now–Q3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0" y="134416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Lactalis PoC + fast-follower betas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0" y="134416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$50–75K per PoC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468880"/>
            <a:ext cx="11430000" cy="10789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468880"/>
            <a:ext cx="73152" cy="1078992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514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P1: Automated Model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17520" y="2514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2514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refreshes, zero-touch data ingestion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955280" y="25146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$150–200K annual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639312"/>
            <a:ext cx="11430000" cy="10789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639312"/>
            <a:ext cx="73152" cy="1078992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6850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P2: Native Dashboard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017520" y="368503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Q1–Q2 2027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0" y="3685032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Tableau + real-time shelf signals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955280" y="368503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$250–400K enterprise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809744"/>
            <a:ext cx="11430000" cy="10789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4809744"/>
            <a:ext cx="73152" cy="1078992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" y="485546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P3: Reallocation Simulator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485546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0" y="485546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spend/content/shelf changes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955280" y="4855464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Net-new upsell motion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Register &amp; Mitigations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11430000" cy="18288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298448"/>
            <a:ext cx="114300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98448"/>
            <a:ext cx="73152" cy="105156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441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Security / Privacy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80560" y="1371600"/>
            <a:ext cx="1005840" cy="2743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4480560" y="13716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344168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II certification; Walmart data governance review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441448"/>
            <a:ext cx="114300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441448"/>
            <a:ext cx="73152" cy="1051560"/>
          </a:xfrm>
          <a:prstGeom prst="rect">
            <a:avLst/>
          </a:prstGeom>
          <a:solidFill>
            <a:srgbClr val="D48B14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4871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API Changes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80560" y="2514600"/>
            <a:ext cx="1005840" cy="274320"/>
          </a:xfrm>
          <a:prstGeom prst="rect">
            <a:avLst/>
          </a:prstGeom>
          <a:solidFill>
            <a:srgbClr val="D48B14"/>
          </a:solidFill>
          <a:ln/>
        </p:spPr>
      </p:sp>
      <p:sp>
        <p:nvSpPr>
          <p:cNvPr id="15" name="Text 13"/>
          <p:cNvSpPr/>
          <p:nvPr/>
        </p:nvSpPr>
        <p:spPr>
          <a:xfrm>
            <a:off x="4480560" y="25146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669280" y="2487168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Incremental.com's official API partnership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584448"/>
            <a:ext cx="114300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584448"/>
            <a:ext cx="73152" cy="1051560"/>
          </a:xfrm>
          <a:prstGeom prst="rect">
            <a:avLst/>
          </a:prstGeom>
          <a:solidFill>
            <a:srgbClr val="D48B14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6301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Buy-in on Methodology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480560" y="3657600"/>
            <a:ext cx="1005840" cy="274320"/>
          </a:xfrm>
          <a:prstGeom prst="rect">
            <a:avLst/>
          </a:prstGeom>
          <a:solidFill>
            <a:srgbClr val="D48B14"/>
          </a:solidFill>
          <a:ln/>
        </p:spPr>
      </p:sp>
      <p:sp>
        <p:nvSpPr>
          <p:cNvPr id="21" name="Text 19"/>
          <p:cNvSpPr/>
          <p:nvPr/>
        </p:nvSpPr>
        <p:spPr>
          <a:xfrm>
            <a:off x="4480560" y="36576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0" y="3630168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Lactalis case study + peer references by Q3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727448"/>
            <a:ext cx="114300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4727448"/>
            <a:ext cx="73152" cy="1051560"/>
          </a:xfrm>
          <a:prstGeom prst="rect">
            <a:avLst/>
          </a:prstGeom>
          <a:solidFill>
            <a:srgbClr val="D48B14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" y="47731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Productization Timeline Slip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480560" y="4800600"/>
            <a:ext cx="1005840" cy="274320"/>
          </a:xfrm>
          <a:prstGeom prst="rect">
            <a:avLst/>
          </a:prstGeom>
          <a:solidFill>
            <a:srgbClr val="D48B14"/>
          </a:solidFill>
          <a:ln/>
        </p:spPr>
      </p:sp>
      <p:sp>
        <p:nvSpPr>
          <p:cNvPr id="27" name="Text 25"/>
          <p:cNvSpPr/>
          <p:nvPr/>
        </p:nvSpPr>
        <p:spPr>
          <a:xfrm>
            <a:off x="4480560" y="48006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69280" y="4773168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extend Tableau services model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Q2–Q3 2026 Key Result Areas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11430000" cy="18288"/>
          </a:xfrm>
          <a:prstGeom prst="rect">
            <a:avLst/>
          </a:prstGeom>
          <a:solidFill>
            <a:srgbClr val="DDE4F0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298448"/>
            <a:ext cx="562356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98448"/>
            <a:ext cx="5623560" cy="73152"/>
          </a:xfrm>
          <a:prstGeom prst="rect">
            <a:avLst/>
          </a:prstGeom>
          <a:solidFill>
            <a:srgbClr val="1D8A5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43560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Lactalis PoC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Validated model by June 30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4688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Product + Eng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298448"/>
            <a:ext cx="562356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298448"/>
            <a:ext cx="5623560" cy="73152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143560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2 Fast-Follower Betas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46520" y="18288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Signed pilots by end of Q2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46520" y="24688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Sales + CS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493008"/>
            <a:ext cx="562356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3493008"/>
            <a:ext cx="5623560" cy="73152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63016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Productization Design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40233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P1 spec complete by Aug 31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46634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Product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17920" y="3493008"/>
            <a:ext cx="562356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0" y="3493008"/>
            <a:ext cx="5623560" cy="73152"/>
          </a:xfrm>
          <a:prstGeom prst="rect">
            <a:avLst/>
          </a:prstGeom>
          <a:solidFill>
            <a:srgbClr val="2E5D9E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363016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Competitive Case Studies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46520" y="40233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Lactalis + 1 more by Aug 31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46520" y="46634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Marketing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61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1143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Supplemental: DSIM Model Infographics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73152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Lactalis PoC — Key Visualizations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486400" cy="2286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3474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ROI by Channel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097280"/>
            <a:ext cx="5486400" cy="2286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035040" y="3474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Waterfall ($2.8M→$6.1M)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520440"/>
            <a:ext cx="5486400" cy="22860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65760" y="5897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Cluster Allocation (17 clusters)</a:t>
            </a:r>
            <a:endParaRPr lang="en-US" sz="10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3520440"/>
            <a:ext cx="5486400" cy="228600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035040" y="5897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vs. Media Spend</a:t>
            </a:r>
            <a:endParaRPr lang="en-US" sz="1000" dirty="0"/>
          </a:p>
        </p:txBody>
      </p:sp>
      <p:sp>
        <p:nvSpPr>
          <p:cNvPr id="13" name="Text 7"/>
          <p:cNvSpPr/>
          <p:nvPr/>
        </p:nvSpPr>
        <p:spPr>
          <a:xfrm>
            <a:off x="365760" y="630936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For internal stakeholder review only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DSIM Internal Strategy Review — April 2026</dc:title>
  <dc:subject>PptxGenJS Presentation</dc:subject>
  <dc:creator>PptxGenJS</dc:creator>
  <cp:lastModifiedBy>PptxGenJS</cp:lastModifiedBy>
  <cp:revision>1</cp:revision>
  <dcterms:created xsi:type="dcterms:W3CDTF">2026-04-22T08:12:47Z</dcterms:created>
  <dcterms:modified xsi:type="dcterms:W3CDTF">2026-04-22T08:12:47Z</dcterms:modified>
</cp:coreProperties>
</file>