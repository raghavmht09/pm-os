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10058400"/>
          </a:xfrm>
          <a:prstGeom prst="rect">
            <a:avLst/>
          </a:prstGeom>
          <a:solidFill>
            <a:srgbClr val="E8612C"/>
          </a:solidFill>
          <a:ln/>
        </p:spPr>
      </p:sp>
      <p:sp>
        <p:nvSpPr>
          <p:cNvPr id="3" name="Shape 1"/>
          <p:cNvSpPr/>
          <p:nvPr/>
        </p:nvSpPr>
        <p:spPr>
          <a:xfrm>
            <a:off x="91440" y="0"/>
            <a:ext cx="7680960" cy="1097280"/>
          </a:xfrm>
          <a:prstGeom prst="rect">
            <a:avLst/>
          </a:prstGeom>
          <a:solidFill>
            <a:srgbClr val="1A2B4A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9144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7B9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DataWeave  ·  Digital Shelf Impact Measurement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274320" y="31089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DSIM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74320" y="731520"/>
            <a:ext cx="5029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BED3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the attribution gap between media spend and shelf outcomes on Walmart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389120" y="34747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A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For: RGM Leaders  ·  eCommerce Leads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389120" y="658368"/>
            <a:ext cx="3154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150" kern="0" dirty="0">
                <a:solidFill>
                  <a:srgbClr val="5B7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91440" y="1097280"/>
            <a:ext cx="7680960" cy="475488"/>
          </a:xfrm>
          <a:prstGeom prst="rect">
            <a:avLst/>
          </a:prstGeom>
          <a:solidFill>
            <a:srgbClr val="EBF1FB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" y="1097280"/>
            <a:ext cx="54864" cy="475488"/>
          </a:xfrm>
          <a:prstGeom prst="rect">
            <a:avLst/>
          </a:prstGeom>
          <a:solidFill>
            <a:srgbClr val="2E5D9E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1124712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 of CPG advertisers call incrementality their #1 measurement challenge — yet every platform grading their own spend (CommerceIQ: observational model, 14-day window; Pacvue: Amazon-first, no Walmart store-cluster) tells you ROAS, not whether availability, Share of Search, or content silently capped the lift you paid for.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4320" y="1682496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DSIM Does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1975104"/>
            <a:ext cx="233172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1975104"/>
            <a:ext cx="2331720" cy="73152"/>
          </a:xfrm>
          <a:prstGeom prst="rect">
            <a:avLst/>
          </a:prstGeom>
          <a:solidFill>
            <a:srgbClr val="2E5D9E"/>
          </a:solidFill>
          <a:ln/>
        </p:spPr>
      </p:sp>
      <p:sp>
        <p:nvSpPr>
          <p:cNvPr id="15" name="Text 13"/>
          <p:cNvSpPr/>
          <p:nvPr/>
        </p:nvSpPr>
        <p:spPr>
          <a:xfrm>
            <a:off x="411480" y="2093976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5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Incrementality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11480" y="246888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Decomposes sales lift across 6 shelf + media levers with published 5.9% MAPE and R²=91%. Competitors (CommerceIQ, Pacvue) publish no equivalent accuracy metrics.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724912" y="1975104"/>
            <a:ext cx="233172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724912" y="1975104"/>
            <a:ext cx="2331720" cy="73152"/>
          </a:xfrm>
          <a:prstGeom prst="rect">
            <a:avLst/>
          </a:prstGeom>
          <a:solidFill>
            <a:srgbClr val="E8612C"/>
          </a:solidFill>
          <a:ln/>
        </p:spPr>
      </p:sp>
      <p:sp>
        <p:nvSpPr>
          <p:cNvPr id="19" name="Text 17"/>
          <p:cNvSpPr/>
          <p:nvPr/>
        </p:nvSpPr>
        <p:spPr>
          <a:xfrm>
            <a:off x="2862072" y="2093976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6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Store-Cluster Resolution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862072" y="246888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Localizes attribution to store behavioral clusters — exposing geographic misallocation invisible in aggregate ROAS. No activation platform (CommerceIQ, Pacvue, Skai) offers this for Walmart.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175504" y="1975104"/>
            <a:ext cx="233172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175504" y="1975104"/>
            <a:ext cx="2331720" cy="73152"/>
          </a:xfrm>
          <a:prstGeom prst="rect">
            <a:avLst/>
          </a:prstGeom>
          <a:solidFill>
            <a:srgbClr val="1D8A5B"/>
          </a:solidFill>
          <a:ln/>
        </p:spPr>
      </p:sp>
      <p:sp>
        <p:nvSpPr>
          <p:cNvPr id="23" name="Text 21"/>
          <p:cNvSpPr/>
          <p:nvPr/>
        </p:nvSpPr>
        <p:spPr>
          <a:xfrm>
            <a:off x="5312664" y="2093976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Vendor-Neutral Attribution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312664" y="246888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activation stake, no agency ownership. Unlike Profitero (Publicis-owned since 2026) and CommerceIQ/Pacvue (grade their own campaigns), DSIM is the number your CFO can defend.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274320" y="3776472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Model: Lactalis PoC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74320" y="4069080"/>
            <a:ext cx="233172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274320" y="4069080"/>
            <a:ext cx="45720" cy="749808"/>
          </a:xfrm>
          <a:prstGeom prst="rect">
            <a:avLst/>
          </a:prstGeom>
          <a:solidFill>
            <a:srgbClr val="1D8A5B"/>
          </a:solidFill>
          <a:ln/>
        </p:spPr>
      </p:sp>
      <p:sp>
        <p:nvSpPr>
          <p:cNvPr id="28" name="Text 26"/>
          <p:cNvSpPr/>
          <p:nvPr/>
        </p:nvSpPr>
        <p:spPr>
          <a:xfrm>
            <a:off x="411480" y="410565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91%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411480" y="4462272"/>
            <a:ext cx="212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— Model Fit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724912" y="4069080"/>
            <a:ext cx="233172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724912" y="4069080"/>
            <a:ext cx="45720" cy="749808"/>
          </a:xfrm>
          <a:prstGeom prst="rect">
            <a:avLst/>
          </a:prstGeom>
          <a:solidFill>
            <a:srgbClr val="1D8A5B"/>
          </a:solidFill>
          <a:ln/>
        </p:spPr>
      </p:sp>
      <p:sp>
        <p:nvSpPr>
          <p:cNvPr id="32" name="Text 30"/>
          <p:cNvSpPr/>
          <p:nvPr/>
        </p:nvSpPr>
        <p:spPr>
          <a:xfrm>
            <a:off x="2862072" y="410565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5.9%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2862072" y="4462272"/>
            <a:ext cx="212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 — Forecast Accuracy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5175504" y="4069080"/>
            <a:ext cx="233172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175504" y="4069080"/>
            <a:ext cx="45720" cy="749808"/>
          </a:xfrm>
          <a:prstGeom prst="rect">
            <a:avLst/>
          </a:prstGeom>
          <a:solidFill>
            <a:srgbClr val="E8612C"/>
          </a:solidFill>
          <a:ln/>
        </p:spPr>
      </p:sp>
      <p:sp>
        <p:nvSpPr>
          <p:cNvPr id="36" name="Text 34"/>
          <p:cNvSpPr/>
          <p:nvPr/>
        </p:nvSpPr>
        <p:spPr>
          <a:xfrm>
            <a:off x="5312664" y="410565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6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$30K+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5312664" y="4462272"/>
            <a:ext cx="212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Budget Reallocation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274320" y="4873752"/>
            <a:ext cx="233172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274320" y="4873752"/>
            <a:ext cx="45720" cy="749808"/>
          </a:xfrm>
          <a:prstGeom prst="rect">
            <a:avLst/>
          </a:prstGeom>
          <a:solidFill>
            <a:srgbClr val="2E5D9E"/>
          </a:solidFill>
          <a:ln/>
        </p:spPr>
      </p:sp>
      <p:sp>
        <p:nvSpPr>
          <p:cNvPr id="40" name="Text 38"/>
          <p:cNvSpPr/>
          <p:nvPr/>
        </p:nvSpPr>
        <p:spPr>
          <a:xfrm>
            <a:off x="411480" y="49103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5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411480" y="5266944"/>
            <a:ext cx="212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Clusters Modeled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2724912" y="4873752"/>
            <a:ext cx="233172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2724912" y="4873752"/>
            <a:ext cx="45720" cy="749808"/>
          </a:xfrm>
          <a:prstGeom prst="rect">
            <a:avLst/>
          </a:prstGeom>
          <a:solidFill>
            <a:srgbClr val="D48B14"/>
          </a:solidFill>
          <a:ln/>
        </p:spPr>
      </p:sp>
      <p:sp>
        <p:nvSpPr>
          <p:cNvPr id="44" name="Text 42"/>
          <p:cNvSpPr/>
          <p:nvPr/>
        </p:nvSpPr>
        <p:spPr>
          <a:xfrm>
            <a:off x="2862072" y="49103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48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78%</a:t>
            </a:r>
            <a:endParaRPr lang="en-US" sz="2000" dirty="0"/>
          </a:p>
        </p:txBody>
      </p:sp>
      <p:sp>
        <p:nvSpPr>
          <p:cNvPr id="45" name="Text 43"/>
          <p:cNvSpPr/>
          <p:nvPr/>
        </p:nvSpPr>
        <p:spPr>
          <a:xfrm>
            <a:off x="2862072" y="5266944"/>
            <a:ext cx="212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In-Stock During Peak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175504" y="4873752"/>
            <a:ext cx="233172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5175504" y="4873752"/>
            <a:ext cx="45720" cy="749808"/>
          </a:xfrm>
          <a:prstGeom prst="rect">
            <a:avLst/>
          </a:prstGeom>
          <a:solidFill>
            <a:srgbClr val="1D8A5B"/>
          </a:solidFill>
          <a:ln/>
        </p:spPr>
      </p:sp>
      <p:sp>
        <p:nvSpPr>
          <p:cNvPr id="48" name="Text 46"/>
          <p:cNvSpPr/>
          <p:nvPr/>
        </p:nvSpPr>
        <p:spPr>
          <a:xfrm>
            <a:off x="5312664" y="49103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+12%</a:t>
            </a:r>
            <a:endParaRPr lang="en-US" sz="2000" dirty="0"/>
          </a:p>
        </p:txBody>
      </p:sp>
      <p:sp>
        <p:nvSpPr>
          <p:cNvPr id="49" name="Text 47"/>
          <p:cNvSpPr/>
          <p:nvPr/>
        </p:nvSpPr>
        <p:spPr>
          <a:xfrm>
            <a:off x="5312664" y="5266944"/>
            <a:ext cx="212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Halo (Adult lift from Kids/Baby)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274320" y="5769864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Engage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274320" y="6062472"/>
            <a:ext cx="233172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274320" y="6062472"/>
            <a:ext cx="2331720" cy="54864"/>
          </a:xfrm>
          <a:prstGeom prst="rect">
            <a:avLst/>
          </a:prstGeom>
          <a:solidFill>
            <a:srgbClr val="2E5D9E"/>
          </a:solidFill>
          <a:ln/>
        </p:spPr>
      </p:sp>
      <p:sp>
        <p:nvSpPr>
          <p:cNvPr id="53" name="Text 51"/>
          <p:cNvSpPr/>
          <p:nvPr/>
        </p:nvSpPr>
        <p:spPr>
          <a:xfrm>
            <a:off x="384048" y="615391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5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384048" y="6400800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6–8 weeks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384048" y="6601968"/>
            <a:ext cx="2148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scoping, data ingestion, Tableau dashboard with decomposition + reallocation output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2724912" y="6062472"/>
            <a:ext cx="233172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2724912" y="6062472"/>
            <a:ext cx="2331720" cy="54864"/>
          </a:xfrm>
          <a:prstGeom prst="rect">
            <a:avLst/>
          </a:prstGeom>
          <a:solidFill>
            <a:srgbClr val="E8612C"/>
          </a:solidFill>
          <a:ln/>
        </p:spPr>
      </p:sp>
      <p:sp>
        <p:nvSpPr>
          <p:cNvPr id="58" name="Text 56"/>
          <p:cNvSpPr/>
          <p:nvPr/>
        </p:nvSpPr>
        <p:spPr>
          <a:xfrm>
            <a:off x="2834640" y="615391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2834640" y="6400800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2834640" y="6601968"/>
            <a:ext cx="2148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model runs, weekly shelf + media signal refresh, QBR-ready attribution reporting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5175504" y="6062472"/>
            <a:ext cx="233172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5175504" y="6062472"/>
            <a:ext cx="2331720" cy="54864"/>
          </a:xfrm>
          <a:prstGeom prst="rect">
            <a:avLst/>
          </a:prstGeom>
          <a:solidFill>
            <a:srgbClr val="1D8A5B"/>
          </a:solidFill>
          <a:ln/>
        </p:spPr>
      </p:sp>
      <p:sp>
        <p:nvSpPr>
          <p:cNvPr id="63" name="Text 61"/>
          <p:cNvSpPr/>
          <p:nvPr/>
        </p:nvSpPr>
        <p:spPr>
          <a:xfrm>
            <a:off x="5285232" y="615391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5285232" y="6400800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2027+ (roadmap)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5285232" y="6601968"/>
            <a:ext cx="2148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dashboard with real-time signals, reallocation simulator, and multi-retailer coverage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91440" y="7589520"/>
            <a:ext cx="7680960" cy="126187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91440" y="7589520"/>
            <a:ext cx="7680960" cy="54864"/>
          </a:xfrm>
          <a:prstGeom prst="rect">
            <a:avLst/>
          </a:prstGeom>
          <a:solidFill>
            <a:srgbClr val="1A2B4A"/>
          </a:solidFill>
          <a:ln/>
        </p:spPr>
      </p:sp>
      <p:sp>
        <p:nvSpPr>
          <p:cNvPr id="68" name="Shape 66"/>
          <p:cNvSpPr/>
          <p:nvPr/>
        </p:nvSpPr>
        <p:spPr>
          <a:xfrm>
            <a:off x="91440" y="7580376"/>
            <a:ext cx="7680960" cy="18288"/>
          </a:xfrm>
          <a:prstGeom prst="rect">
            <a:avLst/>
          </a:prstGeom>
          <a:solidFill>
            <a:srgbClr val="DDE4F0"/>
          </a:solidFill>
          <a:ln/>
        </p:spPr>
      </p:sp>
      <p:sp>
        <p:nvSpPr>
          <p:cNvPr id="69" name="Text 67"/>
          <p:cNvSpPr/>
          <p:nvPr/>
        </p:nvSpPr>
        <p:spPr>
          <a:xfrm>
            <a:off x="274320" y="76809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Pricing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3017520" y="7680960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Indicative — all pricing customized per account type, data complexity, and scope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274320" y="797356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5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274320" y="8183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$50K – $75K</a:t>
            </a:r>
            <a:endParaRPr lang="en-US" sz="1300" dirty="0"/>
          </a:p>
        </p:txBody>
      </p:sp>
      <p:sp>
        <p:nvSpPr>
          <p:cNvPr id="73" name="Text 71"/>
          <p:cNvSpPr/>
          <p:nvPr/>
        </p:nvSpPr>
        <p:spPr>
          <a:xfrm>
            <a:off x="274320" y="84764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6-8 weeks · Tableau delivery</a:t>
            </a:r>
            <a:endParaRPr lang="en-US" sz="750" dirty="0"/>
          </a:p>
        </p:txBody>
      </p:sp>
      <p:sp>
        <p:nvSpPr>
          <p:cNvPr id="74" name="Text 72"/>
          <p:cNvSpPr/>
          <p:nvPr/>
        </p:nvSpPr>
        <p:spPr>
          <a:xfrm>
            <a:off x="2788920" y="797356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5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2788920" y="8183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$150K – $200K</a:t>
            </a:r>
            <a:endParaRPr lang="en-US" sz="1300" dirty="0"/>
          </a:p>
        </p:txBody>
      </p:sp>
      <p:sp>
        <p:nvSpPr>
          <p:cNvPr id="76" name="Text 74"/>
          <p:cNvSpPr/>
          <p:nvPr/>
        </p:nvSpPr>
        <p:spPr>
          <a:xfrm>
            <a:off x="2788920" y="84764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runs · refresh reporting</a:t>
            </a:r>
            <a:endParaRPr lang="en-US" sz="750" dirty="0"/>
          </a:p>
        </p:txBody>
      </p:sp>
      <p:sp>
        <p:nvSpPr>
          <p:cNvPr id="77" name="Text 75"/>
          <p:cNvSpPr/>
          <p:nvPr/>
        </p:nvSpPr>
        <p:spPr>
          <a:xfrm>
            <a:off x="5303520" y="797356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5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5303520" y="8183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$250K – $400K+</a:t>
            </a:r>
            <a:endParaRPr lang="en-US" sz="1300" dirty="0"/>
          </a:p>
        </p:txBody>
      </p:sp>
      <p:sp>
        <p:nvSpPr>
          <p:cNvPr id="79" name="Text 77"/>
          <p:cNvSpPr/>
          <p:nvPr/>
        </p:nvSpPr>
        <p:spPr>
          <a:xfrm>
            <a:off x="5303520" y="84764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Multi-category · multi-cluster · full access</a:t>
            </a:r>
            <a:endParaRPr lang="en-US" sz="750" dirty="0"/>
          </a:p>
        </p:txBody>
      </p:sp>
      <p:sp>
        <p:nvSpPr>
          <p:cNvPr id="80" name="Shape 78"/>
          <p:cNvSpPr/>
          <p:nvPr/>
        </p:nvSpPr>
        <p:spPr>
          <a:xfrm>
            <a:off x="91440" y="8906256"/>
            <a:ext cx="7680960" cy="1152144"/>
          </a:xfrm>
          <a:prstGeom prst="rect">
            <a:avLst/>
          </a:prstGeom>
          <a:solidFill>
            <a:srgbClr val="1A2B4A"/>
          </a:solidFill>
          <a:ln/>
        </p:spPr>
      </p:sp>
      <p:sp>
        <p:nvSpPr>
          <p:cNvPr id="81" name="Text 79"/>
          <p:cNvSpPr/>
          <p:nvPr/>
        </p:nvSpPr>
        <p:spPr>
          <a:xfrm>
            <a:off x="274320" y="899769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DataWeave</a:t>
            </a:r>
            <a:endParaRPr lang="en-US" sz="1300" dirty="0"/>
          </a:p>
        </p:txBody>
      </p:sp>
      <p:sp>
        <p:nvSpPr>
          <p:cNvPr id="82" name="Text 80"/>
          <p:cNvSpPr/>
          <p:nvPr/>
        </p:nvSpPr>
        <p:spPr>
          <a:xfrm>
            <a:off x="274320" y="930859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ED3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Shelf Impact Measurement  ·  dataweave.com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4572000" y="8997696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86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PoC conversation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4572000" y="9290304"/>
            <a:ext cx="2971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ED3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dsim@dataweave.com  →</a:t>
            </a:r>
            <a:endParaRPr lang="en-US" sz="900" dirty="0"/>
          </a:p>
        </p:txBody>
      </p:sp>
      <p:sp>
        <p:nvSpPr>
          <p:cNvPr id="85" name="Text 83"/>
          <p:cNvSpPr/>
          <p:nvPr/>
        </p:nvSpPr>
        <p:spPr>
          <a:xfrm>
            <a:off x="274320" y="9601200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D5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2026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DSIM — Digital Shelf Impact Measurement</dc:title>
  <dc:subject>PptxGenJS Presentation</dc:subject>
  <dc:creator>PptxGenJS</dc:creator>
  <cp:lastModifiedBy>PptxGenJS</cp:lastModifiedBy>
  <cp:revision>1</cp:revision>
  <dcterms:created xsi:type="dcterms:W3CDTF">2026-04-24T12:07:50Z</dcterms:created>
  <dcterms:modified xsi:type="dcterms:W3CDTF">2026-04-24T12:07:50Z</dcterms:modified>
</cp:coreProperties>
</file>