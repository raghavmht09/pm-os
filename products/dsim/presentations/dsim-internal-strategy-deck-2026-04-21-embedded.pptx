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iROI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A2B4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D48B14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D8A5B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D8A5B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Onsite Search</c:v>
                  </c:pt>
                  <c:pt idx="1">
                    <c:v>Sponsored Brands</c:v>
                  </c:pt>
                  <c:pt idx="2">
                    <c:v>Sponsored Brands Video</c:v>
                  </c:pt>
                  <c:pt idx="3">
                    <c:v>Offsite Display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0.83</c:v>
                </c:pt>
                <c:pt idx="1">
                  <c:v>1.12</c:v>
                </c:pt>
                <c:pt idx="2">
                  <c:v>1.28</c:v>
                </c:pt>
                <c:pt idx="3">
                  <c:v>1.55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A2B4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5568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75"/>
        </c:scaling>
        <c:delete val="0"/>
        <c:axPos val="b"/>
        <c:majorGridlines>
          <c:spPr>
            <a:ln w="6350" cap="flat">
              <a:solidFill>
                <a:srgbClr val="DDE4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556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B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E8612C"/>
          </a:solidFill>
          <a:ln/>
        </p:spPr>
      </p:sp>
      <p:sp>
        <p:nvSpPr>
          <p:cNvPr id="3" name="Shape 1"/>
          <p:cNvSpPr/>
          <p:nvPr/>
        </p:nvSpPr>
        <p:spPr>
          <a:xfrm>
            <a:off x="9601200" y="0"/>
            <a:ext cx="2587752" cy="91440"/>
          </a:xfrm>
          <a:prstGeom prst="rect">
            <a:avLst/>
          </a:prstGeom>
          <a:solidFill>
            <a:srgbClr val="E8612C">
              <a:alpha val="4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2060936" y="0"/>
            <a:ext cx="128016" cy="3200400"/>
          </a:xfrm>
          <a:prstGeom prst="rect">
            <a:avLst/>
          </a:prstGeom>
          <a:solidFill>
            <a:srgbClr val="E8612C">
              <a:alpha val="45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18872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50" kern="0" dirty="0">
                <a:solidFill>
                  <a:srgbClr val="BED3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STRATEGY REVIEW  ·  APRIL 2026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02920" y="1600200"/>
            <a:ext cx="96012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Shelf</a:t>
            </a:r>
            <a:endParaRPr lang="en-US" sz="5000" dirty="0"/>
          </a:p>
          <a:p>
            <a:pPr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 Measurement</a:t>
            </a:r>
            <a:endParaRPr lang="en-US" sz="5000" dirty="0"/>
          </a:p>
        </p:txBody>
      </p:sp>
      <p:sp>
        <p:nvSpPr>
          <p:cNvPr id="7" name="Text 5"/>
          <p:cNvSpPr/>
          <p:nvPr/>
        </p:nvSpPr>
        <p:spPr>
          <a:xfrm>
            <a:off x="502920" y="4069080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BED3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Closing the attribution gap between media spend and shelf outcomes on Walmart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502920" y="4663440"/>
            <a:ext cx="3200400" cy="36576"/>
          </a:xfrm>
          <a:prstGeom prst="rect">
            <a:avLst/>
          </a:prstGeom>
          <a:solidFill>
            <a:srgbClr val="E8612C">
              <a:alpha val="75000"/>
            </a:srgbClr>
          </a:solidFill>
          <a:ln/>
        </p:spPr>
      </p:sp>
      <p:sp>
        <p:nvSpPr>
          <p:cNvPr id="9" name="Text 7"/>
          <p:cNvSpPr/>
          <p:nvPr/>
        </p:nvSpPr>
        <p:spPr>
          <a:xfrm>
            <a:off x="502920" y="489204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B9A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For: Sales Leadership  ·  CXO  ·  Engineering Leads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02920" y="521208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07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Agenda: Competitive landscape  ·  GTM plan  ·  Productization roadmap  ·  Risks  ·  Q2–Q3 KRAs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0292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3D5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E861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201168"/>
            <a:ext cx="11430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Market Has Moved. Measurement Hasn't.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11430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Retail media crossed $45B in 2025. Most brands still report success with platform-attributed ROAS — a number the platform controls.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65760" y="1115568"/>
            <a:ext cx="11430000" cy="18288"/>
          </a:xfrm>
          <a:prstGeom prst="rect">
            <a:avLst/>
          </a:prstGeom>
          <a:solidFill>
            <a:srgbClr val="DDE4F0"/>
          </a:solidFill>
          <a:ln/>
        </p:spPr>
      </p:sp>
      <p:sp>
        <p:nvSpPr>
          <p:cNvPr id="6" name="Shape 4"/>
          <p:cNvSpPr/>
          <p:nvPr/>
        </p:nvSpPr>
        <p:spPr>
          <a:xfrm>
            <a:off x="365760" y="1298448"/>
            <a:ext cx="3657600" cy="2514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65760" y="1298448"/>
            <a:ext cx="3657600" cy="109728"/>
          </a:xfrm>
          <a:prstGeom prst="rect">
            <a:avLst/>
          </a:prstGeom>
          <a:solidFill>
            <a:srgbClr val="2E5D9E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146304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2E5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$45B+</a:t>
            </a:r>
            <a:endParaRPr lang="en-US" sz="5200" dirty="0"/>
          </a:p>
        </p:txBody>
      </p:sp>
      <p:sp>
        <p:nvSpPr>
          <p:cNvPr id="9" name="Text 7"/>
          <p:cNvSpPr/>
          <p:nvPr/>
        </p:nvSpPr>
        <p:spPr>
          <a:xfrm>
            <a:off x="548640" y="2423160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 retail media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spend in 2025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48640" y="301752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Walmart: $4.5B+ of that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279392" y="1298448"/>
            <a:ext cx="3657600" cy="2514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279392" y="1298448"/>
            <a:ext cx="3657600" cy="109728"/>
          </a:xfrm>
          <a:prstGeom prst="rect">
            <a:avLst/>
          </a:prstGeom>
          <a:solidFill>
            <a:srgbClr val="E8612C"/>
          </a:solidFill>
          <a:ln/>
        </p:spPr>
      </p:sp>
      <p:sp>
        <p:nvSpPr>
          <p:cNvPr id="13" name="Text 11"/>
          <p:cNvSpPr/>
          <p:nvPr/>
        </p:nvSpPr>
        <p:spPr>
          <a:xfrm>
            <a:off x="4462272" y="146304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E861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75%</a:t>
            </a:r>
            <a:endParaRPr lang="en-US" sz="5200" dirty="0"/>
          </a:p>
        </p:txBody>
      </p:sp>
      <p:sp>
        <p:nvSpPr>
          <p:cNvPr id="14" name="Text 12"/>
          <p:cNvSpPr/>
          <p:nvPr/>
        </p:nvSpPr>
        <p:spPr>
          <a:xfrm>
            <a:off x="4462272" y="2423160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CPG advertisers name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incrementality as #1 challenge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462272" y="301752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20% can actually act on it (Skai 2026 survey)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193024" y="1298448"/>
            <a:ext cx="3657600" cy="2514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193024" y="1298448"/>
            <a:ext cx="3657600" cy="109728"/>
          </a:xfrm>
          <a:prstGeom prst="rect">
            <a:avLst/>
          </a:prstGeom>
          <a:solidFill>
            <a:srgbClr val="1D8A5B"/>
          </a:solidFill>
          <a:ln/>
        </p:spPr>
      </p:sp>
      <p:sp>
        <p:nvSpPr>
          <p:cNvPr id="18" name="Text 16"/>
          <p:cNvSpPr/>
          <p:nvPr/>
        </p:nvSpPr>
        <p:spPr>
          <a:xfrm>
            <a:off x="8375904" y="146304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1D8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of 3</a:t>
            </a:r>
            <a:endParaRPr lang="en-US" sz="5200" dirty="0"/>
          </a:p>
        </p:txBody>
      </p:sp>
      <p:sp>
        <p:nvSpPr>
          <p:cNvPr id="19" name="Text 17"/>
          <p:cNvSpPr/>
          <p:nvPr/>
        </p:nvSpPr>
        <p:spPr>
          <a:xfrm>
            <a:off x="8375904" y="2423160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categories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remains uncontested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8375904" y="301752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Shelf-native diagnostic — DataWeave's space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65760" y="3977640"/>
            <a:ext cx="11430000" cy="1234440"/>
          </a:xfrm>
          <a:prstGeom prst="rect">
            <a:avLst/>
          </a:prstGeom>
          <a:solidFill>
            <a:srgbClr val="EBF1FB"/>
          </a:solidFill>
          <a:ln/>
        </p:spPr>
      </p:sp>
      <p:sp>
        <p:nvSpPr>
          <p:cNvPr id="22" name="Shape 20"/>
          <p:cNvSpPr/>
          <p:nvPr/>
        </p:nvSpPr>
        <p:spPr>
          <a:xfrm>
            <a:off x="365760" y="3977640"/>
            <a:ext cx="73152" cy="1234440"/>
          </a:xfrm>
          <a:prstGeom prst="rect">
            <a:avLst/>
          </a:prstGeom>
          <a:solidFill>
            <a:srgbClr val="2E5D9E"/>
          </a:solidFill>
          <a:ln/>
        </p:spPr>
      </p:sp>
      <p:sp>
        <p:nvSpPr>
          <p:cNvPr id="23" name="Text 21"/>
          <p:cNvSpPr/>
          <p:nvPr/>
        </p:nvSpPr>
        <p:spPr>
          <a:xfrm>
            <a:off x="594360" y="4069080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structural gap: CommerceIQ launched a standalone Incrementality Module in Dec 2025 — observational model, 14-day window, no shelf signals. Pacvue's console is Amazon-first; Walmart store-cluster coverage unconfirmed. Neither can tell a brand whether a 72% in-stock rate or a content gap capped the lift they paid $1M+ to generate.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E861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201168"/>
            <a:ext cx="11430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Three-Way Competitive Split (2026)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65760" y="1005840"/>
            <a:ext cx="365760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65760" y="1005840"/>
            <a:ext cx="3657600" cy="109728"/>
          </a:xfrm>
          <a:prstGeom prst="rect">
            <a:avLst/>
          </a:prstGeom>
          <a:solidFill>
            <a:srgbClr val="2E5D9E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170432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5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Activation-Led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155448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CommerceIQ · Pacvue · Skai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1920240"/>
            <a:ext cx="3291840" cy="9144"/>
          </a:xfrm>
          <a:prstGeom prst="rect">
            <a:avLst/>
          </a:prstGeom>
          <a:solidFill>
            <a:srgbClr val="DDE4F0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2057400"/>
            <a:ext cx="32918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their own media spend. CIQ: observational model, 14-day window, no holdout. Pacvue: Amazon-first, Walmart store-cluster unconfirmed. Conflict: they measure what they sell.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279392" y="1005840"/>
            <a:ext cx="365760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279392" y="1005840"/>
            <a:ext cx="3657600" cy="109728"/>
          </a:xfrm>
          <a:prstGeom prst="rect">
            <a:avLst/>
          </a:prstGeom>
          <a:solidFill>
            <a:srgbClr val="E8612C"/>
          </a:solidFill>
          <a:ln/>
        </p:spPr>
      </p:sp>
      <p:sp>
        <p:nvSpPr>
          <p:cNvPr id="12" name="Text 10"/>
          <p:cNvSpPr/>
          <p:nvPr/>
        </p:nvSpPr>
        <p:spPr>
          <a:xfrm>
            <a:off x="4462272" y="1170432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61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Campaign Measurement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462272" y="155448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Incremental.com · Walmart Connect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462272" y="1920240"/>
            <a:ext cx="3291840" cy="9144"/>
          </a:xfrm>
          <a:prstGeom prst="rect">
            <a:avLst/>
          </a:prstGeom>
          <a:solidFill>
            <a:srgbClr val="DDE4F0"/>
          </a:solidFill>
          <a:ln/>
        </p:spPr>
      </p:sp>
      <p:sp>
        <p:nvSpPr>
          <p:cNvPr id="15" name="Text 13"/>
          <p:cNvSpPr/>
          <p:nvPr/>
        </p:nvSpPr>
        <p:spPr>
          <a:xfrm>
            <a:off x="4462272" y="2057400"/>
            <a:ext cx="32918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media generate net-new sales? Shelf signals used as noise to remove — not as outputs. No store-cluster decomposition. Incremental.com: WPP Connected Partner; Walmart coverage since July 2024.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8193024" y="1005840"/>
            <a:ext cx="365760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193024" y="1005840"/>
            <a:ext cx="3657600" cy="109728"/>
          </a:xfrm>
          <a:prstGeom prst="rect">
            <a:avLst/>
          </a:prstGeom>
          <a:solidFill>
            <a:srgbClr val="1D8A5B"/>
          </a:solidFill>
          <a:ln/>
        </p:spPr>
      </p:sp>
      <p:sp>
        <p:nvSpPr>
          <p:cNvPr id="18" name="Text 16"/>
          <p:cNvSpPr/>
          <p:nvPr/>
        </p:nvSpPr>
        <p:spPr>
          <a:xfrm>
            <a:off x="8375904" y="1170432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D8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Shelf-Native Diagnostic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375904" y="155448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DataWeave DSIM (uncontested)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8375904" y="1920240"/>
            <a:ext cx="3291840" cy="9144"/>
          </a:xfrm>
          <a:prstGeom prst="rect">
            <a:avLst/>
          </a:prstGeom>
          <a:solidFill>
            <a:srgbClr val="DDE4F0"/>
          </a:solidFill>
          <a:ln/>
        </p:spPr>
      </p:sp>
      <p:sp>
        <p:nvSpPr>
          <p:cNvPr id="21" name="Text 19"/>
          <p:cNvSpPr/>
          <p:nvPr/>
        </p:nvSpPr>
        <p:spPr>
          <a:xfrm>
            <a:off x="8375904" y="2057400"/>
            <a:ext cx="32918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did it work? Which of 6 shelf + media levers drove lift — at the store-cluster level? Shelf signals are the deliverable, not a confounder. No activation stake. Published 5.9% MAPE, R²=91%.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365760" y="4389120"/>
            <a:ext cx="11430000" cy="1371600"/>
          </a:xfrm>
          <a:prstGeom prst="rect">
            <a:avLst/>
          </a:prstGeom>
          <a:solidFill>
            <a:srgbClr val="EBF1FB"/>
          </a:solidFill>
          <a:ln/>
        </p:spPr>
      </p:sp>
      <p:sp>
        <p:nvSpPr>
          <p:cNvPr id="23" name="Shape 21"/>
          <p:cNvSpPr/>
          <p:nvPr/>
        </p:nvSpPr>
        <p:spPr>
          <a:xfrm>
            <a:off x="365760" y="4389120"/>
            <a:ext cx="73152" cy="1371600"/>
          </a:xfrm>
          <a:prstGeom prst="rect">
            <a:avLst/>
          </a:prstGeom>
          <a:solidFill>
            <a:srgbClr val="2E5D9E"/>
          </a:solidFill>
          <a:ln/>
        </p:spPr>
      </p:sp>
      <p:sp>
        <p:nvSpPr>
          <p:cNvPr id="24" name="Text 22"/>
          <p:cNvSpPr/>
          <p:nvPr/>
        </p:nvSpPr>
        <p:spPr>
          <a:xfrm>
            <a:off x="594360" y="4498848"/>
            <a:ext cx="109728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DSIM occupies the uncontested quadrant. No activation platform (CommerceIQ, Pacvue, Skai) offers Walmart store-cluster localization. No measurement platform (Incremental.com, Walmart Connect) surfaces shelf signals as actionable outputs. Profitero monitors — it does not attribute. DSIM is the only model that answers: which shelf lever constrained the lift I paid for, and where?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E861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201168"/>
            <a:ext cx="11430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Buys DSIM — Three Entry Points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365760" y="731520"/>
            <a:ext cx="11430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Positioning: Option B — Sales decomposition (which lever drove Walmart sales, at the store cluster level)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3657600" cy="5394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65760" y="1078992"/>
            <a:ext cx="3657600" cy="91440"/>
          </a:xfrm>
          <a:prstGeom prst="rect">
            <a:avLst/>
          </a:prstGeom>
          <a:solidFill>
            <a:srgbClr val="2E5D9E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216152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5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eCommerce /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E5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Retail Media Lead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48640" y="1773936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Owns: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1051560" y="1773936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Walmart Connect budget</a:t>
            </a:r>
            <a:endParaRPr lang="en-US" sz="850" dirty="0"/>
          </a:p>
          <a:p>
            <a:pPr indent="0" marL="0">
              <a:buNone/>
            </a:pPr>
            <a:r>
              <a:rPr lang="en-US" sz="85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($500K–$5M+/yr)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548640" y="2231136"/>
            <a:ext cx="3291840" cy="9144"/>
          </a:xfrm>
          <a:prstGeom prst="rect">
            <a:avLst/>
          </a:prstGeom>
          <a:solidFill>
            <a:srgbClr val="DDE4F0"/>
          </a:solidFill>
          <a:ln/>
        </p:spPr>
      </p:sp>
      <p:sp>
        <p:nvSpPr>
          <p:cNvPr id="11" name="Text 9"/>
          <p:cNvSpPr/>
          <p:nvPr/>
        </p:nvSpPr>
        <p:spPr>
          <a:xfrm>
            <a:off x="548640" y="233172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Pain today: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548640" y="2551176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ROAS dropped. Doesn't know if it's a media problem or a shelf problem (72% in-stock eating impressions).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548640" y="3493008"/>
            <a:ext cx="3291840" cy="9144"/>
          </a:xfrm>
          <a:prstGeom prst="rect">
            <a:avLst/>
          </a:prstGeom>
          <a:solidFill>
            <a:srgbClr val="DDE4F0"/>
          </a:solidFill>
          <a:ln/>
        </p:spPr>
      </p:sp>
      <p:sp>
        <p:nvSpPr>
          <p:cNvPr id="14" name="Text 12"/>
          <p:cNvSpPr/>
          <p:nvPr/>
        </p:nvSpPr>
        <p:spPr>
          <a:xfrm>
            <a:off x="548640" y="3593592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E5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DSIM gives them: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548640" y="3813048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Shows which lever (availability, SoS, content, media) drove or capped the last campaign — and which clusters to fix first.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548640" y="4754880"/>
            <a:ext cx="3291840" cy="9144"/>
          </a:xfrm>
          <a:prstGeom prst="rect">
            <a:avLst/>
          </a:prstGeom>
          <a:solidFill>
            <a:srgbClr val="DDE4F0"/>
          </a:solidFill>
          <a:ln/>
        </p:spPr>
      </p:sp>
      <p:sp>
        <p:nvSpPr>
          <p:cNvPr id="17" name="Text 15"/>
          <p:cNvSpPr/>
          <p:nvPr/>
        </p:nvSpPr>
        <p:spPr>
          <a:xfrm>
            <a:off x="548640" y="4846320"/>
            <a:ext cx="3291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i="1" dirty="0">
                <a:solidFill>
                  <a:srgbClr val="2E5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“Your ROAS is what the platform says happened. DSIM shows what actually drove the sale.”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4279392" y="1078992"/>
            <a:ext cx="3657600" cy="5394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279392" y="1078992"/>
            <a:ext cx="3657600" cy="91440"/>
          </a:xfrm>
          <a:prstGeom prst="rect">
            <a:avLst/>
          </a:prstGeom>
          <a:solidFill>
            <a:srgbClr val="E8612C"/>
          </a:solidFill>
          <a:ln/>
        </p:spPr>
      </p:sp>
      <p:sp>
        <p:nvSpPr>
          <p:cNvPr id="20" name="Text 18"/>
          <p:cNvSpPr/>
          <p:nvPr/>
        </p:nvSpPr>
        <p:spPr>
          <a:xfrm>
            <a:off x="4462272" y="1216152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61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Finance /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E861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RGM Leader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462272" y="1773936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Owns: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965192" y="1773936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 approval, trade spend,</a:t>
            </a:r>
            <a:endParaRPr lang="en-US" sz="850" dirty="0"/>
          </a:p>
          <a:p>
            <a:pPr indent="0" marL="0">
              <a:buNone/>
            </a:pPr>
            <a:r>
              <a:rPr lang="en-US" sz="85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JBP financial commitments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4462272" y="2231136"/>
            <a:ext cx="3291840" cy="9144"/>
          </a:xfrm>
          <a:prstGeom prst="rect">
            <a:avLst/>
          </a:prstGeom>
          <a:solidFill>
            <a:srgbClr val="DDE4F0"/>
          </a:solidFill>
          <a:ln/>
        </p:spPr>
      </p:sp>
      <p:sp>
        <p:nvSpPr>
          <p:cNvPr id="24" name="Text 22"/>
          <p:cNvSpPr/>
          <p:nvPr/>
        </p:nvSpPr>
        <p:spPr>
          <a:xfrm>
            <a:off x="4462272" y="233172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Pain today: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4462272" y="2551176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eCommerce asks for more Walmart Connect budget. No independent data to verify if it's justified or if a shelf fix would cost less.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4462272" y="3493008"/>
            <a:ext cx="3291840" cy="9144"/>
          </a:xfrm>
          <a:prstGeom prst="rect">
            <a:avLst/>
          </a:prstGeom>
          <a:solidFill>
            <a:srgbClr val="DDE4F0"/>
          </a:solidFill>
          <a:ln/>
        </p:spPr>
      </p:sp>
      <p:sp>
        <p:nvSpPr>
          <p:cNvPr id="27" name="Text 25"/>
          <p:cNvSpPr/>
          <p:nvPr/>
        </p:nvSpPr>
        <p:spPr>
          <a:xfrm>
            <a:off x="4462272" y="3593592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861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DSIM gives them: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4462272" y="3813048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Vendor-neutral audit: is the constraint media spend or in-stock rate? The number the CFO can defend — not platform ROAS.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4462272" y="4754880"/>
            <a:ext cx="3291840" cy="9144"/>
          </a:xfrm>
          <a:prstGeom prst="rect">
            <a:avLst/>
          </a:prstGeom>
          <a:solidFill>
            <a:srgbClr val="DDE4F0"/>
          </a:solidFill>
          <a:ln/>
        </p:spPr>
      </p:sp>
      <p:sp>
        <p:nvSpPr>
          <p:cNvPr id="30" name="Text 28"/>
          <p:cNvSpPr/>
          <p:nvPr/>
        </p:nvSpPr>
        <p:spPr>
          <a:xfrm>
            <a:off x="4462272" y="4846320"/>
            <a:ext cx="3291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i="1" dirty="0">
                <a:solidFill>
                  <a:srgbClr val="E861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“Before approving the next Walmart Connect request, know whether the bottleneck is media or shelf.”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8193024" y="1078992"/>
            <a:ext cx="3657600" cy="5394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8193024" y="1078992"/>
            <a:ext cx="3657600" cy="91440"/>
          </a:xfrm>
          <a:prstGeom prst="rect">
            <a:avLst/>
          </a:prstGeom>
          <a:solidFill>
            <a:srgbClr val="1D8A5B"/>
          </a:solidFill>
          <a:ln/>
        </p:spPr>
      </p:sp>
      <p:sp>
        <p:nvSpPr>
          <p:cNvPr id="33" name="Text 31"/>
          <p:cNvSpPr/>
          <p:nvPr/>
        </p:nvSpPr>
        <p:spPr>
          <a:xfrm>
            <a:off x="8375904" y="1216152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8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/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1D8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Manager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8375904" y="1773936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Owns: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8878824" y="1773936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P&amp;L, promotional calendar,</a:t>
            </a:r>
            <a:endParaRPr lang="en-US" sz="850" dirty="0"/>
          </a:p>
          <a:p>
            <a:pPr indent="0" marL="0">
              <a:buNone/>
            </a:pPr>
            <a:r>
              <a:rPr lang="en-US" sz="85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competitive response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8375904" y="2231136"/>
            <a:ext cx="3291840" cy="9144"/>
          </a:xfrm>
          <a:prstGeom prst="rect">
            <a:avLst/>
          </a:prstGeom>
          <a:solidFill>
            <a:srgbClr val="DDE4F0"/>
          </a:solidFill>
          <a:ln/>
        </p:spPr>
      </p:sp>
      <p:sp>
        <p:nvSpPr>
          <p:cNvPr id="37" name="Text 35"/>
          <p:cNvSpPr/>
          <p:nvPr/>
        </p:nvSpPr>
        <p:spPr>
          <a:xfrm>
            <a:off x="8375904" y="233172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Pain today: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8375904" y="2551176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NielsenIQ tells them a competitor took 2 points of share — 6 weeks after it happened. Can't connect shelf signals to dollar impact.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8375904" y="3493008"/>
            <a:ext cx="3291840" cy="9144"/>
          </a:xfrm>
          <a:prstGeom prst="rect">
            <a:avLst/>
          </a:prstGeom>
          <a:solidFill>
            <a:srgbClr val="DDE4F0"/>
          </a:solidFill>
          <a:ln/>
        </p:spPr>
      </p:sp>
      <p:sp>
        <p:nvSpPr>
          <p:cNvPr id="40" name="Text 38"/>
          <p:cNvSpPr/>
          <p:nvPr/>
        </p:nvSpPr>
        <p:spPr>
          <a:xfrm>
            <a:off x="8375904" y="3593592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D8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DSIM gives them: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8375904" y="3813048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Quantifies what a competitor's SoS gain is worth in weekly lost sales — by store cluster. Early enough to respond.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8375904" y="4754880"/>
            <a:ext cx="3291840" cy="9144"/>
          </a:xfrm>
          <a:prstGeom prst="rect">
            <a:avLst/>
          </a:prstGeom>
          <a:solidFill>
            <a:srgbClr val="DDE4F0"/>
          </a:solidFill>
          <a:ln/>
        </p:spPr>
      </p:sp>
      <p:sp>
        <p:nvSpPr>
          <p:cNvPr id="43" name="Text 41"/>
          <p:cNvSpPr/>
          <p:nvPr/>
        </p:nvSpPr>
        <p:spPr>
          <a:xfrm>
            <a:off x="8375904" y="4846320"/>
            <a:ext cx="3291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i="1" dirty="0">
                <a:solidFill>
                  <a:srgbClr val="1D8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“By the time Nielsen tells you a competitor took share, it happened 6 weeks ago. DSIM shows the signal that preceded it.”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E861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201168"/>
            <a:ext cx="11430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Lactalis PoC: Proof of Impact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65760" y="1115568"/>
            <a:ext cx="11430000" cy="18288"/>
          </a:xfrm>
          <a:prstGeom prst="rect">
            <a:avLst/>
          </a:prstGeom>
          <a:solidFill>
            <a:srgbClr val="DDE4F0"/>
          </a:solidFill>
          <a:ln/>
        </p:spPr>
      </p:sp>
      <p:sp>
        <p:nvSpPr>
          <p:cNvPr id="5" name="Shape 3"/>
          <p:cNvSpPr/>
          <p:nvPr/>
        </p:nvSpPr>
        <p:spPr>
          <a:xfrm>
            <a:off x="365760" y="1298448"/>
            <a:ext cx="365760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65760" y="1298448"/>
            <a:ext cx="3657600" cy="73152"/>
          </a:xfrm>
          <a:prstGeom prst="rect">
            <a:avLst/>
          </a:prstGeom>
          <a:solidFill>
            <a:srgbClr val="1D8A5B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435608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D8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91%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548640" y="2075688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 / Model Fit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279392" y="1298448"/>
            <a:ext cx="365760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279392" y="1298448"/>
            <a:ext cx="3657600" cy="73152"/>
          </a:xfrm>
          <a:prstGeom prst="rect">
            <a:avLst/>
          </a:prstGeom>
          <a:solidFill>
            <a:srgbClr val="1D8A5B"/>
          </a:solidFill>
          <a:ln/>
        </p:spPr>
      </p:sp>
      <p:sp>
        <p:nvSpPr>
          <p:cNvPr id="11" name="Text 9"/>
          <p:cNvSpPr/>
          <p:nvPr/>
        </p:nvSpPr>
        <p:spPr>
          <a:xfrm>
            <a:off x="4462272" y="1435608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D8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5.9%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4462272" y="2075688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MAPE / Accuracy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193024" y="1298448"/>
            <a:ext cx="365760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193024" y="1298448"/>
            <a:ext cx="3657600" cy="73152"/>
          </a:xfrm>
          <a:prstGeom prst="rect">
            <a:avLst/>
          </a:prstGeom>
          <a:solidFill>
            <a:srgbClr val="E8612C"/>
          </a:solidFill>
          <a:ln/>
        </p:spPr>
      </p:sp>
      <p:sp>
        <p:nvSpPr>
          <p:cNvPr id="15" name="Text 13"/>
          <p:cNvSpPr/>
          <p:nvPr/>
        </p:nvSpPr>
        <p:spPr>
          <a:xfrm>
            <a:off x="8375904" y="1435608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861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$30K+</a:t>
            </a:r>
            <a:endParaRPr lang="en-US" sz="4000" dirty="0"/>
          </a:p>
        </p:txBody>
      </p:sp>
      <p:sp>
        <p:nvSpPr>
          <p:cNvPr id="16" name="Text 14"/>
          <p:cNvSpPr/>
          <p:nvPr/>
        </p:nvSpPr>
        <p:spPr>
          <a:xfrm>
            <a:off x="8375904" y="2075688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Reallocation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65760" y="3127248"/>
            <a:ext cx="365760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65760" y="3127248"/>
            <a:ext cx="3657600" cy="73152"/>
          </a:xfrm>
          <a:prstGeom prst="rect">
            <a:avLst/>
          </a:prstGeom>
          <a:solidFill>
            <a:srgbClr val="2E5D9E"/>
          </a:solidFill>
          <a:ln/>
        </p:spPr>
      </p:sp>
      <p:sp>
        <p:nvSpPr>
          <p:cNvPr id="19" name="Text 17"/>
          <p:cNvSpPr/>
          <p:nvPr/>
        </p:nvSpPr>
        <p:spPr>
          <a:xfrm>
            <a:off x="548640" y="3264408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E5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4000" dirty="0"/>
          </a:p>
        </p:txBody>
      </p:sp>
      <p:sp>
        <p:nvSpPr>
          <p:cNvPr id="20" name="Text 18"/>
          <p:cNvSpPr/>
          <p:nvPr/>
        </p:nvSpPr>
        <p:spPr>
          <a:xfrm>
            <a:off x="548640" y="3904488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 Clusters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279392" y="3127248"/>
            <a:ext cx="365760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279392" y="3127248"/>
            <a:ext cx="3657600" cy="73152"/>
          </a:xfrm>
          <a:prstGeom prst="rect">
            <a:avLst/>
          </a:prstGeom>
          <a:solidFill>
            <a:srgbClr val="D48B14"/>
          </a:solidFill>
          <a:ln/>
        </p:spPr>
      </p:sp>
      <p:sp>
        <p:nvSpPr>
          <p:cNvPr id="23" name="Text 21"/>
          <p:cNvSpPr/>
          <p:nvPr/>
        </p:nvSpPr>
        <p:spPr>
          <a:xfrm>
            <a:off x="4462272" y="3264408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D48B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78%</a:t>
            </a:r>
            <a:endParaRPr lang="en-US" sz="4000" dirty="0"/>
          </a:p>
        </p:txBody>
      </p:sp>
      <p:sp>
        <p:nvSpPr>
          <p:cNvPr id="24" name="Text 22"/>
          <p:cNvSpPr/>
          <p:nvPr/>
        </p:nvSpPr>
        <p:spPr>
          <a:xfrm>
            <a:off x="4462272" y="3904488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Peak OSA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8193024" y="3127248"/>
            <a:ext cx="365760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8193024" y="3127248"/>
            <a:ext cx="3657600" cy="73152"/>
          </a:xfrm>
          <a:prstGeom prst="rect">
            <a:avLst/>
          </a:prstGeom>
          <a:solidFill>
            <a:srgbClr val="1D8A5B"/>
          </a:solidFill>
          <a:ln/>
        </p:spPr>
      </p:sp>
      <p:sp>
        <p:nvSpPr>
          <p:cNvPr id="27" name="Text 25"/>
          <p:cNvSpPr/>
          <p:nvPr/>
        </p:nvSpPr>
        <p:spPr>
          <a:xfrm>
            <a:off x="8375904" y="3264408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D8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+12%</a:t>
            </a:r>
            <a:endParaRPr lang="en-US" sz="4000" dirty="0"/>
          </a:p>
        </p:txBody>
      </p:sp>
      <p:sp>
        <p:nvSpPr>
          <p:cNvPr id="28" name="Text 26"/>
          <p:cNvSpPr/>
          <p:nvPr/>
        </p:nvSpPr>
        <p:spPr>
          <a:xfrm>
            <a:off x="8375904" y="3904488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Adult Halo Lift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5029200"/>
            <a:ext cx="11430000" cy="1097280"/>
          </a:xfrm>
          <a:prstGeom prst="rect">
            <a:avLst/>
          </a:prstGeom>
          <a:solidFill>
            <a:srgbClr val="EBF1FB"/>
          </a:solidFill>
          <a:ln/>
        </p:spPr>
      </p:sp>
      <p:sp>
        <p:nvSpPr>
          <p:cNvPr id="30" name="Shape 28"/>
          <p:cNvSpPr/>
          <p:nvPr/>
        </p:nvSpPr>
        <p:spPr>
          <a:xfrm>
            <a:off x="365760" y="5029200"/>
            <a:ext cx="73152" cy="1097280"/>
          </a:xfrm>
          <a:prstGeom prst="rect">
            <a:avLst/>
          </a:prstGeom>
          <a:solidFill>
            <a:srgbClr val="2E5D9E"/>
          </a:solidFill>
          <a:ln/>
        </p:spPr>
      </p:sp>
      <p:sp>
        <p:nvSpPr>
          <p:cNvPr id="31" name="Text 29"/>
          <p:cNvSpPr/>
          <p:nvPr/>
        </p:nvSpPr>
        <p:spPr>
          <a:xfrm>
            <a:off x="594360" y="5138928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PoC validates shelf-signal integration into incrementality models. Kids/Baby category showed +12% incremental lift in Adult segment, proving category halo effect — a lever CommerceIQ and Pacvue cannot decompose, and one that Incremental.com would strip out as a confounder rather than surface as an opportunity.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E861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201168"/>
            <a:ext cx="11430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Incremental ROI by Channel (Lactalis)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65760" y="1115568"/>
            <a:ext cx="11430000" cy="18288"/>
          </a:xfrm>
          <a:prstGeom prst="rect">
            <a:avLst/>
          </a:prstGeom>
          <a:solidFill>
            <a:srgbClr val="DDE4F0"/>
          </a:solidFill>
          <a:ln/>
        </p:spPr>
      </p:sp>
      <p:graphicFrame>
        <p:nvGraphicFramePr>
          <p:cNvPr id="5" name="Chart 0" descr=""/>
          <p:cNvGraphicFramePr/>
          <p:nvPr/>
        </p:nvGraphicFramePr>
        <p:xfrm>
          <a:off x="365760" y="1298448"/>
          <a:ext cx="1143000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365760" y="4389120"/>
            <a:ext cx="11430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Offsite Display shows strongest incremental return. Onsite Search consuming 63% of budget despite weakest iROI — prime reallocation opportunity.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E861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201168"/>
            <a:ext cx="11430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Defensible Positioning vs. Activation Players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65760" y="1115568"/>
            <a:ext cx="11430000" cy="18288"/>
          </a:xfrm>
          <a:prstGeom prst="rect">
            <a:avLst/>
          </a:prstGeom>
          <a:solidFill>
            <a:srgbClr val="DDE4F0"/>
          </a:solidFill>
          <a:ln/>
        </p:spPr>
      </p:sp>
      <p:sp>
        <p:nvSpPr>
          <p:cNvPr id="5" name="Shape 3"/>
          <p:cNvSpPr/>
          <p:nvPr/>
        </p:nvSpPr>
        <p:spPr>
          <a:xfrm>
            <a:off x="365760" y="1298448"/>
            <a:ext cx="11430000" cy="1005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65760" y="1298448"/>
            <a:ext cx="73152" cy="1005840"/>
          </a:xfrm>
          <a:prstGeom prst="rect">
            <a:avLst/>
          </a:prstGeom>
          <a:solidFill>
            <a:srgbClr val="DDE4F0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3716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Channel Conflict?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0" y="137160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8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DataWeave: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760720" y="137160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686800" y="137160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Competitors: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875520" y="137160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Tied to own bids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65760" y="2395728"/>
            <a:ext cx="11430000" cy="1005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65760" y="2395728"/>
            <a:ext cx="73152" cy="1005840"/>
          </a:xfrm>
          <a:prstGeom prst="rect">
            <a:avLst/>
          </a:prstGeom>
          <a:solidFill>
            <a:srgbClr val="DDE4F0"/>
          </a:solidFill>
          <a:ln/>
        </p:spPr>
      </p:sp>
      <p:sp>
        <p:nvSpPr>
          <p:cNvPr id="14" name="Text 12"/>
          <p:cNvSpPr/>
          <p:nvPr/>
        </p:nvSpPr>
        <p:spPr>
          <a:xfrm>
            <a:off x="594360" y="24688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Shelf Signals as Levers?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0" y="24688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8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DataWeave: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760720" y="246888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First-class inputs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8686800" y="24688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Competitors: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9875520" y="246888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Secondary signals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3493008"/>
            <a:ext cx="11430000" cy="1005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365760" y="3493008"/>
            <a:ext cx="73152" cy="1005840"/>
          </a:xfrm>
          <a:prstGeom prst="rect">
            <a:avLst/>
          </a:prstGeom>
          <a:solidFill>
            <a:srgbClr val="DDE4F0"/>
          </a:solidFill>
          <a:ln/>
        </p:spPr>
      </p:sp>
      <p:sp>
        <p:nvSpPr>
          <p:cNvPr id="21" name="Text 19"/>
          <p:cNvSpPr/>
          <p:nvPr/>
        </p:nvSpPr>
        <p:spPr>
          <a:xfrm>
            <a:off x="594360" y="35661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Store-Cluster Decomposition?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572000" y="356616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8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DataWeave: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760720" y="35661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 — 17 clusters tested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8686800" y="356616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Competitors: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9875520" y="356616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— channel-level only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590288"/>
            <a:ext cx="11430000" cy="1005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365760" y="4590288"/>
            <a:ext cx="73152" cy="1005840"/>
          </a:xfrm>
          <a:prstGeom prst="rect">
            <a:avLst/>
          </a:prstGeom>
          <a:solidFill>
            <a:srgbClr val="DDE4F0"/>
          </a:solidFill>
          <a:ln/>
        </p:spPr>
      </p:sp>
      <p:sp>
        <p:nvSpPr>
          <p:cNvPr id="28" name="Text 26"/>
          <p:cNvSpPr/>
          <p:nvPr/>
        </p:nvSpPr>
        <p:spPr>
          <a:xfrm>
            <a:off x="594360" y="46634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CFO-Ready Output?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4572000" y="466344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8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DataWeave: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5760720" y="466344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Attribution + reallocation recommendations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8686800" y="466344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Competitors: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9875520" y="466344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Optimization suggestions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E861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201168"/>
            <a:ext cx="11430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6-Month GTM: Services-Led, Tableau Delivery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65760" y="1097280"/>
            <a:ext cx="3657600" cy="3657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65760" y="1097280"/>
            <a:ext cx="3657600" cy="73152"/>
          </a:xfrm>
          <a:prstGeom prst="rect">
            <a:avLst/>
          </a:prstGeom>
          <a:solidFill>
            <a:srgbClr val="2E5D9E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2344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5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 2026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155448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Beta Launch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48640" y="2103120"/>
            <a:ext cx="3291840" cy="9144"/>
          </a:xfrm>
          <a:prstGeom prst="rect">
            <a:avLst/>
          </a:prstGeom>
          <a:solidFill>
            <a:srgbClr val="DDE4F0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2240280"/>
            <a:ext cx="32918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Lactalis + 1-2 fast followers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434840" y="1097280"/>
            <a:ext cx="3657600" cy="3657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434840" y="1097280"/>
            <a:ext cx="3657600" cy="73152"/>
          </a:xfrm>
          <a:prstGeom prst="rect">
            <a:avLst/>
          </a:prstGeom>
          <a:solidFill>
            <a:srgbClr val="E8612C"/>
          </a:solidFill>
          <a:ln/>
        </p:spPr>
      </p:sp>
      <p:sp>
        <p:nvSpPr>
          <p:cNvPr id="12" name="Text 10"/>
          <p:cNvSpPr/>
          <p:nvPr/>
        </p:nvSpPr>
        <p:spPr>
          <a:xfrm>
            <a:off x="4617720" y="12344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61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Q3 2026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617720" y="155448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Pilot Accounts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4617720" y="2103120"/>
            <a:ext cx="3291840" cy="9144"/>
          </a:xfrm>
          <a:prstGeom prst="rect">
            <a:avLst/>
          </a:prstGeom>
          <a:solidFill>
            <a:srgbClr val="DDE4F0"/>
          </a:solidFill>
          <a:ln/>
        </p:spPr>
      </p:sp>
      <p:sp>
        <p:nvSpPr>
          <p:cNvPr id="15" name="Text 13"/>
          <p:cNvSpPr/>
          <p:nvPr/>
        </p:nvSpPr>
        <p:spPr>
          <a:xfrm>
            <a:off x="4617720" y="2240280"/>
            <a:ext cx="32918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Tableau dashboards, weekly QBRs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503920" y="1097280"/>
            <a:ext cx="3657600" cy="3657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503920" y="1097280"/>
            <a:ext cx="3657600" cy="73152"/>
          </a:xfrm>
          <a:prstGeom prst="rect">
            <a:avLst/>
          </a:prstGeom>
          <a:solidFill>
            <a:srgbClr val="1D8A5B"/>
          </a:solidFill>
          <a:ln/>
        </p:spPr>
      </p:sp>
      <p:sp>
        <p:nvSpPr>
          <p:cNvPr id="18" name="Text 16"/>
          <p:cNvSpPr/>
          <p:nvPr/>
        </p:nvSpPr>
        <p:spPr>
          <a:xfrm>
            <a:off x="8686800" y="12344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8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Q4 2026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686800" y="155448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Model Run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8686800" y="2103120"/>
            <a:ext cx="3291840" cy="9144"/>
          </a:xfrm>
          <a:prstGeom prst="rect">
            <a:avLst/>
          </a:prstGeom>
          <a:solidFill>
            <a:srgbClr val="DDE4F0"/>
          </a:solidFill>
          <a:ln/>
        </p:spPr>
      </p:sp>
      <p:sp>
        <p:nvSpPr>
          <p:cNvPr id="21" name="Text 19"/>
          <p:cNvSpPr/>
          <p:nvPr/>
        </p:nvSpPr>
        <p:spPr>
          <a:xfrm>
            <a:off x="8686800" y="2240280"/>
            <a:ext cx="32918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Transition to product, scale to 20+ accounts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5029200"/>
            <a:ext cx="11430000" cy="1097280"/>
          </a:xfrm>
          <a:prstGeom prst="rect">
            <a:avLst/>
          </a:prstGeom>
          <a:solidFill>
            <a:srgbClr val="EBF1FB"/>
          </a:solidFill>
          <a:ln/>
        </p:spPr>
      </p:sp>
      <p:sp>
        <p:nvSpPr>
          <p:cNvPr id="23" name="Shape 21"/>
          <p:cNvSpPr/>
          <p:nvPr/>
        </p:nvSpPr>
        <p:spPr>
          <a:xfrm>
            <a:off x="365760" y="5029200"/>
            <a:ext cx="73152" cy="1097280"/>
          </a:xfrm>
          <a:prstGeom prst="rect">
            <a:avLst/>
          </a:prstGeom>
          <a:solidFill>
            <a:srgbClr val="2E5D9E"/>
          </a:solidFill>
          <a:ln/>
        </p:spPr>
      </p:sp>
      <p:sp>
        <p:nvSpPr>
          <p:cNvPr id="24" name="Text 22"/>
          <p:cNvSpPr/>
          <p:nvPr/>
        </p:nvSpPr>
        <p:spPr>
          <a:xfrm>
            <a:off x="594360" y="5138928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ICP: RGM personas at CPG brands ($500M+ revenue, active on Walmart). Lead with Lactalis success case; deliver PoC via Tableau before productization.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E861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201168"/>
            <a:ext cx="11430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Four-Phase Productization (P0→P3)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65760" y="1115568"/>
            <a:ext cx="11430000" cy="18288"/>
          </a:xfrm>
          <a:prstGeom prst="rect">
            <a:avLst/>
          </a:prstGeom>
          <a:solidFill>
            <a:srgbClr val="DDE4F0"/>
          </a:solidFill>
          <a:ln/>
        </p:spPr>
      </p:sp>
      <p:sp>
        <p:nvSpPr>
          <p:cNvPr id="5" name="Shape 3"/>
          <p:cNvSpPr/>
          <p:nvPr/>
        </p:nvSpPr>
        <p:spPr>
          <a:xfrm>
            <a:off x="365760" y="1298448"/>
            <a:ext cx="11430000" cy="107899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65760" y="1298448"/>
            <a:ext cx="73152" cy="1078992"/>
          </a:xfrm>
          <a:prstGeom prst="rect">
            <a:avLst/>
          </a:prstGeom>
          <a:solidFill>
            <a:srgbClr val="2E5D9E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34416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5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P0: Services-Led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017520" y="1344168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Now–Q3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0" y="1344168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Lactalis PoC + fast-follower betas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955280" y="1344168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$50–75K per PoC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65760" y="2468880"/>
            <a:ext cx="11430000" cy="107899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2468880"/>
            <a:ext cx="73152" cy="1078992"/>
          </a:xfrm>
          <a:prstGeom prst="rect">
            <a:avLst/>
          </a:prstGeom>
          <a:solidFill>
            <a:srgbClr val="E8612C"/>
          </a:solidFill>
          <a:ln/>
        </p:spPr>
      </p:sp>
      <p:sp>
        <p:nvSpPr>
          <p:cNvPr id="13" name="Text 11"/>
          <p:cNvSpPr/>
          <p:nvPr/>
        </p:nvSpPr>
        <p:spPr>
          <a:xfrm>
            <a:off x="594360" y="25146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61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P1: Automated Model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017520" y="251460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Q4 2026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572000" y="251460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refreshes, zero-touch data ingestion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955280" y="251460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$150–200K annual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65760" y="3639312"/>
            <a:ext cx="11430000" cy="107899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65760" y="3639312"/>
            <a:ext cx="73152" cy="1078992"/>
          </a:xfrm>
          <a:prstGeom prst="rect">
            <a:avLst/>
          </a:prstGeom>
          <a:solidFill>
            <a:srgbClr val="1D8A5B"/>
          </a:solidFill>
          <a:ln/>
        </p:spPr>
      </p:sp>
      <p:sp>
        <p:nvSpPr>
          <p:cNvPr id="19" name="Text 17"/>
          <p:cNvSpPr/>
          <p:nvPr/>
        </p:nvSpPr>
        <p:spPr>
          <a:xfrm>
            <a:off x="594360" y="3685032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8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P2: Native Dashboard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3017520" y="3685032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Q1–Q2 2027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572000" y="3685032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Built-in Tableau + real-time shelf signals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7955280" y="3685032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$250–400K enterprise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4809744"/>
            <a:ext cx="11430000" cy="107899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365760" y="4809744"/>
            <a:ext cx="73152" cy="1078992"/>
          </a:xfrm>
          <a:prstGeom prst="rect">
            <a:avLst/>
          </a:prstGeom>
          <a:solidFill>
            <a:srgbClr val="1D8A5B"/>
          </a:solidFill>
          <a:ln/>
        </p:spPr>
      </p:sp>
      <p:sp>
        <p:nvSpPr>
          <p:cNvPr id="25" name="Text 23"/>
          <p:cNvSpPr/>
          <p:nvPr/>
        </p:nvSpPr>
        <p:spPr>
          <a:xfrm>
            <a:off x="594360" y="4855464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8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P3: Reallocation Simulator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3017520" y="4855464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2027+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572000" y="4855464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What-if spend/content/shelf changes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7955280" y="4855464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Net-new upsell motion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E861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201168"/>
            <a:ext cx="11430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Register &amp; Mitigations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65760" y="1115568"/>
            <a:ext cx="11430000" cy="18288"/>
          </a:xfrm>
          <a:prstGeom prst="rect">
            <a:avLst/>
          </a:prstGeom>
          <a:solidFill>
            <a:srgbClr val="DDE4F0"/>
          </a:solidFill>
          <a:ln/>
        </p:spPr>
      </p:sp>
      <p:sp>
        <p:nvSpPr>
          <p:cNvPr id="5" name="Shape 3"/>
          <p:cNvSpPr/>
          <p:nvPr/>
        </p:nvSpPr>
        <p:spPr>
          <a:xfrm>
            <a:off x="365760" y="1298448"/>
            <a:ext cx="11430000" cy="10515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65760" y="1298448"/>
            <a:ext cx="73152" cy="105156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34416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Security / Privacy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480560" y="1371600"/>
            <a:ext cx="1005840" cy="27432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9" name="Text 7"/>
          <p:cNvSpPr/>
          <p:nvPr/>
        </p:nvSpPr>
        <p:spPr>
          <a:xfrm>
            <a:off x="4480560" y="137160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669280" y="1344168"/>
            <a:ext cx="6126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 2 Type II certification; Walmart data governance review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65760" y="2441448"/>
            <a:ext cx="11430000" cy="10515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2441448"/>
            <a:ext cx="73152" cy="1051560"/>
          </a:xfrm>
          <a:prstGeom prst="rect">
            <a:avLst/>
          </a:prstGeom>
          <a:solidFill>
            <a:srgbClr val="D48B14"/>
          </a:solidFill>
          <a:ln/>
        </p:spPr>
      </p:sp>
      <p:sp>
        <p:nvSpPr>
          <p:cNvPr id="13" name="Text 11"/>
          <p:cNvSpPr/>
          <p:nvPr/>
        </p:nvSpPr>
        <p:spPr>
          <a:xfrm>
            <a:off x="594360" y="248716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Walmart API Changes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480560" y="2514600"/>
            <a:ext cx="1005840" cy="274320"/>
          </a:xfrm>
          <a:prstGeom prst="rect">
            <a:avLst/>
          </a:prstGeom>
          <a:solidFill>
            <a:srgbClr val="D48B14"/>
          </a:solidFill>
          <a:ln/>
        </p:spPr>
      </p:sp>
      <p:sp>
        <p:nvSpPr>
          <p:cNvPr id="15" name="Text 13"/>
          <p:cNvSpPr/>
          <p:nvPr/>
        </p:nvSpPr>
        <p:spPr>
          <a:xfrm>
            <a:off x="4480560" y="251460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669280" y="2487168"/>
            <a:ext cx="6126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Leverage Incremental.com's official API partnership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65760" y="3584448"/>
            <a:ext cx="11430000" cy="10515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65760" y="3584448"/>
            <a:ext cx="73152" cy="1051560"/>
          </a:xfrm>
          <a:prstGeom prst="rect">
            <a:avLst/>
          </a:prstGeom>
          <a:solidFill>
            <a:srgbClr val="D48B14"/>
          </a:solidFill>
          <a:ln/>
        </p:spPr>
      </p:sp>
      <p:sp>
        <p:nvSpPr>
          <p:cNvPr id="19" name="Text 17"/>
          <p:cNvSpPr/>
          <p:nvPr/>
        </p:nvSpPr>
        <p:spPr>
          <a:xfrm>
            <a:off x="594360" y="363016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Buy-in on Methodology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480560" y="3657600"/>
            <a:ext cx="1005840" cy="274320"/>
          </a:xfrm>
          <a:prstGeom prst="rect">
            <a:avLst/>
          </a:prstGeom>
          <a:solidFill>
            <a:srgbClr val="D48B14"/>
          </a:solidFill>
          <a:ln/>
        </p:spPr>
      </p:sp>
      <p:sp>
        <p:nvSpPr>
          <p:cNvPr id="21" name="Text 19"/>
          <p:cNvSpPr/>
          <p:nvPr/>
        </p:nvSpPr>
        <p:spPr>
          <a:xfrm>
            <a:off x="4480560" y="365760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5669280" y="3630168"/>
            <a:ext cx="6126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Lactalis case study + peer references by Q3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4727448"/>
            <a:ext cx="11430000" cy="10515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365760" y="4727448"/>
            <a:ext cx="73152" cy="1051560"/>
          </a:xfrm>
          <a:prstGeom prst="rect">
            <a:avLst/>
          </a:prstGeom>
          <a:solidFill>
            <a:srgbClr val="D48B14"/>
          </a:solidFill>
          <a:ln/>
        </p:spPr>
      </p:sp>
      <p:sp>
        <p:nvSpPr>
          <p:cNvPr id="25" name="Text 23"/>
          <p:cNvSpPr/>
          <p:nvPr/>
        </p:nvSpPr>
        <p:spPr>
          <a:xfrm>
            <a:off x="594360" y="477316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Productization Timeline Slip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4480560" y="4800600"/>
            <a:ext cx="1005840" cy="274320"/>
          </a:xfrm>
          <a:prstGeom prst="rect">
            <a:avLst/>
          </a:prstGeom>
          <a:solidFill>
            <a:srgbClr val="D48B14"/>
          </a:solidFill>
          <a:ln/>
        </p:spPr>
      </p:sp>
      <p:sp>
        <p:nvSpPr>
          <p:cNvPr id="27" name="Text 25"/>
          <p:cNvSpPr/>
          <p:nvPr/>
        </p:nvSpPr>
        <p:spPr>
          <a:xfrm>
            <a:off x="4480560" y="480060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5669280" y="4773168"/>
            <a:ext cx="6126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Fallback: extend Tableau services model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E861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201168"/>
            <a:ext cx="11430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Q2–Q3 2026 Key Result Areas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65760" y="1115568"/>
            <a:ext cx="11430000" cy="18288"/>
          </a:xfrm>
          <a:prstGeom prst="rect">
            <a:avLst/>
          </a:prstGeom>
          <a:solidFill>
            <a:srgbClr val="DDE4F0"/>
          </a:solidFill>
          <a:ln/>
        </p:spPr>
      </p:sp>
      <p:sp>
        <p:nvSpPr>
          <p:cNvPr id="5" name="Shape 3"/>
          <p:cNvSpPr/>
          <p:nvPr/>
        </p:nvSpPr>
        <p:spPr>
          <a:xfrm>
            <a:off x="365760" y="1298448"/>
            <a:ext cx="5623560" cy="2103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65760" y="1298448"/>
            <a:ext cx="5623560" cy="73152"/>
          </a:xfrm>
          <a:prstGeom prst="rect">
            <a:avLst/>
          </a:prstGeom>
          <a:solidFill>
            <a:srgbClr val="1D8A5B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435608"/>
            <a:ext cx="5166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8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Lactalis PoC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94360" y="1828800"/>
            <a:ext cx="5166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Target: Validated model by June 30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94360" y="2468880"/>
            <a:ext cx="5166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Owner: Product + Eng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298448"/>
            <a:ext cx="5623560" cy="2103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217920" y="1298448"/>
            <a:ext cx="5623560" cy="73152"/>
          </a:xfrm>
          <a:prstGeom prst="rect">
            <a:avLst/>
          </a:prstGeom>
          <a:solidFill>
            <a:srgbClr val="E8612C"/>
          </a:solidFill>
          <a:ln/>
        </p:spPr>
      </p:sp>
      <p:sp>
        <p:nvSpPr>
          <p:cNvPr id="12" name="Text 10"/>
          <p:cNvSpPr/>
          <p:nvPr/>
        </p:nvSpPr>
        <p:spPr>
          <a:xfrm>
            <a:off x="6446520" y="1435608"/>
            <a:ext cx="5166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61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 2 Fast-Follower Betas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446520" y="1828800"/>
            <a:ext cx="5166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Target: Signed pilots by end of Q2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46520" y="2468880"/>
            <a:ext cx="5166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Owner: Sales + CS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65760" y="3493008"/>
            <a:ext cx="5623560" cy="2103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3493008"/>
            <a:ext cx="5623560" cy="73152"/>
          </a:xfrm>
          <a:prstGeom prst="rect">
            <a:avLst/>
          </a:prstGeom>
          <a:solidFill>
            <a:srgbClr val="2E5D9E"/>
          </a:solidFill>
          <a:ln/>
        </p:spPr>
      </p:sp>
      <p:sp>
        <p:nvSpPr>
          <p:cNvPr id="17" name="Text 15"/>
          <p:cNvSpPr/>
          <p:nvPr/>
        </p:nvSpPr>
        <p:spPr>
          <a:xfrm>
            <a:off x="594360" y="3630168"/>
            <a:ext cx="5166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5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Productization Design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94360" y="4023360"/>
            <a:ext cx="5166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Target: P1 spec complete by Aug 31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94360" y="4663440"/>
            <a:ext cx="5166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Owner: Product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217920" y="3493008"/>
            <a:ext cx="5623560" cy="2103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217920" y="3493008"/>
            <a:ext cx="5623560" cy="73152"/>
          </a:xfrm>
          <a:prstGeom prst="rect">
            <a:avLst/>
          </a:prstGeom>
          <a:solidFill>
            <a:srgbClr val="2E5D9E"/>
          </a:solidFill>
          <a:ln/>
        </p:spPr>
      </p:sp>
      <p:sp>
        <p:nvSpPr>
          <p:cNvPr id="22" name="Text 20"/>
          <p:cNvSpPr/>
          <p:nvPr/>
        </p:nvSpPr>
        <p:spPr>
          <a:xfrm>
            <a:off x="6446520" y="3630168"/>
            <a:ext cx="5166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5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Competitive Case Studies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446520" y="4023360"/>
            <a:ext cx="5166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Target: Lactalis + 1 more by Aug 31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446520" y="4663440"/>
            <a:ext cx="5166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Owner: Marketing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E861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201168"/>
            <a:ext cx="11430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Supplemental: DSIM Model Infographics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365760" y="731520"/>
            <a:ext cx="11430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Lactalis PoC — Key Visualizations</a:t>
            </a:r>
            <a:endParaRPr lang="en-US" sz="12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097280"/>
            <a:ext cx="5486400" cy="22860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365760" y="34747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Incremental ROI by Channel</a:t>
            </a:r>
            <a:endParaRPr lang="en-US" sz="1000" dirty="0"/>
          </a:p>
        </p:txBody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1097280"/>
            <a:ext cx="5486400" cy="22860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035040" y="34747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 Waterfall ($2.8M→$6.1M)</a:t>
            </a:r>
            <a:endParaRPr lang="en-US" sz="1000" dirty="0"/>
          </a:p>
        </p:txBody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3520440"/>
            <a:ext cx="5486400" cy="228600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365760" y="58978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 Cluster Allocation (17 clusters)</a:t>
            </a:r>
            <a:endParaRPr lang="en-US" sz="1000" dirty="0"/>
          </a:p>
        </p:txBody>
      </p:sp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35040" y="3520440"/>
            <a:ext cx="5486400" cy="2286000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6035040" y="58978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Availability vs. Media Spend</a:t>
            </a:r>
            <a:endParaRPr lang="en-US" sz="1000" dirty="0"/>
          </a:p>
        </p:txBody>
      </p:sp>
      <p:sp>
        <p:nvSpPr>
          <p:cNvPr id="13" name="Text 7"/>
          <p:cNvSpPr/>
          <p:nvPr/>
        </p:nvSpPr>
        <p:spPr>
          <a:xfrm>
            <a:off x="365760" y="6309360"/>
            <a:ext cx="1143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— For internal stakeholder review only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DSIM Internal Strategy Review — April 2026</dc:title>
  <dc:subject>PptxGenJS Presentation</dc:subject>
  <dc:creator>PptxGenJS</dc:creator>
  <cp:lastModifiedBy>PptxGenJS</cp:lastModifiedBy>
  <cp:revision>1</cp:revision>
  <dcterms:created xsi:type="dcterms:W3CDTF">2026-04-25T10:58:17Z</dcterms:created>
  <dcterms:modified xsi:type="dcterms:W3CDTF">2026-04-25T10:58:17Z</dcterms:modified>
</cp:coreProperties>
</file>