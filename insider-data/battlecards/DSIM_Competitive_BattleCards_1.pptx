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211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18F01"/>
          </a:solidFill>
          <a:ln/>
        </p:spPr>
        <p:txBody>
          <a:bodyPr/>
          <a:lstStyle/>
          <a:p>
            <a:endParaRPr lang="en-US"/>
          </a:p>
        </p:txBody>
      </p:sp>
      <p:sp>
        <p:nvSpPr>
          <p:cNvPr id="3" name="Text 1"/>
          <p:cNvSpPr/>
          <p:nvPr/>
        </p:nvSpPr>
        <p:spPr>
          <a:xfrm>
            <a:off x="731520" y="1371600"/>
            <a:ext cx="10058400" cy="365760"/>
          </a:xfrm>
          <a:prstGeom prst="rect">
            <a:avLst/>
          </a:prstGeom>
          <a:noFill/>
          <a:ln/>
        </p:spPr>
        <p:txBody>
          <a:bodyPr wrap="square" lIns="0" tIns="0" rIns="0" bIns="0" rtlCol="0" anchor="ctr"/>
          <a:lstStyle/>
          <a:p>
            <a:pPr marL="0" indent="0">
              <a:buNone/>
            </a:pPr>
            <a:r>
              <a:rPr lang="en-US" sz="1400" b="1" kern="0" spc="800" dirty="0">
                <a:solidFill>
                  <a:srgbClr val="F18F01"/>
                </a:solidFill>
                <a:latin typeface="Calibri" pitchFamily="34" charset="0"/>
                <a:ea typeface="Calibri" pitchFamily="34" charset="-122"/>
                <a:cs typeface="Calibri" pitchFamily="34" charset="-120"/>
              </a:rPr>
              <a:t>COMPETITIVE INTELLIGENCE</a:t>
            </a:r>
            <a:endParaRPr lang="en-US" sz="1400" dirty="0"/>
          </a:p>
        </p:txBody>
      </p:sp>
      <p:sp>
        <p:nvSpPr>
          <p:cNvPr id="4" name="Text 2"/>
          <p:cNvSpPr/>
          <p:nvPr/>
        </p:nvSpPr>
        <p:spPr>
          <a:xfrm>
            <a:off x="731520" y="1828800"/>
            <a:ext cx="10058400" cy="1097280"/>
          </a:xfrm>
          <a:prstGeom prst="rect">
            <a:avLst/>
          </a:prstGeom>
          <a:noFill/>
          <a:ln/>
        </p:spPr>
        <p:txBody>
          <a:bodyPr wrap="square" lIns="0" tIns="0" rIns="0" bIns="0" rtlCol="0" anchor="ctr"/>
          <a:lstStyle/>
          <a:p>
            <a:pPr marL="0" indent="0">
              <a:buNone/>
            </a:pPr>
            <a:r>
              <a:rPr lang="en-US" sz="5400" b="1" dirty="0">
                <a:solidFill>
                  <a:srgbClr val="FFFFFF"/>
                </a:solidFill>
                <a:latin typeface="Georgia" pitchFamily="34" charset="0"/>
                <a:ea typeface="Georgia" pitchFamily="34" charset="-122"/>
                <a:cs typeface="Georgia" pitchFamily="34" charset="-120"/>
              </a:rPr>
              <a:t>DSIM on Walmart</a:t>
            </a:r>
            <a:endParaRPr lang="en-US" sz="5400" dirty="0"/>
          </a:p>
        </p:txBody>
      </p:sp>
      <p:sp>
        <p:nvSpPr>
          <p:cNvPr id="5" name="Text 3"/>
          <p:cNvSpPr/>
          <p:nvPr/>
        </p:nvSpPr>
        <p:spPr>
          <a:xfrm>
            <a:off x="731520" y="3017520"/>
            <a:ext cx="10058400" cy="548640"/>
          </a:xfrm>
          <a:prstGeom prst="rect">
            <a:avLst/>
          </a:prstGeom>
          <a:noFill/>
          <a:ln/>
        </p:spPr>
        <p:txBody>
          <a:bodyPr wrap="square" lIns="0" tIns="0" rIns="0" bIns="0" rtlCol="0" anchor="ctr"/>
          <a:lstStyle/>
          <a:p>
            <a:pPr marL="0" indent="0">
              <a:buNone/>
            </a:pPr>
            <a:r>
              <a:rPr lang="en-US" sz="2400" dirty="0">
                <a:solidFill>
                  <a:srgbClr val="9CB4C9"/>
                </a:solidFill>
                <a:latin typeface="Calibri Light" pitchFamily="34" charset="0"/>
                <a:ea typeface="Calibri Light" pitchFamily="34" charset="-122"/>
                <a:cs typeface="Calibri Light" pitchFamily="34" charset="-120"/>
              </a:rPr>
              <a:t>Competitive Positioning &amp; Battle Cards</a:t>
            </a:r>
            <a:endParaRPr lang="en-US" sz="2400" dirty="0"/>
          </a:p>
        </p:txBody>
      </p:sp>
      <p:sp>
        <p:nvSpPr>
          <p:cNvPr id="6" name="Shape 4"/>
          <p:cNvSpPr/>
          <p:nvPr/>
        </p:nvSpPr>
        <p:spPr>
          <a:xfrm>
            <a:off x="731520" y="3840480"/>
            <a:ext cx="1371600" cy="0"/>
          </a:xfrm>
          <a:prstGeom prst="line">
            <a:avLst/>
          </a:prstGeom>
          <a:noFill/>
          <a:ln w="38100">
            <a:solidFill>
              <a:srgbClr val="F18F01"/>
            </a:solidFill>
            <a:prstDash val="solid"/>
          </a:ln>
        </p:spPr>
        <p:txBody>
          <a:bodyPr/>
          <a:lstStyle/>
          <a:p>
            <a:endParaRPr lang="en-US"/>
          </a:p>
        </p:txBody>
      </p:sp>
      <p:sp>
        <p:nvSpPr>
          <p:cNvPr id="7" name="Text 5"/>
          <p:cNvSpPr/>
          <p:nvPr/>
        </p:nvSpPr>
        <p:spPr>
          <a:xfrm>
            <a:off x="731520" y="4114800"/>
            <a:ext cx="10058400" cy="1097280"/>
          </a:xfrm>
          <a:prstGeom prst="rect">
            <a:avLst/>
          </a:prstGeom>
          <a:noFill/>
          <a:ln/>
        </p:spPr>
        <p:txBody>
          <a:bodyPr wrap="square" lIns="0" tIns="0" rIns="0" bIns="0" rtlCol="0" anchor="ctr"/>
          <a:lstStyle/>
          <a:p>
            <a:pPr marL="0" indent="0">
              <a:spcAft>
                <a:spcPts val="600"/>
              </a:spcAft>
              <a:buNone/>
            </a:pPr>
            <a:r>
              <a:rPr lang="en-US" sz="1600" dirty="0">
                <a:solidFill>
                  <a:srgbClr val="CBD5E1"/>
                </a:solidFill>
                <a:latin typeface="Calibri" pitchFamily="34" charset="0"/>
                <a:ea typeface="Calibri" pitchFamily="34" charset="-122"/>
                <a:cs typeface="Calibri" pitchFamily="34" charset="-120"/>
              </a:rPr>
              <a:t>A field guide to the vendors competing for the same buyer DSIM targets — CPG commerce, RGM, retail media, and analytics leaders running Walmart brands.</a:t>
            </a:r>
            <a:endParaRPr lang="en-US" sz="1600" dirty="0"/>
          </a:p>
        </p:txBody>
      </p:sp>
      <p:sp>
        <p:nvSpPr>
          <p:cNvPr id="8" name="Text 6"/>
          <p:cNvSpPr/>
          <p:nvPr/>
        </p:nvSpPr>
        <p:spPr>
          <a:xfrm>
            <a:off x="731520" y="6217920"/>
            <a:ext cx="10058400" cy="3657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DataWeave  |  Prepared 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3200" b="1" dirty="0">
                <a:solidFill>
                  <a:srgbClr val="1E293B"/>
                </a:solidFill>
                <a:latin typeface="Georgia" pitchFamily="34" charset="0"/>
                <a:ea typeface="Georgia" pitchFamily="34" charset="-122"/>
                <a:cs typeface="Georgia" pitchFamily="34" charset="-120"/>
              </a:rPr>
              <a:t>The Competitive Picture</a:t>
            </a:r>
            <a:endParaRPr lang="en-US" sz="32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DSIM sits at the intersection of three established markets — and competes with all three.</a:t>
            </a:r>
            <a:endParaRPr lang="en-US" sz="1400" dirty="0"/>
          </a:p>
        </p:txBody>
      </p:sp>
      <p:sp>
        <p:nvSpPr>
          <p:cNvPr id="4" name="Shape 2"/>
          <p:cNvSpPr/>
          <p:nvPr/>
        </p:nvSpPr>
        <p:spPr>
          <a:xfrm>
            <a:off x="457200" y="1463040"/>
            <a:ext cx="3703320" cy="402336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 name="Shape 3"/>
          <p:cNvSpPr/>
          <p:nvPr/>
        </p:nvSpPr>
        <p:spPr>
          <a:xfrm>
            <a:off x="457200" y="1463040"/>
            <a:ext cx="91440" cy="4023360"/>
          </a:xfrm>
          <a:prstGeom prst="rect">
            <a:avLst/>
          </a:prstGeom>
          <a:solidFill>
            <a:srgbClr val="C1272D"/>
          </a:solidFill>
          <a:ln/>
        </p:spPr>
        <p:txBody>
          <a:bodyPr/>
          <a:lstStyle/>
          <a:p>
            <a:endParaRPr lang="en-US"/>
          </a:p>
        </p:txBody>
      </p:sp>
      <p:sp>
        <p:nvSpPr>
          <p:cNvPr id="6" name="Shape 4"/>
          <p:cNvSpPr/>
          <p:nvPr/>
        </p:nvSpPr>
        <p:spPr>
          <a:xfrm>
            <a:off x="731520" y="1737360"/>
            <a:ext cx="1371600" cy="256032"/>
          </a:xfrm>
          <a:prstGeom prst="rect">
            <a:avLst/>
          </a:prstGeom>
          <a:solidFill>
            <a:srgbClr val="C1272D"/>
          </a:solidFill>
          <a:ln/>
        </p:spPr>
        <p:txBody>
          <a:bodyPr/>
          <a:lstStyle/>
          <a:p>
            <a:endParaRPr lang="en-US"/>
          </a:p>
        </p:txBody>
      </p:sp>
      <p:sp>
        <p:nvSpPr>
          <p:cNvPr id="7" name="Text 5"/>
          <p:cNvSpPr/>
          <p:nvPr/>
        </p:nvSpPr>
        <p:spPr>
          <a:xfrm>
            <a:off x="731520" y="1737360"/>
            <a:ext cx="1371600" cy="256032"/>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HIGH THREAT</a:t>
            </a:r>
            <a:endParaRPr lang="en-US" sz="900" dirty="0"/>
          </a:p>
        </p:txBody>
      </p:sp>
      <p:sp>
        <p:nvSpPr>
          <p:cNvPr id="8" name="Text 6"/>
          <p:cNvSpPr/>
          <p:nvPr/>
        </p:nvSpPr>
        <p:spPr>
          <a:xfrm>
            <a:off x="731520" y="2148840"/>
            <a:ext cx="3337560" cy="457200"/>
          </a:xfrm>
          <a:prstGeom prst="rect">
            <a:avLst/>
          </a:prstGeom>
          <a:noFill/>
          <a:ln/>
        </p:spPr>
        <p:txBody>
          <a:bodyPr wrap="square" lIns="0" tIns="0" rIns="0" bIns="0" rtlCol="0" anchor="ctr"/>
          <a:lstStyle/>
          <a:p>
            <a:pPr marL="0" indent="0">
              <a:buNone/>
            </a:pPr>
            <a:r>
              <a:rPr lang="en-US" sz="2000" b="1" dirty="0">
                <a:solidFill>
                  <a:srgbClr val="1E293B"/>
                </a:solidFill>
                <a:latin typeface="Georgia" pitchFamily="34" charset="0"/>
                <a:ea typeface="Georgia" pitchFamily="34" charset="-122"/>
                <a:cs typeface="Georgia" pitchFamily="34" charset="-120"/>
              </a:rPr>
              <a:t>Digital Shelf + Impact</a:t>
            </a:r>
            <a:endParaRPr lang="en-US" sz="2000" dirty="0"/>
          </a:p>
        </p:txBody>
      </p:sp>
      <p:sp>
        <p:nvSpPr>
          <p:cNvPr id="9" name="Text 7"/>
          <p:cNvSpPr/>
          <p:nvPr/>
        </p:nvSpPr>
        <p:spPr>
          <a:xfrm>
            <a:off x="731520" y="2606040"/>
            <a:ext cx="33375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Direct competitors</a:t>
            </a:r>
            <a:endParaRPr lang="en-US" sz="1200" dirty="0"/>
          </a:p>
        </p:txBody>
      </p:sp>
      <p:sp>
        <p:nvSpPr>
          <p:cNvPr id="10" name="Text 8"/>
          <p:cNvSpPr/>
          <p:nvPr/>
        </p:nvSpPr>
        <p:spPr>
          <a:xfrm>
            <a:off x="731520" y="3063240"/>
            <a:ext cx="324612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CommerceIQ</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Profitero</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Ascential Edge / NIQ</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Intelligence Node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Salsify Insights</a:t>
            </a:r>
            <a:endParaRPr lang="en-US" sz="1300" dirty="0"/>
          </a:p>
        </p:txBody>
      </p:sp>
      <p:sp>
        <p:nvSpPr>
          <p:cNvPr id="11" name="Shape 9"/>
          <p:cNvSpPr/>
          <p:nvPr/>
        </p:nvSpPr>
        <p:spPr>
          <a:xfrm>
            <a:off x="731520" y="4572000"/>
            <a:ext cx="3154680" cy="0"/>
          </a:xfrm>
          <a:prstGeom prst="line">
            <a:avLst/>
          </a:prstGeom>
          <a:noFill/>
          <a:ln w="9525">
            <a:solidFill>
              <a:srgbClr val="E2E8F0"/>
            </a:solidFill>
            <a:prstDash val="solid"/>
          </a:ln>
        </p:spPr>
        <p:txBody>
          <a:bodyPr/>
          <a:lstStyle/>
          <a:p>
            <a:endParaRPr lang="en-US"/>
          </a:p>
        </p:txBody>
      </p:sp>
      <p:sp>
        <p:nvSpPr>
          <p:cNvPr id="12" name="Text 10"/>
          <p:cNvSpPr/>
          <p:nvPr/>
        </p:nvSpPr>
        <p:spPr>
          <a:xfrm>
            <a:off x="731520" y="4709160"/>
            <a:ext cx="3246120" cy="7315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Same shelf-data foundation, racing to add incrementality. CommerceIQ is the closest 1:1 match to DSIM's pitch.</a:t>
            </a:r>
            <a:endParaRPr lang="en-US" sz="1100" dirty="0"/>
          </a:p>
        </p:txBody>
      </p:sp>
      <p:sp>
        <p:nvSpPr>
          <p:cNvPr id="13" name="Shape 11"/>
          <p:cNvSpPr/>
          <p:nvPr/>
        </p:nvSpPr>
        <p:spPr>
          <a:xfrm>
            <a:off x="4297680" y="1463040"/>
            <a:ext cx="3703320" cy="402336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4" name="Shape 12"/>
          <p:cNvSpPr/>
          <p:nvPr/>
        </p:nvSpPr>
        <p:spPr>
          <a:xfrm>
            <a:off x="4297680" y="1463040"/>
            <a:ext cx="91440" cy="4023360"/>
          </a:xfrm>
          <a:prstGeom prst="rect">
            <a:avLst/>
          </a:prstGeom>
          <a:solidFill>
            <a:srgbClr val="E8A33D"/>
          </a:solidFill>
          <a:ln/>
        </p:spPr>
        <p:txBody>
          <a:bodyPr/>
          <a:lstStyle/>
          <a:p>
            <a:endParaRPr lang="en-US"/>
          </a:p>
        </p:txBody>
      </p:sp>
      <p:sp>
        <p:nvSpPr>
          <p:cNvPr id="15" name="Shape 13"/>
          <p:cNvSpPr/>
          <p:nvPr/>
        </p:nvSpPr>
        <p:spPr>
          <a:xfrm>
            <a:off x="4572000" y="1737360"/>
            <a:ext cx="1371600" cy="256032"/>
          </a:xfrm>
          <a:prstGeom prst="rect">
            <a:avLst/>
          </a:prstGeom>
          <a:solidFill>
            <a:srgbClr val="E8A33D"/>
          </a:solidFill>
          <a:ln/>
        </p:spPr>
        <p:txBody>
          <a:bodyPr/>
          <a:lstStyle/>
          <a:p>
            <a:endParaRPr lang="en-US"/>
          </a:p>
        </p:txBody>
      </p:sp>
      <p:sp>
        <p:nvSpPr>
          <p:cNvPr id="16" name="Text 14"/>
          <p:cNvSpPr/>
          <p:nvPr/>
        </p:nvSpPr>
        <p:spPr>
          <a:xfrm>
            <a:off x="4572000" y="1737360"/>
            <a:ext cx="1371600" cy="256032"/>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MEDIUM THREAT</a:t>
            </a:r>
            <a:endParaRPr lang="en-US" sz="900" dirty="0"/>
          </a:p>
        </p:txBody>
      </p:sp>
      <p:sp>
        <p:nvSpPr>
          <p:cNvPr id="17" name="Text 15"/>
          <p:cNvSpPr/>
          <p:nvPr/>
        </p:nvSpPr>
        <p:spPr>
          <a:xfrm>
            <a:off x="4572000" y="2148840"/>
            <a:ext cx="3337560" cy="457200"/>
          </a:xfrm>
          <a:prstGeom prst="rect">
            <a:avLst/>
          </a:prstGeom>
          <a:noFill/>
          <a:ln/>
        </p:spPr>
        <p:txBody>
          <a:bodyPr wrap="square" lIns="0" tIns="0" rIns="0" bIns="0" rtlCol="0" anchor="ctr"/>
          <a:lstStyle/>
          <a:p>
            <a:pPr marL="0" indent="0">
              <a:buNone/>
            </a:pPr>
            <a:r>
              <a:rPr lang="en-US" sz="2000" b="1" dirty="0">
                <a:solidFill>
                  <a:srgbClr val="1E293B"/>
                </a:solidFill>
                <a:latin typeface="Georgia" pitchFamily="34" charset="0"/>
                <a:ea typeface="Georgia" pitchFamily="34" charset="-122"/>
                <a:cs typeface="Georgia" pitchFamily="34" charset="-120"/>
              </a:rPr>
              <a:t>Retail Media Platforms</a:t>
            </a:r>
            <a:endParaRPr lang="en-US" sz="2000" dirty="0"/>
          </a:p>
        </p:txBody>
      </p:sp>
      <p:sp>
        <p:nvSpPr>
          <p:cNvPr id="18" name="Text 16"/>
          <p:cNvSpPr/>
          <p:nvPr/>
        </p:nvSpPr>
        <p:spPr>
          <a:xfrm>
            <a:off x="4572000" y="2606040"/>
            <a:ext cx="33375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Activation + measurement</a:t>
            </a:r>
            <a:endParaRPr lang="en-US" sz="1200" dirty="0"/>
          </a:p>
        </p:txBody>
      </p:sp>
      <p:sp>
        <p:nvSpPr>
          <p:cNvPr id="19" name="Text 17"/>
          <p:cNvSpPr/>
          <p:nvPr/>
        </p:nvSpPr>
        <p:spPr>
          <a:xfrm>
            <a:off x="4572000" y="3063240"/>
            <a:ext cx="324612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Pacvue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Skai (ex-Kenshoo)</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Flywheel (Omnicom)</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Quartile</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Perpetua</a:t>
            </a:r>
            <a:endParaRPr lang="en-US" sz="1300" dirty="0"/>
          </a:p>
        </p:txBody>
      </p:sp>
      <p:sp>
        <p:nvSpPr>
          <p:cNvPr id="20" name="Shape 18"/>
          <p:cNvSpPr/>
          <p:nvPr/>
        </p:nvSpPr>
        <p:spPr>
          <a:xfrm>
            <a:off x="4572000" y="4572000"/>
            <a:ext cx="3154680" cy="0"/>
          </a:xfrm>
          <a:prstGeom prst="line">
            <a:avLst/>
          </a:prstGeom>
          <a:noFill/>
          <a:ln w="9525">
            <a:solidFill>
              <a:srgbClr val="E2E8F0"/>
            </a:solidFill>
            <a:prstDash val="solid"/>
          </a:ln>
        </p:spPr>
        <p:txBody>
          <a:bodyPr/>
          <a:lstStyle/>
          <a:p>
            <a:endParaRPr lang="en-US"/>
          </a:p>
        </p:txBody>
      </p:sp>
      <p:sp>
        <p:nvSpPr>
          <p:cNvPr id="21" name="Text 19"/>
          <p:cNvSpPr/>
          <p:nvPr/>
        </p:nvSpPr>
        <p:spPr>
          <a:xfrm>
            <a:off x="4572000" y="4709160"/>
            <a:ext cx="3246120" cy="7315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Own the Walmart Connect activation surface. Adding measurement layers that overlap with DSIM's ROI story.</a:t>
            </a:r>
            <a:endParaRPr lang="en-US" sz="1100" dirty="0"/>
          </a:p>
        </p:txBody>
      </p:sp>
      <p:sp>
        <p:nvSpPr>
          <p:cNvPr id="22" name="Shape 20"/>
          <p:cNvSpPr/>
          <p:nvPr/>
        </p:nvSpPr>
        <p:spPr>
          <a:xfrm>
            <a:off x="8138160" y="1463040"/>
            <a:ext cx="3703320" cy="402336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3" name="Shape 21"/>
          <p:cNvSpPr/>
          <p:nvPr/>
        </p:nvSpPr>
        <p:spPr>
          <a:xfrm>
            <a:off x="8138160" y="1463040"/>
            <a:ext cx="91440" cy="4023360"/>
          </a:xfrm>
          <a:prstGeom prst="rect">
            <a:avLst/>
          </a:prstGeom>
          <a:solidFill>
            <a:srgbClr val="1C7293"/>
          </a:solidFill>
          <a:ln/>
        </p:spPr>
        <p:txBody>
          <a:bodyPr/>
          <a:lstStyle/>
          <a:p>
            <a:endParaRPr lang="en-US"/>
          </a:p>
        </p:txBody>
      </p:sp>
      <p:sp>
        <p:nvSpPr>
          <p:cNvPr id="24" name="Shape 22"/>
          <p:cNvSpPr/>
          <p:nvPr/>
        </p:nvSpPr>
        <p:spPr>
          <a:xfrm>
            <a:off x="8412480" y="1737360"/>
            <a:ext cx="1371600" cy="256032"/>
          </a:xfrm>
          <a:prstGeom prst="rect">
            <a:avLst/>
          </a:prstGeom>
          <a:solidFill>
            <a:srgbClr val="1C7293"/>
          </a:solidFill>
          <a:ln/>
        </p:spPr>
        <p:txBody>
          <a:bodyPr/>
          <a:lstStyle/>
          <a:p>
            <a:endParaRPr lang="en-US"/>
          </a:p>
        </p:txBody>
      </p:sp>
      <p:sp>
        <p:nvSpPr>
          <p:cNvPr id="25" name="Text 23"/>
          <p:cNvSpPr/>
          <p:nvPr/>
        </p:nvSpPr>
        <p:spPr>
          <a:xfrm>
            <a:off x="8412480" y="1737360"/>
            <a:ext cx="1371600" cy="256032"/>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STRUCTURAL THREAT</a:t>
            </a:r>
            <a:endParaRPr lang="en-US" sz="900" dirty="0"/>
          </a:p>
        </p:txBody>
      </p:sp>
      <p:sp>
        <p:nvSpPr>
          <p:cNvPr id="26" name="Text 24"/>
          <p:cNvSpPr/>
          <p:nvPr/>
        </p:nvSpPr>
        <p:spPr>
          <a:xfrm>
            <a:off x="8412480" y="2148840"/>
            <a:ext cx="3337560" cy="457200"/>
          </a:xfrm>
          <a:prstGeom prst="rect">
            <a:avLst/>
          </a:prstGeom>
          <a:noFill/>
          <a:ln/>
        </p:spPr>
        <p:txBody>
          <a:bodyPr wrap="square" lIns="0" tIns="0" rIns="0" bIns="0" rtlCol="0" anchor="ctr"/>
          <a:lstStyle/>
          <a:p>
            <a:pPr marL="0" indent="0">
              <a:buNone/>
            </a:pPr>
            <a:r>
              <a:rPr lang="en-US" sz="2000" b="1" dirty="0">
                <a:solidFill>
                  <a:srgbClr val="1E293B"/>
                </a:solidFill>
                <a:latin typeface="Georgia" pitchFamily="34" charset="0"/>
                <a:ea typeface="Georgia" pitchFamily="34" charset="-122"/>
                <a:cs typeface="Georgia" pitchFamily="34" charset="-120"/>
              </a:rPr>
              <a:t>MMM / Incrementality</a:t>
            </a:r>
            <a:endParaRPr lang="en-US" sz="2000" dirty="0"/>
          </a:p>
        </p:txBody>
      </p:sp>
      <p:sp>
        <p:nvSpPr>
          <p:cNvPr id="27" name="Text 25"/>
          <p:cNvSpPr/>
          <p:nvPr/>
        </p:nvSpPr>
        <p:spPr>
          <a:xfrm>
            <a:off x="8412480" y="2606040"/>
            <a:ext cx="333756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Measurement pure-plays</a:t>
            </a:r>
            <a:endParaRPr lang="en-US" sz="1200" dirty="0"/>
          </a:p>
        </p:txBody>
      </p:sp>
      <p:sp>
        <p:nvSpPr>
          <p:cNvPr id="28" name="Text 26"/>
          <p:cNvSpPr/>
          <p:nvPr/>
        </p:nvSpPr>
        <p:spPr>
          <a:xfrm>
            <a:off x="8412480" y="3063240"/>
            <a:ext cx="3246120" cy="14630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Analytic Partners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Nielsen</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Circana</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Ekimetrics</a:t>
            </a:r>
            <a:endParaRPr lang="en-US" sz="1300" dirty="0"/>
          </a:p>
          <a:p>
            <a:pPr marL="342900" indent="-342900">
              <a:spcAft>
                <a:spcPts val="400"/>
              </a:spcAft>
              <a:buSzPct val="100000"/>
              <a:buChar char="■"/>
            </a:pPr>
            <a:r>
              <a:rPr lang="en-US" sz="1300" dirty="0">
                <a:solidFill>
                  <a:srgbClr val="1E293B"/>
                </a:solidFill>
                <a:latin typeface="Calibri" pitchFamily="34" charset="0"/>
                <a:ea typeface="Calibri" pitchFamily="34" charset="-122"/>
                <a:cs typeface="Calibri" pitchFamily="34" charset="-120"/>
              </a:rPr>
              <a:t>Measured / Haus / Sellforte</a:t>
            </a:r>
            <a:endParaRPr lang="en-US" sz="1300" dirty="0"/>
          </a:p>
        </p:txBody>
      </p:sp>
      <p:sp>
        <p:nvSpPr>
          <p:cNvPr id="29" name="Shape 27"/>
          <p:cNvSpPr/>
          <p:nvPr/>
        </p:nvSpPr>
        <p:spPr>
          <a:xfrm>
            <a:off x="8412480" y="4572000"/>
            <a:ext cx="3154680" cy="0"/>
          </a:xfrm>
          <a:prstGeom prst="line">
            <a:avLst/>
          </a:prstGeom>
          <a:noFill/>
          <a:ln w="9525">
            <a:solidFill>
              <a:srgbClr val="E2E8F0"/>
            </a:solidFill>
            <a:prstDash val="solid"/>
          </a:ln>
        </p:spPr>
        <p:txBody>
          <a:bodyPr/>
          <a:lstStyle/>
          <a:p>
            <a:endParaRPr lang="en-US"/>
          </a:p>
        </p:txBody>
      </p:sp>
      <p:sp>
        <p:nvSpPr>
          <p:cNvPr id="30" name="Text 28"/>
          <p:cNvSpPr/>
          <p:nvPr/>
        </p:nvSpPr>
        <p:spPr>
          <a:xfrm>
            <a:off x="8412480" y="4709160"/>
            <a:ext cx="3246120" cy="7315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Own the CFO relationship. Lack shelf-level granularity but win the incrementality conversation at the top.</a:t>
            </a:r>
            <a:endParaRPr lang="en-US" sz="1100" dirty="0"/>
          </a:p>
        </p:txBody>
      </p:sp>
      <p:sp>
        <p:nvSpPr>
          <p:cNvPr id="31" name="Shape 29"/>
          <p:cNvSpPr/>
          <p:nvPr/>
        </p:nvSpPr>
        <p:spPr>
          <a:xfrm>
            <a:off x="457200" y="5760720"/>
            <a:ext cx="11274552" cy="777240"/>
          </a:xfrm>
          <a:prstGeom prst="rect">
            <a:avLst/>
          </a:prstGeom>
          <a:solidFill>
            <a:srgbClr val="0D1B2A"/>
          </a:solidFill>
          <a:ln/>
        </p:spPr>
        <p:txBody>
          <a:bodyPr/>
          <a:lstStyle/>
          <a:p>
            <a:endParaRPr lang="en-US"/>
          </a:p>
        </p:txBody>
      </p:sp>
      <p:sp>
        <p:nvSpPr>
          <p:cNvPr id="32" name="Shape 30"/>
          <p:cNvSpPr/>
          <p:nvPr/>
        </p:nvSpPr>
        <p:spPr>
          <a:xfrm>
            <a:off x="457200" y="5760720"/>
            <a:ext cx="91440" cy="777240"/>
          </a:xfrm>
          <a:prstGeom prst="rect">
            <a:avLst/>
          </a:prstGeom>
          <a:solidFill>
            <a:srgbClr val="F18F01"/>
          </a:solidFill>
          <a:ln/>
        </p:spPr>
        <p:txBody>
          <a:bodyPr/>
          <a:lstStyle/>
          <a:p>
            <a:endParaRPr lang="en-US"/>
          </a:p>
        </p:txBody>
      </p:sp>
      <p:sp>
        <p:nvSpPr>
          <p:cNvPr id="33" name="Text 31"/>
          <p:cNvSpPr/>
          <p:nvPr/>
        </p:nvSpPr>
        <p:spPr>
          <a:xfrm>
            <a:off x="731520" y="5760720"/>
            <a:ext cx="10972800" cy="777240"/>
          </a:xfrm>
          <a:prstGeom prst="rect">
            <a:avLst/>
          </a:prstGeom>
          <a:noFill/>
          <a:ln/>
        </p:spPr>
        <p:txBody>
          <a:bodyPr wrap="square" lIns="0" tIns="0" rIns="0" bIns="0" rtlCol="0" anchor="ctr"/>
          <a:lstStyle/>
          <a:p>
            <a:pPr marL="0" indent="0">
              <a:buNone/>
            </a:pPr>
            <a:r>
              <a:rPr lang="en-US" sz="1200" b="1" dirty="0">
                <a:solidFill>
                  <a:srgbClr val="F18F01"/>
                </a:solidFill>
                <a:latin typeface="Calibri" pitchFamily="34" charset="0"/>
                <a:ea typeface="Calibri" pitchFamily="34" charset="-122"/>
                <a:cs typeface="Calibri" pitchFamily="34" charset="-120"/>
              </a:rPr>
              <a:t>Don't forget: </a:t>
            </a:r>
            <a:r>
              <a:rPr lang="en-US" sz="1200" dirty="0">
                <a:solidFill>
                  <a:srgbClr val="CBD5E1"/>
                </a:solidFill>
                <a:latin typeface="Calibri" pitchFamily="34" charset="0"/>
                <a:ea typeface="Calibri" pitchFamily="34" charset="-122"/>
                <a:cs typeface="Calibri" pitchFamily="34" charset="-120"/>
              </a:rPr>
              <a:t>Walmart Connect itself launched first-party Search Incrementality measurement in 2025. For the narrow 'how incremental is my Walmart media?' question, it is free, deterministic, and used by Clorox and Mondelēz.</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3200" b="1" dirty="0">
                <a:solidFill>
                  <a:srgbClr val="1E293B"/>
                </a:solidFill>
                <a:latin typeface="Georgia" pitchFamily="34" charset="0"/>
                <a:ea typeface="Georgia" pitchFamily="34" charset="-122"/>
                <a:cs typeface="Georgia" pitchFamily="34" charset="-120"/>
              </a:rPr>
              <a:t>Where Everyone Sits</a:t>
            </a:r>
            <a:endParaRPr lang="en-US" sz="32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Shelf-data depth (x-axis) vs. impact/incrementality modeling sophistication (y-axis)</a:t>
            </a:r>
            <a:endParaRPr lang="en-US" sz="1400" dirty="0"/>
          </a:p>
        </p:txBody>
      </p:sp>
      <p:sp>
        <p:nvSpPr>
          <p:cNvPr id="4" name="Shape 2"/>
          <p:cNvSpPr/>
          <p:nvPr/>
        </p:nvSpPr>
        <p:spPr>
          <a:xfrm>
            <a:off x="1371600" y="1463040"/>
            <a:ext cx="7772400" cy="4480560"/>
          </a:xfrm>
          <a:prstGeom prst="rect">
            <a:avLst/>
          </a:prstGeom>
          <a:solidFill>
            <a:srgbClr val="F7F9FB"/>
          </a:solidFill>
          <a:ln w="6350">
            <a:solidFill>
              <a:srgbClr val="E2E8F0"/>
            </a:solidFill>
            <a:prstDash val="solid"/>
          </a:ln>
        </p:spPr>
        <p:txBody>
          <a:bodyPr/>
          <a:lstStyle/>
          <a:p>
            <a:endParaRPr lang="en-US"/>
          </a:p>
        </p:txBody>
      </p:sp>
      <p:sp>
        <p:nvSpPr>
          <p:cNvPr id="5" name="Shape 3"/>
          <p:cNvSpPr/>
          <p:nvPr/>
        </p:nvSpPr>
        <p:spPr>
          <a:xfrm>
            <a:off x="5257800" y="1463040"/>
            <a:ext cx="0" cy="4480560"/>
          </a:xfrm>
          <a:prstGeom prst="line">
            <a:avLst/>
          </a:prstGeom>
          <a:noFill/>
          <a:ln w="12700">
            <a:solidFill>
              <a:srgbClr val="CBD5E1"/>
            </a:solidFill>
            <a:prstDash val="dash"/>
          </a:ln>
        </p:spPr>
        <p:txBody>
          <a:bodyPr/>
          <a:lstStyle/>
          <a:p>
            <a:endParaRPr lang="en-US"/>
          </a:p>
        </p:txBody>
      </p:sp>
      <p:sp>
        <p:nvSpPr>
          <p:cNvPr id="6" name="Shape 4"/>
          <p:cNvSpPr/>
          <p:nvPr/>
        </p:nvSpPr>
        <p:spPr>
          <a:xfrm>
            <a:off x="1371600" y="3703320"/>
            <a:ext cx="7772400" cy="0"/>
          </a:xfrm>
          <a:prstGeom prst="line">
            <a:avLst/>
          </a:prstGeom>
          <a:noFill/>
          <a:ln w="12700">
            <a:solidFill>
              <a:srgbClr val="CBD5E1"/>
            </a:solidFill>
            <a:prstDash val="dash"/>
          </a:ln>
        </p:spPr>
        <p:txBody>
          <a:bodyPr/>
          <a:lstStyle/>
          <a:p>
            <a:endParaRPr lang="en-US"/>
          </a:p>
        </p:txBody>
      </p:sp>
      <p:sp>
        <p:nvSpPr>
          <p:cNvPr id="7" name="Text 5"/>
          <p:cNvSpPr/>
          <p:nvPr/>
        </p:nvSpPr>
        <p:spPr>
          <a:xfrm>
            <a:off x="1508760" y="1554480"/>
            <a:ext cx="3611880" cy="228600"/>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LOW SHELF · HIGH IMPACT</a:t>
            </a:r>
            <a:endParaRPr lang="en-US" sz="900" dirty="0"/>
          </a:p>
        </p:txBody>
      </p:sp>
      <p:sp>
        <p:nvSpPr>
          <p:cNvPr id="8" name="Text 6"/>
          <p:cNvSpPr/>
          <p:nvPr/>
        </p:nvSpPr>
        <p:spPr>
          <a:xfrm>
            <a:off x="5394960" y="1554480"/>
            <a:ext cx="3611880" cy="228600"/>
          </a:xfrm>
          <a:prstGeom prst="rect">
            <a:avLst/>
          </a:prstGeom>
          <a:noFill/>
          <a:ln/>
        </p:spPr>
        <p:txBody>
          <a:bodyPr wrap="square" lIns="0" tIns="0" rIns="0" bIns="0" rtlCol="0" anchor="ctr"/>
          <a:lstStyle/>
          <a:p>
            <a:pPr marL="0" indent="0">
              <a:buNone/>
            </a:pPr>
            <a:r>
              <a:rPr lang="en-US" sz="900" b="1" kern="0" spc="200" dirty="0">
                <a:solidFill>
                  <a:srgbClr val="065A82"/>
                </a:solidFill>
                <a:latin typeface="Calibri" pitchFamily="34" charset="0"/>
                <a:ea typeface="Calibri" pitchFamily="34" charset="-122"/>
                <a:cs typeface="Calibri" pitchFamily="34" charset="-120"/>
              </a:rPr>
              <a:t>HIGH SHELF · HIGH IMPACT  (DSIM's quadrant)</a:t>
            </a:r>
            <a:endParaRPr lang="en-US" sz="900" dirty="0"/>
          </a:p>
        </p:txBody>
      </p:sp>
      <p:sp>
        <p:nvSpPr>
          <p:cNvPr id="9" name="Text 7"/>
          <p:cNvSpPr/>
          <p:nvPr/>
        </p:nvSpPr>
        <p:spPr>
          <a:xfrm>
            <a:off x="1508760" y="5623560"/>
            <a:ext cx="3611880" cy="228600"/>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LOW SHELF · LOW IMPACT</a:t>
            </a:r>
            <a:endParaRPr lang="en-US" sz="900" dirty="0"/>
          </a:p>
        </p:txBody>
      </p:sp>
      <p:sp>
        <p:nvSpPr>
          <p:cNvPr id="10" name="Text 8"/>
          <p:cNvSpPr/>
          <p:nvPr/>
        </p:nvSpPr>
        <p:spPr>
          <a:xfrm>
            <a:off x="5394960" y="5623560"/>
            <a:ext cx="3611880" cy="228600"/>
          </a:xfrm>
          <a:prstGeom prst="rect">
            <a:avLst/>
          </a:prstGeom>
          <a:noFill/>
          <a:ln/>
        </p:spPr>
        <p:txBody>
          <a:bodyPr wrap="square" lIns="0" tIns="0" rIns="0" bIns="0" rtlCol="0" anchor="ctr"/>
          <a:lstStyle/>
          <a:p>
            <a:pPr marL="0" indent="0">
              <a:buNone/>
            </a:pPr>
            <a:r>
              <a:rPr lang="en-US" sz="900" b="1" kern="0" spc="200" dirty="0">
                <a:solidFill>
                  <a:srgbClr val="94A3B8"/>
                </a:solidFill>
                <a:latin typeface="Calibri" pitchFamily="34" charset="0"/>
                <a:ea typeface="Calibri" pitchFamily="34" charset="-122"/>
                <a:cs typeface="Calibri" pitchFamily="34" charset="-120"/>
              </a:rPr>
              <a:t>HIGH SHELF · LOW IMPACT</a:t>
            </a:r>
            <a:endParaRPr lang="en-US" sz="900" dirty="0"/>
          </a:p>
        </p:txBody>
      </p:sp>
      <p:sp>
        <p:nvSpPr>
          <p:cNvPr id="11" name="Text 9"/>
          <p:cNvSpPr/>
          <p:nvPr/>
        </p:nvSpPr>
        <p:spPr>
          <a:xfrm>
            <a:off x="1371600" y="6035040"/>
            <a:ext cx="777240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Shelf-data depth →</a:t>
            </a:r>
            <a:endParaRPr lang="en-US" sz="1200" dirty="0"/>
          </a:p>
        </p:txBody>
      </p:sp>
      <p:sp>
        <p:nvSpPr>
          <p:cNvPr id="12" name="Text 10"/>
          <p:cNvSpPr/>
          <p:nvPr/>
        </p:nvSpPr>
        <p:spPr>
          <a:xfrm rot="16200000">
            <a:off x="91440" y="2331720"/>
            <a:ext cx="274320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Impact modeling sophistication →</a:t>
            </a:r>
            <a:endParaRPr lang="en-US" sz="1200" dirty="0"/>
          </a:p>
        </p:txBody>
      </p:sp>
      <p:sp>
        <p:nvSpPr>
          <p:cNvPr id="13" name="Shape 11"/>
          <p:cNvSpPr/>
          <p:nvPr/>
        </p:nvSpPr>
        <p:spPr>
          <a:xfrm>
            <a:off x="7278624" y="2114093"/>
            <a:ext cx="320040" cy="320040"/>
          </a:xfrm>
          <a:prstGeom prst="ellipse">
            <a:avLst/>
          </a:prstGeom>
          <a:solidFill>
            <a:srgbClr val="F18F01"/>
          </a:solidFill>
          <a:ln w="25400">
            <a:solidFill>
              <a:srgbClr val="FFFFFF"/>
            </a:solidFill>
            <a:prstDash val="solid"/>
          </a:ln>
        </p:spPr>
        <p:txBody>
          <a:bodyPr/>
          <a:lstStyle/>
          <a:p>
            <a:endParaRPr lang="en-US"/>
          </a:p>
        </p:txBody>
      </p:sp>
      <p:sp>
        <p:nvSpPr>
          <p:cNvPr id="14" name="Text 12"/>
          <p:cNvSpPr/>
          <p:nvPr/>
        </p:nvSpPr>
        <p:spPr>
          <a:xfrm>
            <a:off x="6793992" y="2406701"/>
            <a:ext cx="1463040" cy="457200"/>
          </a:xfrm>
          <a:prstGeom prst="rect">
            <a:avLst/>
          </a:prstGeom>
          <a:noFill/>
          <a:ln/>
        </p:spPr>
        <p:txBody>
          <a:bodyPr wrap="square" lIns="0" tIns="0" rIns="0" bIns="0" rtlCol="0" anchor="ctr"/>
          <a:lstStyle/>
          <a:p>
            <a:pPr marL="0" indent="0" algn="ctr">
              <a:buNone/>
            </a:pPr>
            <a:r>
              <a:rPr lang="en-US" sz="1000" b="1" dirty="0">
                <a:solidFill>
                  <a:srgbClr val="F18F01"/>
                </a:solidFill>
                <a:latin typeface="Calibri" pitchFamily="34" charset="0"/>
                <a:ea typeface="Calibri" pitchFamily="34" charset="-122"/>
                <a:cs typeface="Calibri" pitchFamily="34" charset="-120"/>
              </a:rPr>
              <a:t>DataWeave</a:t>
            </a:r>
            <a:endParaRPr lang="en-US" sz="1000" dirty="0"/>
          </a:p>
          <a:p>
            <a:pPr marL="0" indent="0" algn="ctr">
              <a:buNone/>
            </a:pPr>
            <a:r>
              <a:rPr lang="en-US" sz="1000" b="1" dirty="0">
                <a:solidFill>
                  <a:srgbClr val="F18F01"/>
                </a:solidFill>
                <a:latin typeface="Calibri" pitchFamily="34" charset="0"/>
                <a:ea typeface="Calibri" pitchFamily="34" charset="-122"/>
                <a:cs typeface="Calibri" pitchFamily="34" charset="-120"/>
              </a:rPr>
              <a:t>DSIM</a:t>
            </a:r>
            <a:endParaRPr lang="en-US" sz="1000" dirty="0"/>
          </a:p>
        </p:txBody>
      </p:sp>
      <p:sp>
        <p:nvSpPr>
          <p:cNvPr id="15" name="Shape 13"/>
          <p:cNvSpPr/>
          <p:nvPr/>
        </p:nvSpPr>
        <p:spPr>
          <a:xfrm>
            <a:off x="7644384" y="2706624"/>
            <a:ext cx="201168" cy="201168"/>
          </a:xfrm>
          <a:prstGeom prst="ellipse">
            <a:avLst/>
          </a:prstGeom>
          <a:solidFill>
            <a:srgbClr val="C1272D"/>
          </a:solidFill>
          <a:ln w="25400">
            <a:solidFill>
              <a:srgbClr val="FFFFFF"/>
            </a:solidFill>
            <a:prstDash val="solid"/>
          </a:ln>
        </p:spPr>
        <p:txBody>
          <a:bodyPr/>
          <a:lstStyle/>
          <a:p>
            <a:endParaRPr lang="en-US"/>
          </a:p>
        </p:txBody>
      </p:sp>
      <p:sp>
        <p:nvSpPr>
          <p:cNvPr id="16" name="Text 14"/>
          <p:cNvSpPr/>
          <p:nvPr/>
        </p:nvSpPr>
        <p:spPr>
          <a:xfrm>
            <a:off x="7104888" y="2944368"/>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CommerceIQ</a:t>
            </a:r>
            <a:endParaRPr lang="en-US" sz="900" dirty="0"/>
          </a:p>
        </p:txBody>
      </p:sp>
      <p:sp>
        <p:nvSpPr>
          <p:cNvPr id="17" name="Shape 15"/>
          <p:cNvSpPr/>
          <p:nvPr/>
        </p:nvSpPr>
        <p:spPr>
          <a:xfrm>
            <a:off x="8266176" y="4050792"/>
            <a:ext cx="201168" cy="201168"/>
          </a:xfrm>
          <a:prstGeom prst="ellipse">
            <a:avLst/>
          </a:prstGeom>
          <a:solidFill>
            <a:srgbClr val="C1272D"/>
          </a:solidFill>
          <a:ln w="25400">
            <a:solidFill>
              <a:srgbClr val="FFFFFF"/>
            </a:solidFill>
            <a:prstDash val="solid"/>
          </a:ln>
        </p:spPr>
        <p:txBody>
          <a:bodyPr/>
          <a:lstStyle/>
          <a:p>
            <a:endParaRPr lang="en-US"/>
          </a:p>
        </p:txBody>
      </p:sp>
      <p:sp>
        <p:nvSpPr>
          <p:cNvPr id="18" name="Text 16"/>
          <p:cNvSpPr/>
          <p:nvPr/>
        </p:nvSpPr>
        <p:spPr>
          <a:xfrm>
            <a:off x="7726680" y="4288536"/>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Profitero</a:t>
            </a:r>
            <a:endParaRPr lang="en-US" sz="900" dirty="0"/>
          </a:p>
        </p:txBody>
      </p:sp>
      <p:sp>
        <p:nvSpPr>
          <p:cNvPr id="19" name="Shape 17"/>
          <p:cNvSpPr/>
          <p:nvPr/>
        </p:nvSpPr>
        <p:spPr>
          <a:xfrm>
            <a:off x="6867144" y="3826764"/>
            <a:ext cx="201168" cy="201168"/>
          </a:xfrm>
          <a:prstGeom prst="ellipse">
            <a:avLst/>
          </a:prstGeom>
          <a:solidFill>
            <a:srgbClr val="C1272D"/>
          </a:solidFill>
          <a:ln w="25400">
            <a:solidFill>
              <a:srgbClr val="FFFFFF"/>
            </a:solidFill>
            <a:prstDash val="solid"/>
          </a:ln>
        </p:spPr>
        <p:txBody>
          <a:bodyPr/>
          <a:lstStyle/>
          <a:p>
            <a:endParaRPr lang="en-US"/>
          </a:p>
        </p:txBody>
      </p:sp>
      <p:sp>
        <p:nvSpPr>
          <p:cNvPr id="20" name="Text 18"/>
          <p:cNvSpPr/>
          <p:nvPr/>
        </p:nvSpPr>
        <p:spPr>
          <a:xfrm>
            <a:off x="6327648" y="4064508"/>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Ascential Edge</a:t>
            </a:r>
            <a:endParaRPr lang="en-US" sz="900" dirty="0"/>
          </a:p>
        </p:txBody>
      </p:sp>
      <p:sp>
        <p:nvSpPr>
          <p:cNvPr id="21" name="Shape 19"/>
          <p:cNvSpPr/>
          <p:nvPr/>
        </p:nvSpPr>
        <p:spPr>
          <a:xfrm>
            <a:off x="5934456" y="4498848"/>
            <a:ext cx="201168" cy="201168"/>
          </a:xfrm>
          <a:prstGeom prst="ellipse">
            <a:avLst/>
          </a:prstGeom>
          <a:solidFill>
            <a:srgbClr val="C1272D"/>
          </a:solidFill>
          <a:ln w="25400">
            <a:solidFill>
              <a:srgbClr val="FFFFFF"/>
            </a:solidFill>
            <a:prstDash val="solid"/>
          </a:ln>
        </p:spPr>
        <p:txBody>
          <a:bodyPr/>
          <a:lstStyle/>
          <a:p>
            <a:endParaRPr lang="en-US"/>
          </a:p>
        </p:txBody>
      </p:sp>
      <p:sp>
        <p:nvSpPr>
          <p:cNvPr id="22" name="Text 20"/>
          <p:cNvSpPr/>
          <p:nvPr/>
        </p:nvSpPr>
        <p:spPr>
          <a:xfrm>
            <a:off x="5394960" y="4736592"/>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Intelligence Node</a:t>
            </a:r>
            <a:endParaRPr lang="en-US" sz="900" dirty="0"/>
          </a:p>
        </p:txBody>
      </p:sp>
      <p:sp>
        <p:nvSpPr>
          <p:cNvPr id="23" name="Shape 21"/>
          <p:cNvSpPr/>
          <p:nvPr/>
        </p:nvSpPr>
        <p:spPr>
          <a:xfrm>
            <a:off x="5545836" y="3378708"/>
            <a:ext cx="201168" cy="201168"/>
          </a:xfrm>
          <a:prstGeom prst="ellipse">
            <a:avLst/>
          </a:prstGeom>
          <a:solidFill>
            <a:srgbClr val="E8A33D"/>
          </a:solidFill>
          <a:ln w="25400">
            <a:solidFill>
              <a:srgbClr val="FFFFFF"/>
            </a:solidFill>
            <a:prstDash val="solid"/>
          </a:ln>
        </p:spPr>
        <p:txBody>
          <a:bodyPr/>
          <a:lstStyle/>
          <a:p>
            <a:endParaRPr lang="en-US"/>
          </a:p>
        </p:txBody>
      </p:sp>
      <p:sp>
        <p:nvSpPr>
          <p:cNvPr id="24" name="Text 22"/>
          <p:cNvSpPr/>
          <p:nvPr/>
        </p:nvSpPr>
        <p:spPr>
          <a:xfrm>
            <a:off x="5006340" y="3616452"/>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Pacvue</a:t>
            </a:r>
            <a:endParaRPr lang="en-US" sz="900" dirty="0"/>
          </a:p>
        </p:txBody>
      </p:sp>
      <p:sp>
        <p:nvSpPr>
          <p:cNvPr id="25" name="Shape 23"/>
          <p:cNvSpPr/>
          <p:nvPr/>
        </p:nvSpPr>
        <p:spPr>
          <a:xfrm>
            <a:off x="4379976" y="3378708"/>
            <a:ext cx="201168" cy="201168"/>
          </a:xfrm>
          <a:prstGeom prst="ellipse">
            <a:avLst/>
          </a:prstGeom>
          <a:solidFill>
            <a:srgbClr val="E8A33D"/>
          </a:solidFill>
          <a:ln w="25400">
            <a:solidFill>
              <a:srgbClr val="FFFFFF"/>
            </a:solidFill>
            <a:prstDash val="solid"/>
          </a:ln>
        </p:spPr>
        <p:txBody>
          <a:bodyPr/>
          <a:lstStyle/>
          <a:p>
            <a:endParaRPr lang="en-US"/>
          </a:p>
        </p:txBody>
      </p:sp>
      <p:sp>
        <p:nvSpPr>
          <p:cNvPr id="26" name="Text 24"/>
          <p:cNvSpPr/>
          <p:nvPr/>
        </p:nvSpPr>
        <p:spPr>
          <a:xfrm>
            <a:off x="3840480" y="3616452"/>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Skai</a:t>
            </a:r>
            <a:endParaRPr lang="en-US" sz="900" dirty="0"/>
          </a:p>
        </p:txBody>
      </p:sp>
      <p:sp>
        <p:nvSpPr>
          <p:cNvPr id="27" name="Shape 25"/>
          <p:cNvSpPr/>
          <p:nvPr/>
        </p:nvSpPr>
        <p:spPr>
          <a:xfrm>
            <a:off x="4768596" y="3826764"/>
            <a:ext cx="201168" cy="201168"/>
          </a:xfrm>
          <a:prstGeom prst="ellipse">
            <a:avLst/>
          </a:prstGeom>
          <a:solidFill>
            <a:srgbClr val="E8A33D"/>
          </a:solidFill>
          <a:ln w="25400">
            <a:solidFill>
              <a:srgbClr val="FFFFFF"/>
            </a:solidFill>
            <a:prstDash val="solid"/>
          </a:ln>
        </p:spPr>
        <p:txBody>
          <a:bodyPr/>
          <a:lstStyle/>
          <a:p>
            <a:endParaRPr lang="en-US"/>
          </a:p>
        </p:txBody>
      </p:sp>
      <p:sp>
        <p:nvSpPr>
          <p:cNvPr id="28" name="Text 26"/>
          <p:cNvSpPr/>
          <p:nvPr/>
        </p:nvSpPr>
        <p:spPr>
          <a:xfrm>
            <a:off x="4229100" y="4064508"/>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Flywheel</a:t>
            </a:r>
            <a:endParaRPr lang="en-US" sz="900" dirty="0"/>
          </a:p>
        </p:txBody>
      </p:sp>
      <p:sp>
        <p:nvSpPr>
          <p:cNvPr id="29" name="Shape 27"/>
          <p:cNvSpPr/>
          <p:nvPr/>
        </p:nvSpPr>
        <p:spPr>
          <a:xfrm>
            <a:off x="3991356" y="4274820"/>
            <a:ext cx="201168" cy="201168"/>
          </a:xfrm>
          <a:prstGeom prst="ellipse">
            <a:avLst/>
          </a:prstGeom>
          <a:solidFill>
            <a:srgbClr val="E8A33D"/>
          </a:solidFill>
          <a:ln w="25400">
            <a:solidFill>
              <a:srgbClr val="FFFFFF"/>
            </a:solidFill>
            <a:prstDash val="solid"/>
          </a:ln>
        </p:spPr>
        <p:txBody>
          <a:bodyPr/>
          <a:lstStyle/>
          <a:p>
            <a:endParaRPr lang="en-US"/>
          </a:p>
        </p:txBody>
      </p:sp>
      <p:sp>
        <p:nvSpPr>
          <p:cNvPr id="30" name="Text 28"/>
          <p:cNvSpPr/>
          <p:nvPr/>
        </p:nvSpPr>
        <p:spPr>
          <a:xfrm>
            <a:off x="3451860" y="4512564"/>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Quartile</a:t>
            </a:r>
            <a:endParaRPr lang="en-US" sz="900" dirty="0"/>
          </a:p>
        </p:txBody>
      </p:sp>
      <p:sp>
        <p:nvSpPr>
          <p:cNvPr id="31" name="Shape 29"/>
          <p:cNvSpPr/>
          <p:nvPr/>
        </p:nvSpPr>
        <p:spPr>
          <a:xfrm>
            <a:off x="2436876" y="1900123"/>
            <a:ext cx="201168" cy="201168"/>
          </a:xfrm>
          <a:prstGeom prst="ellipse">
            <a:avLst/>
          </a:prstGeom>
          <a:solidFill>
            <a:srgbClr val="1C7293"/>
          </a:solidFill>
          <a:ln w="25400">
            <a:solidFill>
              <a:srgbClr val="FFFFFF"/>
            </a:solidFill>
            <a:prstDash val="solid"/>
          </a:ln>
        </p:spPr>
        <p:txBody>
          <a:bodyPr/>
          <a:lstStyle/>
          <a:p>
            <a:endParaRPr lang="en-US"/>
          </a:p>
        </p:txBody>
      </p:sp>
      <p:sp>
        <p:nvSpPr>
          <p:cNvPr id="32" name="Text 30"/>
          <p:cNvSpPr/>
          <p:nvPr/>
        </p:nvSpPr>
        <p:spPr>
          <a:xfrm>
            <a:off x="1897380" y="2137867"/>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Analytic Partners</a:t>
            </a:r>
            <a:endParaRPr lang="en-US" sz="900" dirty="0"/>
          </a:p>
        </p:txBody>
      </p:sp>
      <p:sp>
        <p:nvSpPr>
          <p:cNvPr id="33" name="Shape 31"/>
          <p:cNvSpPr/>
          <p:nvPr/>
        </p:nvSpPr>
        <p:spPr>
          <a:xfrm>
            <a:off x="2436876" y="2706624"/>
            <a:ext cx="201168" cy="201168"/>
          </a:xfrm>
          <a:prstGeom prst="ellipse">
            <a:avLst/>
          </a:prstGeom>
          <a:solidFill>
            <a:srgbClr val="1C7293"/>
          </a:solidFill>
          <a:ln w="25400">
            <a:solidFill>
              <a:srgbClr val="FFFFFF"/>
            </a:solidFill>
            <a:prstDash val="solid"/>
          </a:ln>
        </p:spPr>
        <p:txBody>
          <a:bodyPr/>
          <a:lstStyle/>
          <a:p>
            <a:endParaRPr lang="en-US"/>
          </a:p>
        </p:txBody>
      </p:sp>
      <p:sp>
        <p:nvSpPr>
          <p:cNvPr id="34" name="Text 32"/>
          <p:cNvSpPr/>
          <p:nvPr/>
        </p:nvSpPr>
        <p:spPr>
          <a:xfrm>
            <a:off x="1897380" y="2944368"/>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Nielsen</a:t>
            </a:r>
            <a:endParaRPr lang="en-US" sz="900" dirty="0"/>
          </a:p>
        </p:txBody>
      </p:sp>
      <p:sp>
        <p:nvSpPr>
          <p:cNvPr id="35" name="Shape 33"/>
          <p:cNvSpPr/>
          <p:nvPr/>
        </p:nvSpPr>
        <p:spPr>
          <a:xfrm>
            <a:off x="3602736" y="2482596"/>
            <a:ext cx="201168" cy="201168"/>
          </a:xfrm>
          <a:prstGeom prst="ellipse">
            <a:avLst/>
          </a:prstGeom>
          <a:solidFill>
            <a:srgbClr val="1C7293"/>
          </a:solidFill>
          <a:ln w="25400">
            <a:solidFill>
              <a:srgbClr val="FFFFFF"/>
            </a:solidFill>
            <a:prstDash val="solid"/>
          </a:ln>
        </p:spPr>
        <p:txBody>
          <a:bodyPr/>
          <a:lstStyle/>
          <a:p>
            <a:endParaRPr lang="en-US"/>
          </a:p>
        </p:txBody>
      </p:sp>
      <p:sp>
        <p:nvSpPr>
          <p:cNvPr id="36" name="Text 34"/>
          <p:cNvSpPr/>
          <p:nvPr/>
        </p:nvSpPr>
        <p:spPr>
          <a:xfrm>
            <a:off x="3063240" y="2720340"/>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Circana</a:t>
            </a:r>
            <a:endParaRPr lang="en-US" sz="900" dirty="0"/>
          </a:p>
        </p:txBody>
      </p:sp>
      <p:sp>
        <p:nvSpPr>
          <p:cNvPr id="37" name="Shape 35"/>
          <p:cNvSpPr/>
          <p:nvPr/>
        </p:nvSpPr>
        <p:spPr>
          <a:xfrm>
            <a:off x="2048256" y="2258568"/>
            <a:ext cx="201168" cy="201168"/>
          </a:xfrm>
          <a:prstGeom prst="ellipse">
            <a:avLst/>
          </a:prstGeom>
          <a:solidFill>
            <a:srgbClr val="1C7293"/>
          </a:solidFill>
          <a:ln w="25400">
            <a:solidFill>
              <a:srgbClr val="FFFFFF"/>
            </a:solidFill>
            <a:prstDash val="solid"/>
          </a:ln>
        </p:spPr>
        <p:txBody>
          <a:bodyPr/>
          <a:lstStyle/>
          <a:p>
            <a:endParaRPr lang="en-US"/>
          </a:p>
        </p:txBody>
      </p:sp>
      <p:sp>
        <p:nvSpPr>
          <p:cNvPr id="38" name="Text 36"/>
          <p:cNvSpPr/>
          <p:nvPr/>
        </p:nvSpPr>
        <p:spPr>
          <a:xfrm>
            <a:off x="1508760" y="2496312"/>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Measured / Haus</a:t>
            </a:r>
            <a:endParaRPr lang="en-US" sz="900" dirty="0"/>
          </a:p>
        </p:txBody>
      </p:sp>
      <p:sp>
        <p:nvSpPr>
          <p:cNvPr id="39" name="Shape 37"/>
          <p:cNvSpPr/>
          <p:nvPr/>
        </p:nvSpPr>
        <p:spPr>
          <a:xfrm>
            <a:off x="5545836" y="2930652"/>
            <a:ext cx="201168" cy="201168"/>
          </a:xfrm>
          <a:prstGeom prst="ellipse">
            <a:avLst/>
          </a:prstGeom>
          <a:solidFill>
            <a:srgbClr val="6B7280"/>
          </a:solidFill>
          <a:ln w="19050">
            <a:solidFill>
              <a:srgbClr val="1E293B"/>
            </a:solidFill>
            <a:prstDash val="dash"/>
          </a:ln>
        </p:spPr>
        <p:txBody>
          <a:bodyPr/>
          <a:lstStyle/>
          <a:p>
            <a:endParaRPr lang="en-US"/>
          </a:p>
        </p:txBody>
      </p:sp>
      <p:sp>
        <p:nvSpPr>
          <p:cNvPr id="40" name="Text 38"/>
          <p:cNvSpPr/>
          <p:nvPr/>
        </p:nvSpPr>
        <p:spPr>
          <a:xfrm>
            <a:off x="5006340" y="3168396"/>
            <a:ext cx="1463040" cy="457200"/>
          </a:xfrm>
          <a:prstGeom prst="rect">
            <a:avLst/>
          </a:prstGeom>
          <a:noFill/>
          <a:ln/>
        </p:spPr>
        <p:txBody>
          <a:bodyPr wrap="square" lIns="0" tIns="0" rIns="0" bIns="0" rtlCol="0" anchor="ctr"/>
          <a:lstStyle/>
          <a:p>
            <a:pPr marL="0" indent="0" algn="ctr">
              <a:buNone/>
            </a:pPr>
            <a:r>
              <a:rPr lang="en-US" sz="900" dirty="0">
                <a:solidFill>
                  <a:srgbClr val="1E293B"/>
                </a:solidFill>
                <a:latin typeface="Calibri" pitchFamily="34" charset="0"/>
                <a:ea typeface="Calibri" pitchFamily="34" charset="-122"/>
                <a:cs typeface="Calibri" pitchFamily="34" charset="-120"/>
              </a:rPr>
              <a:t>Walmart Connect</a:t>
            </a:r>
            <a:endParaRPr lang="en-US" sz="900" dirty="0"/>
          </a:p>
          <a:p>
            <a:pPr marL="0" indent="0" algn="ctr">
              <a:buNone/>
            </a:pPr>
            <a:r>
              <a:rPr lang="en-US" sz="900" dirty="0">
                <a:solidFill>
                  <a:srgbClr val="1E293B"/>
                </a:solidFill>
                <a:latin typeface="Calibri" pitchFamily="34" charset="0"/>
                <a:ea typeface="Calibri" pitchFamily="34" charset="-122"/>
                <a:cs typeface="Calibri" pitchFamily="34" charset="-120"/>
              </a:rPr>
              <a:t>(in-house)</a:t>
            </a:r>
            <a:endParaRPr lang="en-US" sz="900" dirty="0"/>
          </a:p>
        </p:txBody>
      </p:sp>
      <p:sp>
        <p:nvSpPr>
          <p:cNvPr id="41" name="Shape 39"/>
          <p:cNvSpPr/>
          <p:nvPr/>
        </p:nvSpPr>
        <p:spPr>
          <a:xfrm>
            <a:off x="9418320" y="1463040"/>
            <a:ext cx="2560320" cy="4480560"/>
          </a:xfrm>
          <a:prstGeom prst="rect">
            <a:avLst/>
          </a:prstGeom>
          <a:solidFill>
            <a:srgbClr val="FFFFFF"/>
          </a:solidFill>
          <a:ln w="6350">
            <a:solidFill>
              <a:srgbClr val="E2E8F0"/>
            </a:solidFill>
            <a:prstDash val="solid"/>
          </a:ln>
        </p:spPr>
        <p:txBody>
          <a:bodyPr/>
          <a:lstStyle/>
          <a:p>
            <a:endParaRPr lang="en-US"/>
          </a:p>
        </p:txBody>
      </p:sp>
      <p:sp>
        <p:nvSpPr>
          <p:cNvPr id="42" name="Text 40"/>
          <p:cNvSpPr/>
          <p:nvPr/>
        </p:nvSpPr>
        <p:spPr>
          <a:xfrm>
            <a:off x="9601200" y="1645920"/>
            <a:ext cx="22860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LEGEND</a:t>
            </a:r>
            <a:endParaRPr lang="en-US" sz="1000" dirty="0"/>
          </a:p>
        </p:txBody>
      </p:sp>
      <p:sp>
        <p:nvSpPr>
          <p:cNvPr id="43" name="Shape 41"/>
          <p:cNvSpPr/>
          <p:nvPr/>
        </p:nvSpPr>
        <p:spPr>
          <a:xfrm>
            <a:off x="9646920" y="2148840"/>
            <a:ext cx="182880" cy="182880"/>
          </a:xfrm>
          <a:prstGeom prst="ellipse">
            <a:avLst/>
          </a:prstGeom>
          <a:solidFill>
            <a:srgbClr val="F18F01"/>
          </a:solidFill>
          <a:ln w="12700">
            <a:solidFill>
              <a:srgbClr val="FFFFFF"/>
            </a:solidFill>
            <a:prstDash val="solid"/>
          </a:ln>
        </p:spPr>
        <p:txBody>
          <a:bodyPr/>
          <a:lstStyle/>
          <a:p>
            <a:endParaRPr lang="en-US"/>
          </a:p>
        </p:txBody>
      </p:sp>
      <p:sp>
        <p:nvSpPr>
          <p:cNvPr id="44" name="Text 42"/>
          <p:cNvSpPr/>
          <p:nvPr/>
        </p:nvSpPr>
        <p:spPr>
          <a:xfrm>
            <a:off x="9921240" y="2057400"/>
            <a:ext cx="1965960" cy="64008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DataWeave DSIM</a:t>
            </a:r>
            <a:endParaRPr lang="en-US" sz="1000" dirty="0"/>
          </a:p>
        </p:txBody>
      </p:sp>
      <p:sp>
        <p:nvSpPr>
          <p:cNvPr id="45" name="Shape 43"/>
          <p:cNvSpPr/>
          <p:nvPr/>
        </p:nvSpPr>
        <p:spPr>
          <a:xfrm>
            <a:off x="9646920" y="2926080"/>
            <a:ext cx="182880" cy="182880"/>
          </a:xfrm>
          <a:prstGeom prst="ellipse">
            <a:avLst/>
          </a:prstGeom>
          <a:solidFill>
            <a:srgbClr val="C1272D"/>
          </a:solidFill>
          <a:ln w="12700">
            <a:solidFill>
              <a:srgbClr val="FFFFFF"/>
            </a:solidFill>
            <a:prstDash val="solid"/>
          </a:ln>
        </p:spPr>
        <p:txBody>
          <a:bodyPr/>
          <a:lstStyle/>
          <a:p>
            <a:endParaRPr lang="en-US"/>
          </a:p>
        </p:txBody>
      </p:sp>
      <p:sp>
        <p:nvSpPr>
          <p:cNvPr id="46" name="Text 44"/>
          <p:cNvSpPr/>
          <p:nvPr/>
        </p:nvSpPr>
        <p:spPr>
          <a:xfrm>
            <a:off x="9921240" y="2834640"/>
            <a:ext cx="196596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Direct competitor</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(Digital Shelf + Impact)</a:t>
            </a:r>
            <a:endParaRPr lang="en-US" sz="1000" dirty="0"/>
          </a:p>
        </p:txBody>
      </p:sp>
      <p:sp>
        <p:nvSpPr>
          <p:cNvPr id="47" name="Shape 45"/>
          <p:cNvSpPr/>
          <p:nvPr/>
        </p:nvSpPr>
        <p:spPr>
          <a:xfrm>
            <a:off x="9646920" y="3703320"/>
            <a:ext cx="182880" cy="182880"/>
          </a:xfrm>
          <a:prstGeom prst="ellipse">
            <a:avLst/>
          </a:prstGeom>
          <a:solidFill>
            <a:srgbClr val="E8A33D"/>
          </a:solidFill>
          <a:ln w="12700">
            <a:solidFill>
              <a:srgbClr val="FFFFFF"/>
            </a:solidFill>
            <a:prstDash val="solid"/>
          </a:ln>
        </p:spPr>
        <p:txBody>
          <a:bodyPr/>
          <a:lstStyle/>
          <a:p>
            <a:endParaRPr lang="en-US"/>
          </a:p>
        </p:txBody>
      </p:sp>
      <p:sp>
        <p:nvSpPr>
          <p:cNvPr id="48" name="Text 46"/>
          <p:cNvSpPr/>
          <p:nvPr/>
        </p:nvSpPr>
        <p:spPr>
          <a:xfrm>
            <a:off x="9921240" y="3611880"/>
            <a:ext cx="196596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Retail Media Platform</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(Activation + measurement)</a:t>
            </a:r>
            <a:endParaRPr lang="en-US" sz="1000" dirty="0"/>
          </a:p>
        </p:txBody>
      </p:sp>
      <p:sp>
        <p:nvSpPr>
          <p:cNvPr id="49" name="Shape 47"/>
          <p:cNvSpPr/>
          <p:nvPr/>
        </p:nvSpPr>
        <p:spPr>
          <a:xfrm>
            <a:off x="9646920" y="4480560"/>
            <a:ext cx="182880" cy="182880"/>
          </a:xfrm>
          <a:prstGeom prst="ellipse">
            <a:avLst/>
          </a:prstGeom>
          <a:solidFill>
            <a:srgbClr val="1C7293"/>
          </a:solidFill>
          <a:ln w="12700">
            <a:solidFill>
              <a:srgbClr val="FFFFFF"/>
            </a:solidFill>
            <a:prstDash val="solid"/>
          </a:ln>
        </p:spPr>
        <p:txBody>
          <a:bodyPr/>
          <a:lstStyle/>
          <a:p>
            <a:endParaRPr lang="en-US"/>
          </a:p>
        </p:txBody>
      </p:sp>
      <p:sp>
        <p:nvSpPr>
          <p:cNvPr id="50" name="Text 48"/>
          <p:cNvSpPr/>
          <p:nvPr/>
        </p:nvSpPr>
        <p:spPr>
          <a:xfrm>
            <a:off x="9921240" y="4389120"/>
            <a:ext cx="196596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MMM / Incrementality</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pure-play</a:t>
            </a:r>
            <a:endParaRPr lang="en-US" sz="1000" dirty="0"/>
          </a:p>
        </p:txBody>
      </p:sp>
      <p:sp>
        <p:nvSpPr>
          <p:cNvPr id="51" name="Shape 49"/>
          <p:cNvSpPr/>
          <p:nvPr/>
        </p:nvSpPr>
        <p:spPr>
          <a:xfrm>
            <a:off x="9646920" y="5257800"/>
            <a:ext cx="182880" cy="182880"/>
          </a:xfrm>
          <a:prstGeom prst="ellipse">
            <a:avLst/>
          </a:prstGeom>
          <a:solidFill>
            <a:srgbClr val="6B7280"/>
          </a:solidFill>
          <a:ln w="12700">
            <a:solidFill>
              <a:srgbClr val="FFFFFF"/>
            </a:solidFill>
            <a:prstDash val="solid"/>
          </a:ln>
        </p:spPr>
        <p:txBody>
          <a:bodyPr/>
          <a:lstStyle/>
          <a:p>
            <a:endParaRPr lang="en-US"/>
          </a:p>
        </p:txBody>
      </p:sp>
      <p:sp>
        <p:nvSpPr>
          <p:cNvPr id="52" name="Text 50"/>
          <p:cNvSpPr/>
          <p:nvPr/>
        </p:nvSpPr>
        <p:spPr>
          <a:xfrm>
            <a:off x="9921240" y="5166360"/>
            <a:ext cx="1965960" cy="6400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Retailer in-house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(Walmart Connect)</a:t>
            </a:r>
            <a:endParaRPr lang="en-US" sz="1000" dirty="0"/>
          </a:p>
        </p:txBody>
      </p:sp>
      <p:sp>
        <p:nvSpPr>
          <p:cNvPr id="53" name="Shape 51"/>
          <p:cNvSpPr/>
          <p:nvPr/>
        </p:nvSpPr>
        <p:spPr>
          <a:xfrm>
            <a:off x="457200" y="6400800"/>
            <a:ext cx="11274552" cy="365760"/>
          </a:xfrm>
          <a:prstGeom prst="rect">
            <a:avLst/>
          </a:prstGeom>
          <a:solidFill>
            <a:srgbClr val="065A82"/>
          </a:solidFill>
          <a:ln/>
        </p:spPr>
        <p:txBody>
          <a:bodyPr/>
          <a:lstStyle/>
          <a:p>
            <a:endParaRPr lang="en-US"/>
          </a:p>
        </p:txBody>
      </p:sp>
      <p:sp>
        <p:nvSpPr>
          <p:cNvPr id="54" name="Text 52"/>
          <p:cNvSpPr/>
          <p:nvPr/>
        </p:nvSpPr>
        <p:spPr>
          <a:xfrm>
            <a:off x="594360" y="6400800"/>
            <a:ext cx="11064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Key insight: </a:t>
            </a:r>
            <a:r>
              <a:rPr lang="en-US" sz="1100" dirty="0">
                <a:solidFill>
                  <a:srgbClr val="FFFFFF"/>
                </a:solidFill>
                <a:latin typeface="Calibri" pitchFamily="34" charset="0"/>
                <a:ea typeface="Calibri" pitchFamily="34" charset="-122"/>
                <a:cs typeface="Calibri" pitchFamily="34" charset="-120"/>
              </a:rPr>
              <a:t>Only CommerceIQ currently occupies the same quadrant as DSIM. Everyone else is strong on one axis and weak on the other.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2560320"/>
            <a:ext cx="365760" cy="1737360"/>
          </a:xfrm>
          <a:prstGeom prst="rect">
            <a:avLst/>
          </a:prstGeom>
          <a:solidFill>
            <a:srgbClr val="C1272D"/>
          </a:solidFill>
          <a:ln/>
        </p:spPr>
        <p:txBody>
          <a:bodyPr/>
          <a:lstStyle/>
          <a:p>
            <a:endParaRPr lang="en-US"/>
          </a:p>
        </p:txBody>
      </p:sp>
      <p:sp>
        <p:nvSpPr>
          <p:cNvPr id="3" name="Text 1"/>
          <p:cNvSpPr/>
          <p:nvPr/>
        </p:nvSpPr>
        <p:spPr>
          <a:xfrm>
            <a:off x="822960" y="2651760"/>
            <a:ext cx="10972800" cy="274320"/>
          </a:xfrm>
          <a:prstGeom prst="rect">
            <a:avLst/>
          </a:prstGeom>
          <a:noFill/>
          <a:ln/>
        </p:spPr>
        <p:txBody>
          <a:bodyPr wrap="square" lIns="0" tIns="0" rIns="0" bIns="0" rtlCol="0" anchor="ctr"/>
          <a:lstStyle/>
          <a:p>
            <a:pPr marL="0" indent="0">
              <a:buNone/>
            </a:pPr>
            <a:r>
              <a:rPr lang="en-US" sz="1200" b="1" kern="0" spc="600" dirty="0">
                <a:solidFill>
                  <a:srgbClr val="C1272D"/>
                </a:solidFill>
                <a:latin typeface="Calibri" pitchFamily="34" charset="0"/>
                <a:ea typeface="Calibri" pitchFamily="34" charset="-122"/>
                <a:cs typeface="Calibri" pitchFamily="34" charset="-120"/>
              </a:rPr>
              <a:t>SECTION</a:t>
            </a:r>
            <a:endParaRPr lang="en-US" sz="1200" dirty="0"/>
          </a:p>
        </p:txBody>
      </p:sp>
      <p:sp>
        <p:nvSpPr>
          <p:cNvPr id="4" name="Text 2"/>
          <p:cNvSpPr/>
          <p:nvPr/>
        </p:nvSpPr>
        <p:spPr>
          <a:xfrm>
            <a:off x="822960" y="2971800"/>
            <a:ext cx="10972800" cy="9144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Direct Competitors</a:t>
            </a:r>
            <a:endParaRPr lang="en-US" sz="4800" dirty="0"/>
          </a:p>
        </p:txBody>
      </p:sp>
      <p:sp>
        <p:nvSpPr>
          <p:cNvPr id="5" name="Text 3"/>
          <p:cNvSpPr/>
          <p:nvPr/>
        </p:nvSpPr>
        <p:spPr>
          <a:xfrm>
            <a:off x="822960" y="3977640"/>
            <a:ext cx="10972800" cy="457200"/>
          </a:xfrm>
          <a:prstGeom prst="rect">
            <a:avLst/>
          </a:prstGeom>
          <a:noFill/>
          <a:ln/>
        </p:spPr>
        <p:txBody>
          <a:bodyPr wrap="square" lIns="0" tIns="0" rIns="0" bIns="0" rtlCol="0" anchor="ctr"/>
          <a:lstStyle/>
          <a:p>
            <a:pPr marL="0" indent="0">
              <a:buNone/>
            </a:pPr>
            <a:r>
              <a:rPr lang="en-US" sz="1600" dirty="0">
                <a:solidFill>
                  <a:srgbClr val="9CB4C9"/>
                </a:solidFill>
                <a:latin typeface="Calibri Light" pitchFamily="34" charset="0"/>
                <a:ea typeface="Calibri Light" pitchFamily="34" charset="-122"/>
                <a:cs typeface="Calibri Light" pitchFamily="34" charset="-120"/>
              </a:rPr>
              <a:t>Digital Shelf Analytics vendors expanding into impact modeling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C1272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C1272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CommerceIQ</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Retail Ecommerce Management platform with an iROAS-native optimization layer</a:t>
            </a:r>
            <a:endParaRPr lang="en-US" sz="1200" dirty="0"/>
          </a:p>
        </p:txBody>
      </p:sp>
      <p:sp>
        <p:nvSpPr>
          <p:cNvPr id="7" name="Shape 5"/>
          <p:cNvSpPr/>
          <p:nvPr/>
        </p:nvSpPr>
        <p:spPr>
          <a:xfrm>
            <a:off x="9875520" y="274320"/>
            <a:ext cx="2011680" cy="502920"/>
          </a:xfrm>
          <a:prstGeom prst="rect">
            <a:avLst/>
          </a:prstGeom>
          <a:solidFill>
            <a:srgbClr val="C1272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HIGH THREAT</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DIGITAL SHELF + IMPACT  |  DIRECT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Unified REM platform spanning sales, retail media, content, and digital shelf for Amazon, Walmart, Target, Instacart. Proprietary incrementality model uses 50+ real-time signals including competitor keywords, inventory, and share-of-voice shifts. This is the closest 1:1 competitor to DSIM's pitch.</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Explicitly optimizes for iROAS (incremental ROAS), not just ROAS — the same narrative DSIM uses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Closed-loop automation: model surfaces insight, AllyAI executes bid/budget changes in real time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Deep Walmart Connect integration and named CPG reference accounts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Single pane across shelf + media — no vendor stitching required</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Incrementality model is embedded inside media automation — harder to sell as a standalone analytics layer to RGM or Finance buyers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Less transparent methodology; brands who want defensible MMM-style decomposition often supplement with a separate vendor</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Execution-heavy platform creates change-management overhead; not every brand wants to replace their activation stack</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Shelf-signal breadth is strong but less granular in local/store-cluster analysis than DataWeave</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BRANDS</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2,200+</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Incl. Nestle, Colgate, Whirlpool</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RETAILERS</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650+</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Global retailer coverage</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Deals where the brand already runs retail media in-house and wants one vendor for activation + optimization. They win on 'we execute the recommendation automatically' while DSIM talks about insight generation.</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Lead with DSIM as a decision-support and diagnostic layer — not a replacement for their activation stack. Position as complementary to whoever runs the media.</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Press on methodology transparency: ask the prospect if they can defend CommerceIQ's incrementality outputs to their CFO without black-box explanations.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DSIM's store-cluster localization — CommerceIQ works at national or retailer level; DSIM breaks performance down by cluster.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Call out the ~5.9% MAPE forecast accuracy and R-squared proof points; CommerceIQ rarely publishes model-validation metrics.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Offer a focused PoC on one category/one retailer (the Lactalis/Stonyfield model) — much smaller commitment than CommerceIQ's platform rollout.</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CommerceIQ</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C1272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C1272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Profitero</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The largest digital shelf analytics incumbent, expanding into measurement via Profitero+</a:t>
            </a:r>
            <a:endParaRPr lang="en-US" sz="1200" dirty="0"/>
          </a:p>
        </p:txBody>
      </p:sp>
      <p:sp>
        <p:nvSpPr>
          <p:cNvPr id="7" name="Shape 5"/>
          <p:cNvSpPr/>
          <p:nvPr/>
        </p:nvSpPr>
        <p:spPr>
          <a:xfrm>
            <a:off x="9875520" y="274320"/>
            <a:ext cx="2011680" cy="502920"/>
          </a:xfrm>
          <a:prstGeom prst="rect">
            <a:avLst/>
          </a:prstGeom>
          <a:solidFill>
            <a:srgbClr val="C1272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HIGH THREAT</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DIGITAL SHELF + IMPACT  |  DIRECT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Market-leading DSA platform tracking 80M+ products across 1,400+ retailers in 70+ countries. Acquired into Publicis Groupe. Recent Profitero+ release adds an analytics layer and deeper partner integrations with Walmart DSP, Skai, Pacvue, Amazon DSP. Broad reach but historically weaker on causal measurement.</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Broadest retailer and SKU coverage in the category — hard to dislodge at enterprise CPGs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Walmart coverage and well-established Walmart DSP integration for closed-loop attribution</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Publicis Groupe backing provides agency channel and CPG relationships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Large installed base creates incumbency advantage; rip-and-replace is politically expensive</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Historically a monitoring/reporting platform — causal impact modeling is not their core IP or narrative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Agency ownership (Publicis) creates perceived channel conflict for CPGs running media through non-Publicis agencies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Profitero+ measurement capabilities are newer and less proven than specialized MMM vendors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Premium pricing matches premium coverage — high total cost when brands only want the impact layer</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BRANDS SERVED</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9,000+</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Since 2010</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DATA ACCURACY</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95%</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40TB collected daily</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Enterprise CPGs needing global retailer coverage as table stakes. They win on breadth and incumbency, not on measurement sophistication. When they lose on measurement, it's usually to MMM vendors or CommerceIQ.</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Don't try to compete on shelf-monitoring breadth — concede that. Position DSIM as the causal impact layer on top of whatever monitoring they already have (including Profitero).</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the retail media and RGM buyer, not the ecommerce ops buyer Profitero owns. DSIM is a different conversation for a different seat.</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'Profitero tells you what changed. Can it tell you how much of your sales lift would have happened anyway?' Put the measurement gap on the table.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If the prospect is Publicis-skeptical (many non-Publicis brands are), lean into DataWeave's independence.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Bundle DSIM with DataWeave's DSA where it makes sense; but lead with DSIM on standalone opportunities to avoid the 'rip out Profitero' objection.</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Profitero</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C1272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C1272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Ascential Edge / NIQ Brandbank</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Enterprise digital commerce analytics, now part of NielsenIQ</a:t>
            </a:r>
            <a:endParaRPr lang="en-US" sz="1200" dirty="0"/>
          </a:p>
        </p:txBody>
      </p:sp>
      <p:sp>
        <p:nvSpPr>
          <p:cNvPr id="7" name="Shape 5"/>
          <p:cNvSpPr/>
          <p:nvPr/>
        </p:nvSpPr>
        <p:spPr>
          <a:xfrm>
            <a:off x="9875520" y="274320"/>
            <a:ext cx="2011680" cy="502920"/>
          </a:xfrm>
          <a:prstGeom prst="rect">
            <a:avLst/>
          </a:prstGeom>
          <a:solidFill>
            <a:srgbClr val="C1272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HIGH THREAT</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DIGITAL SHELF + IMPACT  |  DIRECT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Ascential Edge provides digital commerce analytics — product placement, pricing, availability monitoring across ecommerce platforms — with category and market-share reporting. Acquired by NIQ, creating powerful cross-sell into NIQ's POS-data customer base that already trusts NIQ for syndicated measurement.</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NIQ backing gives instant credibility with CPG category-management and market-share teams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Can combine ecommerce shelf data with NIQ POS syndicated data — a story no pure-play DSA can match</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analyst and CFO relationships via the NIQ parent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Category-level reporting and ranking tools that category managers already live in</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Post-acquisition integration friction — product roadmap clarity and pricing are in flux</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Heritage is category analytics and market share, not real-time shelf execution or causal impact modeling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Less dynamic/real-time than Profitero, CommerceIQ, or DataWeave on competitive shelf monitoring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Retail media measurement capabilities are weaker than specialized players</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PARENT</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NIQ</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Global measurement giant</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STRENGTH</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Category</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Market-share heritage</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Deals driven by the category-management or market-share team rather than the ecommerce or retail media team. They win when the buyer wants one vendor covering both online and offline POS.</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Acknowledge NIQ's POS-data strength — don't fight it. Position DSIM as the shelf-and-media impact layer that NIQ's POS data doesn't reach.</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speed and real-time: DSIM updates on the same cadence as shelf changes; NIQ's cadence is weeks, not days.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retail media and ecommerce-native buyers who have a different budget from the category-management team NIQ owns.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Propose a side-by-side: have the prospect compare DSIM's sales-decomposition output against Edge's best attempt on the same dataset.</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Note the integration uncertainty post-acquisition; DataWeave's focus and product roadmap are clearer.</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Ascential Edge / NIQ Brandbank</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C1272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C1272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Intelligence Node</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AI-driven digital shelf and pricing analytics with incrementality claims</a:t>
            </a:r>
            <a:endParaRPr lang="en-US" sz="1200" dirty="0"/>
          </a:p>
        </p:txBody>
      </p:sp>
      <p:sp>
        <p:nvSpPr>
          <p:cNvPr id="7" name="Shape 5"/>
          <p:cNvSpPr/>
          <p:nvPr/>
        </p:nvSpPr>
        <p:spPr>
          <a:xfrm>
            <a:off x="9875520" y="274320"/>
            <a:ext cx="2011680" cy="502920"/>
          </a:xfrm>
          <a:prstGeom prst="rect">
            <a:avLst/>
          </a:prstGeom>
          <a:solidFill>
            <a:srgbClr val="C1272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MEDIUM-HIGH</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DIGITAL SHELF + IMPACT  |  DIRECT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India-based digital shelf and retail analytics platform with strong pricing intelligence heritage. Markets AI-driven shelf analytics with 99% accuracy claims. Growing in the US market with mid-market CPG and retailer deals. Overlaps heavily with DataWeave's core DSA positioning.</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Aggressive on pricing, especially in mid-market and APAC</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pricing-intelligence heritage — often sold into retailers as well as brands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Matching product coverage and competitive set identification is capable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Fast-moving product roadmap with AI/LLM features rolling out quickly</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Limited published proof of causal impact modeling — 'incrementality' language exists in marketing but thin methodology detail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Thinner enterprise CPG reference list on the Walmart-specific use case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Weaker retail media integration than Pacvue/Skai/CommerceIQ</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Brand awareness in US ecommerce buyer circles lags CommerceIQ and Profitero</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CORE IP</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Pricing</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 digital shelf</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POSITIONING</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Mid-market</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Aggressive on price</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Price-sensitive deals where shelf monitoring is the primary ask and incrementality is a nice-to-have. They win on cost, not on measurement depth.</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If the buyer is anchoring on price, reframe: DSIM's $500K+ incremental revenue opportunity dwarfs the platform-cost delta.</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for their incrementality methodology documentation — in most cases, they will not have a DSIM-equivalent framework to share.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Press on Walmart-specific reference accounts and case studies — DataWeave has more depth here.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DataWeave's store-clustering and localization — Intelligence Node tends to work at national aggregate levels.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Offer the narrow PoC scope (one category, one retailer, 3 months) that mid-market buyers can approve without procurement battles.</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Intelligence Node</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E8A33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E8A33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Salsify (Insights module)</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Product Experience Management leader adding digital shelf measurement</a:t>
            </a:r>
            <a:endParaRPr lang="en-US" sz="1200" dirty="0"/>
          </a:p>
        </p:txBody>
      </p:sp>
      <p:sp>
        <p:nvSpPr>
          <p:cNvPr id="7" name="Shape 5"/>
          <p:cNvSpPr/>
          <p:nvPr/>
        </p:nvSpPr>
        <p:spPr>
          <a:xfrm>
            <a:off x="9875520" y="274320"/>
            <a:ext cx="2011680" cy="502920"/>
          </a:xfrm>
          <a:prstGeom prst="rect">
            <a:avLst/>
          </a:prstGeom>
          <a:solidFill>
            <a:srgbClr val="E8A33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DIGITAL SHELF + IMPACT  |  INDIRECT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Primarily a Product Information Management (PIM) and Product Experience Management (PXM) platform — the content syndication backbone for many large CPGs. Has added digital shelf analytics and Insights capabilities on top. Competes with DSIM indirectly as CPGs ask 'can Salsify do this too?'</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Already deployed at most large CPGs — expansion sale is easier than net-new vendor</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Owns the product-content layer, which makes content-to-sales correlation feel natural to sell as an upsell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retailer relationships through syndication network</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Enterprise security, procurement, and integration work already done</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Insights is not their core IP — the analytics layer is genuinely thinner than specialized DSA or impact-modeling players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 published incrementality/MMM-grade methodology for sales decomposition</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Retail media measurement is not a Salsify strength; they integrate to activation platforms rather than measure them</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Content-lift claims tend to be correlational rather than causal — exactly the gap DSIM closes</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CORE</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PIM / PXM</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Content syndication leader</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CHALLENGE</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Measurement</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Newer capability</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Deals driven by content / PDP operations teams who already own the Salsify relationship and want 'one more module' rather than a new vendor.</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Position DSIM as the measurement and impact layer that sits above Salsify's content execution — not competing for the same job.</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Salsify can tell you content was updated; DSIM tells you how much that update incrementally contributed to sales. Use that exact line.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retail media and RGM buyers, not the content-ops buyer Salsify owns.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If asked 'why not just use Salsify Insights?' — ask for their documented sales-decomposition methodology and MAPE benchmarks.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Offer DSIM as vendor-agnostic on PIM: we work with Salsify, Syndigo, or any content source.</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Salsify (Insights module)</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2560320"/>
            <a:ext cx="365760" cy="1737360"/>
          </a:xfrm>
          <a:prstGeom prst="rect">
            <a:avLst/>
          </a:prstGeom>
          <a:solidFill>
            <a:srgbClr val="E8A33D"/>
          </a:solidFill>
          <a:ln/>
        </p:spPr>
        <p:txBody>
          <a:bodyPr/>
          <a:lstStyle/>
          <a:p>
            <a:endParaRPr lang="en-US"/>
          </a:p>
        </p:txBody>
      </p:sp>
      <p:sp>
        <p:nvSpPr>
          <p:cNvPr id="3" name="Text 1"/>
          <p:cNvSpPr/>
          <p:nvPr/>
        </p:nvSpPr>
        <p:spPr>
          <a:xfrm>
            <a:off x="822960" y="2651760"/>
            <a:ext cx="10972800" cy="274320"/>
          </a:xfrm>
          <a:prstGeom prst="rect">
            <a:avLst/>
          </a:prstGeom>
          <a:noFill/>
          <a:ln/>
        </p:spPr>
        <p:txBody>
          <a:bodyPr wrap="square" lIns="0" tIns="0" rIns="0" bIns="0" rtlCol="0" anchor="ctr"/>
          <a:lstStyle/>
          <a:p>
            <a:pPr marL="0" indent="0">
              <a:buNone/>
            </a:pPr>
            <a:r>
              <a:rPr lang="en-US" sz="1200" b="1" kern="0" spc="600" dirty="0">
                <a:solidFill>
                  <a:srgbClr val="E8A33D"/>
                </a:solidFill>
                <a:latin typeface="Calibri" pitchFamily="34" charset="0"/>
                <a:ea typeface="Calibri" pitchFamily="34" charset="-122"/>
                <a:cs typeface="Calibri" pitchFamily="34" charset="-120"/>
              </a:rPr>
              <a:t>SECTION</a:t>
            </a:r>
            <a:endParaRPr lang="en-US" sz="1200" dirty="0"/>
          </a:p>
        </p:txBody>
      </p:sp>
      <p:sp>
        <p:nvSpPr>
          <p:cNvPr id="4" name="Text 2"/>
          <p:cNvSpPr/>
          <p:nvPr/>
        </p:nvSpPr>
        <p:spPr>
          <a:xfrm>
            <a:off x="822960" y="2971800"/>
            <a:ext cx="10972800" cy="9144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Retail Media Platforms</a:t>
            </a:r>
            <a:endParaRPr lang="en-US" sz="4800" dirty="0"/>
          </a:p>
        </p:txBody>
      </p:sp>
      <p:sp>
        <p:nvSpPr>
          <p:cNvPr id="5" name="Text 3"/>
          <p:cNvSpPr/>
          <p:nvPr/>
        </p:nvSpPr>
        <p:spPr>
          <a:xfrm>
            <a:off x="822960" y="3977640"/>
            <a:ext cx="10972800" cy="457200"/>
          </a:xfrm>
          <a:prstGeom prst="rect">
            <a:avLst/>
          </a:prstGeom>
          <a:noFill/>
          <a:ln/>
        </p:spPr>
        <p:txBody>
          <a:bodyPr wrap="square" lIns="0" tIns="0" rIns="0" bIns="0" rtlCol="0" anchor="ctr"/>
          <a:lstStyle/>
          <a:p>
            <a:pPr marL="0" indent="0">
              <a:buNone/>
            </a:pPr>
            <a:r>
              <a:rPr lang="en-US" sz="1600" dirty="0">
                <a:solidFill>
                  <a:srgbClr val="9CB4C9"/>
                </a:solidFill>
                <a:latin typeface="Calibri Light" pitchFamily="34" charset="0"/>
                <a:ea typeface="Calibri Light" pitchFamily="34" charset="-122"/>
                <a:cs typeface="Calibri Light" pitchFamily="34" charset="-120"/>
              </a:rPr>
              <a:t>Activation stacks adding measurement and incrementality layers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E8A33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E8A33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Pacvue</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The Commerce Operating System — retail media activation at massive scale</a:t>
            </a:r>
            <a:endParaRPr lang="en-US" sz="1200" dirty="0"/>
          </a:p>
        </p:txBody>
      </p:sp>
      <p:sp>
        <p:nvSpPr>
          <p:cNvPr id="7" name="Shape 5"/>
          <p:cNvSpPr/>
          <p:nvPr/>
        </p:nvSpPr>
        <p:spPr>
          <a:xfrm>
            <a:off x="9875520" y="274320"/>
            <a:ext cx="2011680" cy="502920"/>
          </a:xfrm>
          <a:prstGeom prst="rect">
            <a:avLst/>
          </a:prstGeom>
          <a:solidFill>
            <a:srgbClr val="E8A33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 THREAT</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RETAIL MEDIA PLATFORM  |  ACTIVATION-LED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The dominant retail media management platform, powering ~12% of global retail media ad spend and serving 70,000+ brands and agencies. Deep Walmart Connect, Amazon, Target, Instacart integration. Adding measurement layers and AI-enabled optimization. Competes with DSIM on the 'how should I invest my Walmart retail media budget?' question.</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Owns the Walmart Connect activation surface at enterprise scale — the 'system of action' for retail media</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Massive installed base creates reference depth and feature velocity</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Recent expansion into measurement and attribution via partnerships and acquisitions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AI-driven automation for bidding, dayparting, inventory-aware rules is production-grade</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Optimization is still largely ROAS-led; incrementality is an additive lens, not the core model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Measurement capabilities rely on first-party retailer signals and do not decompose baseline vs. incremental at the SKU-cluster level the way DSIM does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Shelf-signal integration is narrower than purpose-built DSA players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Competes with agencies and can be perceived as an activation black box by brand-side analysts</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GLOBAL RM SPEND</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~12%</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Powered by Pacvue (2025)</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BRANDS &amp; AGENCIES</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70,000+</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Across 100+ marketplaces</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Brands that want one activation platform across Amazon + Walmart + Target + Instacart and are happy to let Pacvue optimize automatically. They win when activation matters more to the buyer than measurement transparency.</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Do not compete with Pacvue on activation. Position DSIM as the measurement and diagnostic layer that makes Pacvue's activation better.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the RGM, analytics, or finance buyer — Pacvue's natural buyer is the retail media ops lead.</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'Pacvue executes the campaign. Can it tell you how much of the $X lift was already going to happen?' Put incrementality on the table.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DataWeave's shelf-signal depth (availability, pricing, content, competition) that Pacvue's activation context doesn't cover.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Consider a 'better together' message: DSIM sets the strategy and guardrails; Pacvue executes within them. Frame DSIM as strategy-level, Pacvue as execution-level.</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Pacvue</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E8A33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E8A33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Skai (formerly Kenshoo)</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Omnichannel retail media and performance platform with incrementality experimentation</a:t>
            </a:r>
            <a:endParaRPr lang="en-US" sz="1200" dirty="0"/>
          </a:p>
        </p:txBody>
      </p:sp>
      <p:sp>
        <p:nvSpPr>
          <p:cNvPr id="7" name="Shape 5"/>
          <p:cNvSpPr/>
          <p:nvPr/>
        </p:nvSpPr>
        <p:spPr>
          <a:xfrm>
            <a:off x="9875520" y="274320"/>
            <a:ext cx="2011680" cy="502920"/>
          </a:xfrm>
          <a:prstGeom prst="rect">
            <a:avLst/>
          </a:prstGeom>
          <a:solidFill>
            <a:srgbClr val="E8A33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 THREAT</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RETAIL MEDIA PLATFORM  |  ACTIVATION-LED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Tel Aviv-based omnichannel marketing platform covering retail media, paid search, paid social, and app marketing. Strategic partnerships with Walmart Connect, Amazon Marketing Cloud, Google, Meta, Microsoft. Heavy public content on incrementality testing and closed-loop measurement.</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incrementality narrative — publishes heavily on retail media incrementality testing and ghost-bid methodologies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Deep Walmart Connect partnership and Amazon Marketing Cloud access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Unified view across retail media and walled gardens (Google, Meta) — appeals to omnichannel CPG buyers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Enterprise campaign management heritage from Kenshoo days</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Incrementality work is test-and-control / geo-lift, not full shelf-decomposition MMM — narrower than DSIM</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Shelf-signal integration is weaker than purpose-built DSA; they measure media, not availability or content impact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Less localization/cluster analysis — typically operates at national or retailer level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Can feel like a media-agency tool rather than a brand-analytics tool to RGM buyers</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BRANDS &amp; AGENCIES</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2,000+</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Since 2006</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RETAILERS &amp; PUBLISHERS</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100+</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Unified access</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CPG media teams running multi-retailer and walled-garden campaigns who want unified reporting plus incrementality tests on top of execution. They win on omnichannel scope.</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Position DSIM as the cross-lever model — shelf + media + pricing + availability — versus Skai's media-only measurement.</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'Skai can tell you the incremental lift of your Sponsored Search. Can it tell you how availability or content interacted with that lift?' DSIM can.</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that Skai's incrementality is typically test-based (slow, requires campaign design); DSIM is always-on and decomposes historical and ongoing performance.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Lean into DataWeave's neutrality — Skai is tied to its activation revenue; DSIM has no bias toward recommending more media.</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Offer the store-cluster localization view, which Skai does not provide.</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Skai (formerly Kenshoo)</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E8A33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E8A33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Flywheel Digital (by Omnicom)</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Retail media management and ecommerce services inside the Omnicom agency ecosystem</a:t>
            </a:r>
            <a:endParaRPr lang="en-US" sz="1200" dirty="0"/>
          </a:p>
        </p:txBody>
      </p:sp>
      <p:sp>
        <p:nvSpPr>
          <p:cNvPr id="7" name="Shape 5"/>
          <p:cNvSpPr/>
          <p:nvPr/>
        </p:nvSpPr>
        <p:spPr>
          <a:xfrm>
            <a:off x="9875520" y="274320"/>
            <a:ext cx="2011680" cy="502920"/>
          </a:xfrm>
          <a:prstGeom prst="rect">
            <a:avLst/>
          </a:prstGeom>
          <a:solidFill>
            <a:srgbClr val="E8A33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 THREAT</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RETAIL MEDIA PLATFORM  |  AGENCY-LED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Retail media, commerce, and ecommerce services platform acquired by Omnicom. Serves large enterprise CPG brands with a mix of software and managed services. Competes with DSIM when Omnicom agencies recommend Flywheel as the ecommerce + measurement partner to shared CPG clients.</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Omnicom backing provides agency channel, CPG relationships, and enterprise procurement advantages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Managed-services model is appealing to CPGs with lean internal teams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retail media activation capabilities across Amazon, Walmart, Instacart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Can bundle DSA, retail media, and analytics into a single agency engagement</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Agency ownership creates perceived channel conflict for non-Omnicom-agency brands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Measurement methodology is less publicly documented than specialized MMM or DSA vendors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Tends to win on services-led sales motion rather than differentiated tech</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Managed-services model has higher all-in cost than software-led DSIM deployment</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PARENT</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Omnicom</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Agency giant</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MODEL</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Software + Services</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Managed offering</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Omnicom-aligned CPG clients where the agency recommends Flywheel as the commerce partner. They win on relationship and services depth, not on measurement sophistication.</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If the prospect is not an Omnicom agency client, lean into independence — DataWeave has no agency conflicts.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Position DSIM as an independent measurement source the CPG owns directly, versus an agency-owned black box.</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'If you fire the agency, do you still own the measurement?' CPGs increasingly want portable analytics.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DSIM's published MAPE and R-squared proof points; Flywheel typically does not publish methodology validation.</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in-house ecommerce, RGM, and analytics teams directly — the Omnicom agency relationship is a harder barrier to break.</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Flywheel Digital (by Omnicom)</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E8A33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E8A33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Quartile</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AI-driven retail media platform with explicit incremental revenue focus on Walmart</a:t>
            </a:r>
            <a:endParaRPr lang="en-US" sz="1200" dirty="0"/>
          </a:p>
        </p:txBody>
      </p:sp>
      <p:sp>
        <p:nvSpPr>
          <p:cNvPr id="7" name="Shape 5"/>
          <p:cNvSpPr/>
          <p:nvPr/>
        </p:nvSpPr>
        <p:spPr>
          <a:xfrm>
            <a:off x="9875520" y="274320"/>
            <a:ext cx="2011680" cy="502920"/>
          </a:xfrm>
          <a:prstGeom prst="rect">
            <a:avLst/>
          </a:prstGeom>
          <a:solidFill>
            <a:srgbClr val="E8A33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 THREAT</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RETAIL MEDIA PLATFORM  |  ACTIVATION-LED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Retail media automation platform that explicitly markets optimization for 'incremental revenue, not just ROAS' on Walmart and Amazon. Publishes strong case-study numbers (38% revenue, 41% conversions, 18% ROAS lift in first 90 days). Smaller than Pacvue but more aggressive on the incrementality message.</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Clean, simple 'incremental revenue' positioning that resonates with Walmart buyers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 long-term contract trap — accessible to mid-market brands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published case-study numbers and conversion-rate lifts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Aggressive on Walmart-specific go-to-market</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Incrementality is pitched at campaign/ad-unit level, not cross-lever decomposition — narrower than DSIM</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 shelf-signal integration (availability, content, competition) as first-class inputs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Smaller than Pacvue/Skai — thinner integration ecosystem</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Claims are aggressive but methodology is less transparent than MMM-grade vendors</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WALMART FOCUS</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Strong</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Explicit Walmart positioning</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CLAIMED LIFT</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+38%</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Revenue in 90 days</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Mid-market Walmart brands that need retail media automation with an incrementality lens and don't want a full Pacvue/CommerceIQ rollout.</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Reframe the incrementality conversation from campaign-level to portfolio-level: Quartile optimizes one channel; DSIM explains what's driving the whole business.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about shelf-signal inputs — availability, content, competition — and show how DSIM models their interaction with media spend.</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Press on methodology: what's the MAPE? What's the R-squared? DSIM publishes these.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Position DSIM as the strategy and allocation layer that sits above any activation tool — including Quartile.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If the buyer is mid-market and budget-constrained, offer the focused PoC scope.</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Quartile</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E8A33D"/>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E8A33D"/>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Perpetua (by Ascential)</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Retail media optimization and automation, part of the Ascential (now NIQ) ecosystem</a:t>
            </a:r>
            <a:endParaRPr lang="en-US" sz="1200" dirty="0"/>
          </a:p>
        </p:txBody>
      </p:sp>
      <p:sp>
        <p:nvSpPr>
          <p:cNvPr id="7" name="Shape 5"/>
          <p:cNvSpPr/>
          <p:nvPr/>
        </p:nvSpPr>
        <p:spPr>
          <a:xfrm>
            <a:off x="9875520" y="274320"/>
            <a:ext cx="2011680" cy="502920"/>
          </a:xfrm>
          <a:prstGeom prst="rect">
            <a:avLst/>
          </a:prstGeom>
          <a:solidFill>
            <a:srgbClr val="E8A33D"/>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LOW-MEDIUM</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RETAIL MEDIA PLATFORM  |  ACTIVATION-LED COMPETITOR</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Retail media automation platform acquired by Ascential, now part of NIQ. Strong Amazon Advertising heritage; expanding into Walmart and other retailers. Competes with DSIM when the buyer bundles Perpetua with Ascential Edge analytics for a combined retail media + shelf view.</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NIQ backing and the Edge + Perpetua bundle story are attractive for large CPGs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Amazon retail-media heritage; proven at ad-group automation</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Part of a broader measurement ecosystem via NIQ</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Appeals to brands already trusting NIQ for POS</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Walmart capabilities are newer and thinner than Amazon</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Post-acquisition integration uncertainty — Perpetua and Edge roadmaps are still converging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Incrementality narrative is weaker than Skai or CommerceIQ</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Not a purpose-built decomposition or MMM platform</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PARENT</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NIQ</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Via Ascential acquisition</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HERITAGE</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Amazon</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Expanding to Walmart</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NIQ-bundled deals where the CPG wants one vendor across POS, shelf, and retail media activation. They win on ecosystem bundling, not on measurement depth.</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Position DSIM as the independent measurement layer — unbundled from any single activation or syndicated-data vendor.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Acknowledge the NIQ bundle appeal, but push on integration uncertainty: is the Perpetua-Edge roadmap clear and committed?</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DSIM's Walmart-specific methodology and reference work — Perpetua's Walmart story is still developing.</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retail media buyers who want a measurement perspective independent from their activation stack.</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Perpetua (by Ascential)</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2560320"/>
            <a:ext cx="365760" cy="1737360"/>
          </a:xfrm>
          <a:prstGeom prst="rect">
            <a:avLst/>
          </a:prstGeom>
          <a:solidFill>
            <a:srgbClr val="1C7293"/>
          </a:solidFill>
          <a:ln/>
        </p:spPr>
        <p:txBody>
          <a:bodyPr/>
          <a:lstStyle/>
          <a:p>
            <a:endParaRPr lang="en-US"/>
          </a:p>
        </p:txBody>
      </p:sp>
      <p:sp>
        <p:nvSpPr>
          <p:cNvPr id="3" name="Text 1"/>
          <p:cNvSpPr/>
          <p:nvPr/>
        </p:nvSpPr>
        <p:spPr>
          <a:xfrm>
            <a:off x="822960" y="2651760"/>
            <a:ext cx="10972800" cy="274320"/>
          </a:xfrm>
          <a:prstGeom prst="rect">
            <a:avLst/>
          </a:prstGeom>
          <a:noFill/>
          <a:ln/>
        </p:spPr>
        <p:txBody>
          <a:bodyPr wrap="square" lIns="0" tIns="0" rIns="0" bIns="0" rtlCol="0" anchor="ctr"/>
          <a:lstStyle/>
          <a:p>
            <a:pPr marL="0" indent="0">
              <a:buNone/>
            </a:pPr>
            <a:r>
              <a:rPr lang="en-US" sz="1200" b="1" kern="0" spc="600" dirty="0">
                <a:solidFill>
                  <a:srgbClr val="1C7293"/>
                </a:solidFill>
                <a:latin typeface="Calibri" pitchFamily="34" charset="0"/>
                <a:ea typeface="Calibri" pitchFamily="34" charset="-122"/>
                <a:cs typeface="Calibri" pitchFamily="34" charset="-120"/>
              </a:rPr>
              <a:t>SECTION</a:t>
            </a:r>
            <a:endParaRPr lang="en-US" sz="1200" dirty="0"/>
          </a:p>
        </p:txBody>
      </p:sp>
      <p:sp>
        <p:nvSpPr>
          <p:cNvPr id="4" name="Text 2"/>
          <p:cNvSpPr/>
          <p:nvPr/>
        </p:nvSpPr>
        <p:spPr>
          <a:xfrm>
            <a:off x="822960" y="2971800"/>
            <a:ext cx="10972800" cy="9144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MMM &amp; Incrementality Pure-plays</a:t>
            </a:r>
            <a:endParaRPr lang="en-US" sz="4800" dirty="0"/>
          </a:p>
        </p:txBody>
      </p:sp>
      <p:sp>
        <p:nvSpPr>
          <p:cNvPr id="5" name="Text 3"/>
          <p:cNvSpPr/>
          <p:nvPr/>
        </p:nvSpPr>
        <p:spPr>
          <a:xfrm>
            <a:off x="822960" y="3977640"/>
            <a:ext cx="10972800" cy="457200"/>
          </a:xfrm>
          <a:prstGeom prst="rect">
            <a:avLst/>
          </a:prstGeom>
          <a:noFill/>
          <a:ln/>
        </p:spPr>
        <p:txBody>
          <a:bodyPr wrap="square" lIns="0" tIns="0" rIns="0" bIns="0" rtlCol="0" anchor="ctr"/>
          <a:lstStyle/>
          <a:p>
            <a:pPr marL="0" indent="0">
              <a:buNone/>
            </a:pPr>
            <a:r>
              <a:rPr lang="en-US" sz="1600" dirty="0">
                <a:solidFill>
                  <a:srgbClr val="9CB4C9"/>
                </a:solidFill>
                <a:latin typeface="Calibri Light" pitchFamily="34" charset="0"/>
                <a:ea typeface="Calibri Light" pitchFamily="34" charset="-122"/>
                <a:cs typeface="Calibri Light" pitchFamily="34" charset="-120"/>
              </a:rPr>
              <a:t>The structural threat from the measurement side — own the CFO conversation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1C7293"/>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1C7293"/>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Analytic Partners</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One of the most established MMM consultancies — a Gartner Magic Quadrant regular</a:t>
            </a:r>
            <a:endParaRPr lang="en-US" sz="1200" dirty="0"/>
          </a:p>
        </p:txBody>
      </p:sp>
      <p:sp>
        <p:nvSpPr>
          <p:cNvPr id="7" name="Shape 5"/>
          <p:cNvSpPr/>
          <p:nvPr/>
        </p:nvSpPr>
        <p:spPr>
          <a:xfrm>
            <a:off x="9875520" y="274320"/>
            <a:ext cx="2011680" cy="502920"/>
          </a:xfrm>
          <a:prstGeom prst="rect">
            <a:avLst/>
          </a:prstGeom>
          <a:solidFill>
            <a:srgbClr val="1C7293"/>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STRUCTURAL</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MMM / INCREMENTALITY  |  MEASUREMENT PURE-PLAY</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Large, established marketing mix modeling consultancy with deep CPG and Walmart-brand footprint. Prominent Gartner MQ positioning. Consulting-heavy engagement model with strong CFO and CMO relationships. Competes with DSIM when the buyer frames the problem as 'we need MMM' rather than 'we need digital shelf measurement.'</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Decades of CPG MMM experience — trusted by CMOs, CFOs, and finance teams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Industry-recognized methodology; outputs are defensible to board-level audiences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at integrating traditional media (TV, print) with digital and retail media</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Consultancy model provides dedicated analyst support and interpretation</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Slow: typical MMM engagement is 3-6 months, outputs are quarterly — DSIM is always-on</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Expensive: $100K-$500K+ per engagement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Shelf-signal integration is a weakness — they model media and promotions, not availability, content, or competitive shelf dynamics at the same granularity</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Retail-media-specific methodology (closed-loop, SKU-level) lags IAB best-practice guidance</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CATEGORY LEADER</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Gartner MQ</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Magic Quadrant recognition</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MODEL</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Consulting</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Enterprise engagements</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Enterprise CPG engagements driven by CFO or CMO who want 'proper' MMM. They win on credibility, relationships, and board-defensibility.</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Acknowledge the CFO/CMO relationship — don't try to displace the MMM partner wholesale. Position DSIM as the operational, always-on complement to their strategic MMM.</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DSIM's shelf-level granularity and speed: 'MMM tells you the quarterly picture; DSIM tells you what to do this week.'</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Lean into the IAB guidance that traditional MMM under-credits retail media — DSIM is built for the closed-loop retail-media era.</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Offer DSIM as the shelf-decomposition layer that feeds better inputs into their existing MMM — reduce the friction.</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Price positioning: DSIM is dramatically cheaper than a full MMM engagement, but produces operational recommendations MMM cannot.</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Analytic Partners</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1C7293"/>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1C7293"/>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Nielsen</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Long-established marketing measurement provider with strong brand-measurement heritage</a:t>
            </a:r>
            <a:endParaRPr lang="en-US" sz="1200" dirty="0"/>
          </a:p>
        </p:txBody>
      </p:sp>
      <p:sp>
        <p:nvSpPr>
          <p:cNvPr id="7" name="Shape 5"/>
          <p:cNvSpPr/>
          <p:nvPr/>
        </p:nvSpPr>
        <p:spPr>
          <a:xfrm>
            <a:off x="9875520" y="274320"/>
            <a:ext cx="2011680" cy="502920"/>
          </a:xfrm>
          <a:prstGeom prst="rect">
            <a:avLst/>
          </a:prstGeom>
          <a:solidFill>
            <a:srgbClr val="1C7293"/>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STRUCTURAL</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MMM / INCREMENTALITY  |  MEASUREMENT PURE-PLAY</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One of the oldest and most recognized measurement brands. MMM, audience measurement, and brand lift capabilities. Strong in traditional media measurement (TV) and increasingly active in retail media. Competes with DSIM more at the CMO conversation level than at the operational level.</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Universal name recognition; Nielsen outputs have inherent boardroom credibility</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Strong cross-media measurement (TV + digital + retail media in one frame)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Deep CPG and brand-measurement relationships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Trusted for brand equity and long-term effects — not just short-term lift</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Slow update cycles; operational recommendations lag DSIM significantly</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Implementations are complex, resource-intensive, and typically 3-6 months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 campaign/ad-set level bidding recommendations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Retail media sophistication lags specialized players; shelf-signal integration is thin</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HERITAGE</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TV + Brand</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Traditional media leader</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POSITIONING</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Strategic</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Not operational</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Large CPGs that want one measurement vendor across TV, digital, and retail. They win on strategic, cross-media depth and brand-equity measurement.</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Don't compete on strategic cross-media. Compete on operational retail-media and shelf decisions where Nielsen is weak.</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Frame DSIM as the 'what should we do this week on Walmart?' layer, versus Nielsen's 'what happened across the year?'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Use the IAB argument that traditional MMM structurally under-credits retail media — DSIM is built for that gap.</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Price and speed are your friends here — DSIM is faster and cheaper by an order of magnitude.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Position as complementary: feed shelf-level decomposition into their annual MMM as an input.</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Nielsen</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1C7293"/>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1C7293"/>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Circana (IRI + NPD)</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Syndicated POS leader with MMM and retail analytics capabilities</a:t>
            </a:r>
            <a:endParaRPr lang="en-US" sz="1200" dirty="0"/>
          </a:p>
        </p:txBody>
      </p:sp>
      <p:sp>
        <p:nvSpPr>
          <p:cNvPr id="7" name="Shape 5"/>
          <p:cNvSpPr/>
          <p:nvPr/>
        </p:nvSpPr>
        <p:spPr>
          <a:xfrm>
            <a:off x="9875520" y="274320"/>
            <a:ext cx="2011680" cy="502920"/>
          </a:xfrm>
          <a:prstGeom prst="rect">
            <a:avLst/>
          </a:prstGeom>
          <a:solidFill>
            <a:srgbClr val="1C7293"/>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STRUCTURAL</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MMM / INCREMENTALITY  |  MEASUREMENT PURE-PLAY</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Formed by the merger of IRI and NPD. Holds deep syndicated POS data relationships with most large US retailers, including rich Walmart data access. Strong MMM and retail analytics practice. Competes with DSIM when the buyer wants POS + MMM unified.</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Best-in-class syndicated POS data — the 'source of truth' for CPG performance tracking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Walmart data relationships are deep and hard for new vendors to replicate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Combined IRI + NPD scale creates category and cross-channel breadth</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Sales and Finance teams already live in Circana tools — institutional lock-in</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Heritage is descriptive (what happened) not causal at the shelf-lever level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Digital shelf and retail media measurement are weaker than specialized players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Slow update cadence for MMM work (monthly/quarterly, not real-time)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Post-merger integration still settling; unified product story is not yet mature</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POS DATA</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Walmart</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Rich syndicated access</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FORMED</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IRI + NPD</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Merger-created scale</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CPG Sales and Finance teams that live in Circana POS dashboards and want MMM natively inside that ecosystem. They win on POS incumbency.</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Concede the POS battle — Circana is irreplaceable there. Position DSIM as the digital-shelf and retail-media layer Circana cannot match.</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'Circana tells you what your sales did. Can it tell you which Walmart retail media campaign drove incremental units?' DSIM can.</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DSIM's connection to online shelf execution: content, availability, sponsored visibility, competitive pressure — none of which show up in Circana POS at the required granularity.</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the ecommerce and retail media buyer, not the sales/finance buyer Circana owns.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Offer DSIM outputs as feeds into Circana dashboards — reduce the perceived cannibalization risk.</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Circana (IRI + NPD)</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1C7293"/>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1C7293"/>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Ekimetrics</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France-based advanced analytics consultancy with retail-media-focused MMM</a:t>
            </a:r>
            <a:endParaRPr lang="en-US" sz="1200" dirty="0"/>
          </a:p>
        </p:txBody>
      </p:sp>
      <p:sp>
        <p:nvSpPr>
          <p:cNvPr id="7" name="Shape 5"/>
          <p:cNvSpPr/>
          <p:nvPr/>
        </p:nvSpPr>
        <p:spPr>
          <a:xfrm>
            <a:off x="9875520" y="274320"/>
            <a:ext cx="2011680" cy="502920"/>
          </a:xfrm>
          <a:prstGeom prst="rect">
            <a:avLst/>
          </a:prstGeom>
          <a:solidFill>
            <a:srgbClr val="1C7293"/>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MMM / INCREMENTALITY  |  MEASUREMENT PURE-PLAY</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Analytics consultancy with a strong European and increasing US CPG footprint. Has published advanced methodology on retail media incrementality using secondary sub-models to expose the causal structure of the funnel. Technically sophisticated; known for custom implementations.</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Technically sophisticated methodology on retail media incrementality — published work is some of the best in category</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Growing reputation for nuanced MMM that correctly weights retail media in the funnel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Attractive to CPG analytics teams that want bespoke modeling rather than SaaS dashboards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Less conflicted than agency-adjacent players</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Consultancy model — slow, expensive, and doesn't scale across brand portfolios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Limited support for campaign/ad-set level recommendations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 always-on product; engagements are project-based</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Smaller US presence and reference depth than Analytic Partners or Nielsen</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ORIGIN</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France</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Global CPG footprint</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MODEL</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Custom MMM</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Methodology-led</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CPG analytics or science teams that want a sophisticated custom MMM with strong retail-media treatment, and are willing to fund a consulting engagement.</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buyers who want an always-on product over a consulting engagement — speed and cost are your friends here.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Acknowledge methodology sophistication; compete on productization: DSIM is always-on, MAPE-validated, and produces operational recommendations weekly, not quarterly.</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shelf-signal coverage — Ekimetrics focuses on media structure; DSIM integrates availability, content, and competition as first-class inputs.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If the prospect likes Ekimetrics' methodology, propose a complementary structure: DSIM for the operational layer, Ekimetrics for the annual strategic model.</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Ekimetrics</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1C7293"/>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1C7293"/>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Measured / Haus / Sellforte</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Modern, product-led MMM and incrementality platforms</a:t>
            </a:r>
            <a:endParaRPr lang="en-US" sz="1200" dirty="0"/>
          </a:p>
        </p:txBody>
      </p:sp>
      <p:sp>
        <p:nvSpPr>
          <p:cNvPr id="7" name="Shape 5"/>
          <p:cNvSpPr/>
          <p:nvPr/>
        </p:nvSpPr>
        <p:spPr>
          <a:xfrm>
            <a:off x="9875520" y="274320"/>
            <a:ext cx="2011680" cy="502920"/>
          </a:xfrm>
          <a:prstGeom prst="rect">
            <a:avLst/>
          </a:prstGeom>
          <a:solidFill>
            <a:srgbClr val="1C7293"/>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MEDIUM</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MMM / INCREMENTALITY  |  MEASUREMENT PURE-PLAY</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 cohort of modern MMM / incrementality platforms that are productizing what was historically consulting work. Measured integrates geo-lift and conversion-lift tests into weekly-refresh MMM. Haus offers 'Causal MMM' rooted in incrementality experiments. Sellforte is purpose-built for retail and ecommerce with campaign-level ROI.</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Modern, faster MMM — weekly insights vs. quarterly consulting deliverables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Built for the privacy-first, cookie-deprecated world — strong CMO narrative</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Combine experimentation (geo-lift, ghost bids) with historical modeling — methodologically strong</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Appealing to digital-native CPG and DTC brands that Analytic Partners and Nielsen don't serve well</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Media-first worldview — shelf signals (availability, content, competition) are inputs at best, not first-class levers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Retail media measurement is strong, but in-store shelf and digital shelf are less developed</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Typically national-level — no store-cluster or retailer-location granularity</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Smaller enterprise CPG reference bases than Analytic Partners</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TIME TO VALUE</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4–6 wks</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vs. traditional 3–6 months</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POSITIONING</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Product-led</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Weekly refresh cadence</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Digital-native and progressive CPG brands that want modern MMM with weekly refresh and incrementality tests. They win on product speed and methodology modernity.</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Acknowledge that they have strong media incrementality. Compete on shelf: DSIM models availability, content, pricing, and competition as first-class levers, not just as control variables.</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DataWeave's shelf-data moat: broad, reliable, normalized across retailers — a foundation they cannot easily replicate.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Press on store-cluster localization: Measured, Haus, and Sellforte typically work at national or DMA level; DSIM works at store cluster.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Propose complementary positioning: DSIM decomposes shelf performance; they validate media incrementality — both feed a complete picture.</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Measured / Haus / Sellforte</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2560320"/>
            <a:ext cx="365760" cy="1737360"/>
          </a:xfrm>
          <a:prstGeom prst="rect">
            <a:avLst/>
          </a:prstGeom>
          <a:solidFill>
            <a:srgbClr val="64748B"/>
          </a:solidFill>
          <a:ln/>
        </p:spPr>
        <p:txBody>
          <a:bodyPr/>
          <a:lstStyle/>
          <a:p>
            <a:endParaRPr lang="en-US"/>
          </a:p>
        </p:txBody>
      </p:sp>
      <p:sp>
        <p:nvSpPr>
          <p:cNvPr id="3" name="Text 1"/>
          <p:cNvSpPr/>
          <p:nvPr/>
        </p:nvSpPr>
        <p:spPr>
          <a:xfrm>
            <a:off x="822960" y="2651760"/>
            <a:ext cx="10972800" cy="274320"/>
          </a:xfrm>
          <a:prstGeom prst="rect">
            <a:avLst/>
          </a:prstGeom>
          <a:noFill/>
          <a:ln/>
        </p:spPr>
        <p:txBody>
          <a:bodyPr wrap="square" lIns="0" tIns="0" rIns="0" bIns="0" rtlCol="0" anchor="ctr"/>
          <a:lstStyle/>
          <a:p>
            <a:pPr marL="0" indent="0">
              <a:buNone/>
            </a:pPr>
            <a:r>
              <a:rPr lang="en-US" sz="1200" b="1" kern="0" spc="600" dirty="0">
                <a:solidFill>
                  <a:srgbClr val="64748B"/>
                </a:solidFill>
                <a:latin typeface="Calibri" pitchFamily="34" charset="0"/>
                <a:ea typeface="Calibri" pitchFamily="34" charset="-122"/>
                <a:cs typeface="Calibri" pitchFamily="34" charset="-120"/>
              </a:rPr>
              <a:t>SECTION</a:t>
            </a:r>
            <a:endParaRPr lang="en-US" sz="1200" dirty="0"/>
          </a:p>
        </p:txBody>
      </p:sp>
      <p:sp>
        <p:nvSpPr>
          <p:cNvPr id="4" name="Text 2"/>
          <p:cNvSpPr/>
          <p:nvPr/>
        </p:nvSpPr>
        <p:spPr>
          <a:xfrm>
            <a:off x="822960" y="2971800"/>
            <a:ext cx="10972800" cy="9144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The Retailer In-House Threat</a:t>
            </a:r>
            <a:endParaRPr lang="en-US" sz="4800" dirty="0"/>
          </a:p>
        </p:txBody>
      </p:sp>
      <p:sp>
        <p:nvSpPr>
          <p:cNvPr id="5" name="Text 3"/>
          <p:cNvSpPr/>
          <p:nvPr/>
        </p:nvSpPr>
        <p:spPr>
          <a:xfrm>
            <a:off x="822960" y="3977640"/>
            <a:ext cx="10972800" cy="457200"/>
          </a:xfrm>
          <a:prstGeom prst="rect">
            <a:avLst/>
          </a:prstGeom>
          <a:noFill/>
          <a:ln/>
        </p:spPr>
        <p:txBody>
          <a:bodyPr wrap="square" lIns="0" tIns="0" rIns="0" bIns="0" rtlCol="0" anchor="ctr"/>
          <a:lstStyle/>
          <a:p>
            <a:pPr marL="0" indent="0">
              <a:buNone/>
            </a:pPr>
            <a:r>
              <a:rPr lang="en-US" sz="1600" dirty="0">
                <a:solidFill>
                  <a:srgbClr val="9CB4C9"/>
                </a:solidFill>
                <a:latin typeface="Calibri Light" pitchFamily="34" charset="0"/>
                <a:ea typeface="Calibri Light" pitchFamily="34" charset="-122"/>
                <a:cs typeface="Calibri Light" pitchFamily="34" charset="-120"/>
              </a:rPr>
              <a:t>When Walmart itself is the competitor</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D1B2A"/>
          </a:solidFill>
          <a:ln/>
        </p:spPr>
        <p:txBody>
          <a:bodyPr/>
          <a:lstStyle/>
          <a:p>
            <a:endParaRPr lang="en-US"/>
          </a:p>
        </p:txBody>
      </p:sp>
      <p:sp>
        <p:nvSpPr>
          <p:cNvPr id="3" name="Shape 1"/>
          <p:cNvSpPr/>
          <p:nvPr/>
        </p:nvSpPr>
        <p:spPr>
          <a:xfrm>
            <a:off x="0" y="0"/>
            <a:ext cx="182880" cy="1051560"/>
          </a:xfrm>
          <a:prstGeom prst="rect">
            <a:avLst/>
          </a:prstGeom>
          <a:solidFill>
            <a:srgbClr val="64748B"/>
          </a:solidFill>
          <a:ln/>
        </p:spPr>
        <p:txBody>
          <a:bodyPr/>
          <a:lstStyle/>
          <a:p>
            <a:endParaRPr lang="en-US"/>
          </a:p>
        </p:txBody>
      </p:sp>
      <p:sp>
        <p:nvSpPr>
          <p:cNvPr id="4" name="Text 2"/>
          <p:cNvSpPr/>
          <p:nvPr/>
        </p:nvSpPr>
        <p:spPr>
          <a:xfrm>
            <a:off x="457200" y="137160"/>
            <a:ext cx="2743200" cy="228600"/>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BATTLE CARD</a:t>
            </a:r>
            <a:endParaRPr lang="en-US" sz="1000" dirty="0"/>
          </a:p>
        </p:txBody>
      </p:sp>
      <p:sp>
        <p:nvSpPr>
          <p:cNvPr id="5" name="Text 3"/>
          <p:cNvSpPr/>
          <p:nvPr/>
        </p:nvSpPr>
        <p:spPr>
          <a:xfrm>
            <a:off x="457200" y="365760"/>
            <a:ext cx="731520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Walmart Connect (in-house)</a:t>
            </a:r>
            <a:endParaRPr lang="en-US" sz="3000" dirty="0"/>
          </a:p>
        </p:txBody>
      </p:sp>
      <p:sp>
        <p:nvSpPr>
          <p:cNvPr id="6" name="Text 4"/>
          <p:cNvSpPr/>
          <p:nvPr/>
        </p:nvSpPr>
        <p:spPr>
          <a:xfrm>
            <a:off x="457200" y="822960"/>
            <a:ext cx="7315200" cy="201168"/>
          </a:xfrm>
          <a:prstGeom prst="rect">
            <a:avLst/>
          </a:prstGeom>
          <a:noFill/>
          <a:ln/>
        </p:spPr>
        <p:txBody>
          <a:bodyPr wrap="square" lIns="0" tIns="0" rIns="0" bIns="0" rtlCol="0" anchor="ctr"/>
          <a:lstStyle/>
          <a:p>
            <a:pPr marL="0" indent="0">
              <a:buNone/>
            </a:pPr>
            <a:r>
              <a:rPr lang="en-US" sz="1200" i="1" dirty="0">
                <a:solidFill>
                  <a:srgbClr val="9CB4C9"/>
                </a:solidFill>
                <a:latin typeface="Calibri" pitchFamily="34" charset="0"/>
                <a:ea typeface="Calibri" pitchFamily="34" charset="-122"/>
                <a:cs typeface="Calibri" pitchFamily="34" charset="-120"/>
              </a:rPr>
              <a:t>First-party incrementality measurement directly from Walmart — free, deterministic, closed-loop</a:t>
            </a:r>
            <a:endParaRPr lang="en-US" sz="1200" dirty="0"/>
          </a:p>
        </p:txBody>
      </p:sp>
      <p:sp>
        <p:nvSpPr>
          <p:cNvPr id="7" name="Shape 5"/>
          <p:cNvSpPr/>
          <p:nvPr/>
        </p:nvSpPr>
        <p:spPr>
          <a:xfrm>
            <a:off x="9875520" y="274320"/>
            <a:ext cx="2011680" cy="502920"/>
          </a:xfrm>
          <a:prstGeom prst="rect">
            <a:avLst/>
          </a:prstGeom>
          <a:solidFill>
            <a:srgbClr val="64748B"/>
          </a:solidFill>
          <a:ln/>
        </p:spPr>
        <p:txBody>
          <a:bodyPr/>
          <a:lstStyle/>
          <a:p>
            <a:endParaRPr lang="en-US"/>
          </a:p>
        </p:txBody>
      </p:sp>
      <p:sp>
        <p:nvSpPr>
          <p:cNvPr id="8" name="Text 6"/>
          <p:cNvSpPr/>
          <p:nvPr/>
        </p:nvSpPr>
        <p:spPr>
          <a:xfrm>
            <a:off x="9875520" y="274320"/>
            <a:ext cx="2011680" cy="50292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SPECIAL CASE</a:t>
            </a:r>
            <a:endParaRPr lang="en-US" sz="1200" dirty="0"/>
          </a:p>
        </p:txBody>
      </p:sp>
      <p:sp>
        <p:nvSpPr>
          <p:cNvPr id="9" name="Text 7"/>
          <p:cNvSpPr/>
          <p:nvPr/>
        </p:nvSpPr>
        <p:spPr>
          <a:xfrm>
            <a:off x="457200" y="1280160"/>
            <a:ext cx="5623560" cy="228600"/>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RETAILER IN-HOUSE  |  UNIQUE THREAT</a:t>
            </a:r>
            <a:endParaRPr lang="en-US" sz="900" dirty="0"/>
          </a:p>
        </p:txBody>
      </p:sp>
      <p:sp>
        <p:nvSpPr>
          <p:cNvPr id="10" name="Shape 8"/>
          <p:cNvSpPr/>
          <p:nvPr/>
        </p:nvSpPr>
        <p:spPr>
          <a:xfrm>
            <a:off x="457200" y="1554480"/>
            <a:ext cx="5623560" cy="1005840"/>
          </a:xfrm>
          <a:prstGeom prst="rect">
            <a:avLst/>
          </a:prstGeom>
          <a:solidFill>
            <a:srgbClr val="F7F9FB"/>
          </a:solidFill>
          <a:ln w="6350">
            <a:solidFill>
              <a:srgbClr val="E2E8F0"/>
            </a:solidFill>
            <a:prstDash val="solid"/>
          </a:ln>
        </p:spPr>
        <p:txBody>
          <a:bodyPr/>
          <a:lstStyle/>
          <a:p>
            <a:endParaRPr lang="en-US"/>
          </a:p>
        </p:txBody>
      </p:sp>
      <p:sp>
        <p:nvSpPr>
          <p:cNvPr id="11" name="Text 9"/>
          <p:cNvSpPr/>
          <p:nvPr/>
        </p:nvSpPr>
        <p:spPr>
          <a:xfrm>
            <a:off x="594360" y="1645920"/>
            <a:ext cx="5349240" cy="201168"/>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OVERVIEW</a:t>
            </a:r>
            <a:endParaRPr lang="en-US" sz="900" dirty="0"/>
          </a:p>
        </p:txBody>
      </p:sp>
      <p:sp>
        <p:nvSpPr>
          <p:cNvPr id="12" name="Text 10"/>
          <p:cNvSpPr/>
          <p:nvPr/>
        </p:nvSpPr>
        <p:spPr>
          <a:xfrm>
            <a:off x="594360" y="1847088"/>
            <a:ext cx="5349240" cy="7315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 2025, Walmart Connect launched Search Incrementality measurement for Sponsored Search, using Walmart first-party retail data and test-and-control methodologies. Used by Clorox and Mondelēz (53% YoY ad-attributed sales lift, 29% incremental ROI lift). Also offers AdMix Modeling. For the narrow 'how incremental is my Walmart media?' question, this is free and deterministic.</a:t>
            </a:r>
            <a:endParaRPr lang="en-US" sz="1050" dirty="0"/>
          </a:p>
        </p:txBody>
      </p:sp>
      <p:sp>
        <p:nvSpPr>
          <p:cNvPr id="13" name="Text 11"/>
          <p:cNvSpPr/>
          <p:nvPr/>
        </p:nvSpPr>
        <p:spPr>
          <a:xfrm>
            <a:off x="457200" y="2697480"/>
            <a:ext cx="5623560" cy="228600"/>
          </a:xfrm>
          <a:prstGeom prst="rect">
            <a:avLst/>
          </a:prstGeom>
          <a:noFill/>
          <a:ln/>
        </p:spPr>
        <p:txBody>
          <a:bodyPr wrap="square" lIns="0" tIns="0" rIns="0" bIns="0" rtlCol="0" anchor="ctr"/>
          <a:lstStyle/>
          <a:p>
            <a:pPr marL="0" indent="0">
              <a:buNone/>
            </a:pPr>
            <a:r>
              <a:rPr lang="en-US" sz="1000" b="1" kern="0" spc="200" dirty="0">
                <a:solidFill>
                  <a:srgbClr val="4A9B6E"/>
                </a:solidFill>
                <a:latin typeface="Calibri" pitchFamily="34" charset="0"/>
                <a:ea typeface="Calibri" pitchFamily="34" charset="-122"/>
                <a:cs typeface="Calibri" pitchFamily="34" charset="-120"/>
              </a:rPr>
              <a:t>✓  STRENGTHS</a:t>
            </a:r>
            <a:endParaRPr lang="en-US" sz="1000" dirty="0"/>
          </a:p>
        </p:txBody>
      </p:sp>
      <p:sp>
        <p:nvSpPr>
          <p:cNvPr id="14" name="Text 12"/>
          <p:cNvSpPr/>
          <p:nvPr/>
        </p:nvSpPr>
        <p:spPr>
          <a:xfrm>
            <a:off x="457200" y="292608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Deterministic first-party data — no modeling assumptions required</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Free to the brand as part of Walmart Connect relationship</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Named reference brands (Clorox, Mondelēz) with published lift numbers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Walmart's direct incentive to help brands prove ROI on Walmart spend</a:t>
            </a:r>
            <a:endParaRPr lang="en-US" sz="1050" dirty="0"/>
          </a:p>
        </p:txBody>
      </p:sp>
      <p:sp>
        <p:nvSpPr>
          <p:cNvPr id="15" name="Text 13"/>
          <p:cNvSpPr/>
          <p:nvPr/>
        </p:nvSpPr>
        <p:spPr>
          <a:xfrm>
            <a:off x="457200" y="4480560"/>
            <a:ext cx="5623560" cy="228600"/>
          </a:xfrm>
          <a:prstGeom prst="rect">
            <a:avLst/>
          </a:prstGeom>
          <a:noFill/>
          <a:ln/>
        </p:spPr>
        <p:txBody>
          <a:bodyPr wrap="square" lIns="0" tIns="0" rIns="0" bIns="0" rtlCol="0" anchor="ctr"/>
          <a:lstStyle/>
          <a:p>
            <a:pPr marL="0" indent="0">
              <a:buNone/>
            </a:pPr>
            <a:r>
              <a:rPr lang="en-US" sz="1000" b="1" kern="0" spc="200" dirty="0">
                <a:solidFill>
                  <a:srgbClr val="C1272D"/>
                </a:solidFill>
                <a:latin typeface="Calibri" pitchFamily="34" charset="0"/>
                <a:ea typeface="Calibri" pitchFamily="34" charset="-122"/>
                <a:cs typeface="Calibri" pitchFamily="34" charset="-120"/>
              </a:rPr>
              <a:t>✗  WEAKNESSES / GAPS</a:t>
            </a:r>
            <a:endParaRPr lang="en-US" sz="1000" dirty="0"/>
          </a:p>
        </p:txBody>
      </p:sp>
      <p:sp>
        <p:nvSpPr>
          <p:cNvPr id="16" name="Text 14"/>
          <p:cNvSpPr/>
          <p:nvPr/>
        </p:nvSpPr>
        <p:spPr>
          <a:xfrm>
            <a:off x="457200" y="4709160"/>
            <a:ext cx="562356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Only covers Walmart Connect paid media — not shelf levers, not organic performance, not competitive dynamics</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Narrow: Sponsored Search first; other ad products measured differently or not at all</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Walmart has an inherent incentive to show Walmart Connect looks incremental — no independent check</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 cross-retailer view; brand teams still need a separate measurement layer for Amazon, Target, Instacart</a:t>
            </a:r>
            <a:endParaRPr lang="en-US" sz="1050" dirty="0"/>
          </a:p>
          <a:p>
            <a:pPr marL="342900" indent="-342900">
              <a:spcAft>
                <a:spcPts val="300"/>
              </a:spcAft>
              <a:buSzPct val="100000"/>
              <a:buChar char="▪"/>
            </a:pPr>
            <a:r>
              <a:rPr lang="en-US" sz="1050" dirty="0">
                <a:solidFill>
                  <a:srgbClr val="1E293B"/>
                </a:solidFill>
                <a:latin typeface="Calibri" pitchFamily="34" charset="0"/>
                <a:ea typeface="Calibri" pitchFamily="34" charset="-122"/>
                <a:cs typeface="Calibri" pitchFamily="34" charset="-120"/>
              </a:rPr>
              <a:t>No shelf-decomposition — doesn't tell you how availability, content, pricing, or competition interacted with the media lift</a:t>
            </a:r>
            <a:endParaRPr lang="en-US" sz="1050" dirty="0"/>
          </a:p>
        </p:txBody>
      </p:sp>
      <p:sp>
        <p:nvSpPr>
          <p:cNvPr id="17" name="Shape 15"/>
          <p:cNvSpPr/>
          <p:nvPr/>
        </p:nvSpPr>
        <p:spPr>
          <a:xfrm>
            <a:off x="6263640" y="1280160"/>
            <a:ext cx="2720340" cy="914400"/>
          </a:xfrm>
          <a:prstGeom prst="rect">
            <a:avLst/>
          </a:prstGeom>
          <a:solidFill>
            <a:srgbClr val="065A82"/>
          </a:solidFill>
          <a:ln/>
        </p:spPr>
        <p:txBody>
          <a:bodyPr/>
          <a:lstStyle/>
          <a:p>
            <a:endParaRPr lang="en-US"/>
          </a:p>
        </p:txBody>
      </p:sp>
      <p:sp>
        <p:nvSpPr>
          <p:cNvPr id="18" name="Text 16"/>
          <p:cNvSpPr/>
          <p:nvPr/>
        </p:nvSpPr>
        <p:spPr>
          <a:xfrm>
            <a:off x="6400800" y="1371600"/>
            <a:ext cx="2446020" cy="201168"/>
          </a:xfrm>
          <a:prstGeom prst="rect">
            <a:avLst/>
          </a:prstGeom>
          <a:noFill/>
          <a:ln/>
        </p:spPr>
        <p:txBody>
          <a:bodyPr wrap="square" lIns="0" tIns="0" rIns="0" bIns="0" rtlCol="0" anchor="ctr"/>
          <a:lstStyle/>
          <a:p>
            <a:pPr marL="0" indent="0">
              <a:buNone/>
            </a:pPr>
            <a:r>
              <a:rPr lang="en-US" sz="900" b="1" kern="0" spc="200" dirty="0">
                <a:solidFill>
                  <a:srgbClr val="9CB4C9"/>
                </a:solidFill>
                <a:latin typeface="Calibri" pitchFamily="34" charset="0"/>
                <a:ea typeface="Calibri" pitchFamily="34" charset="-122"/>
                <a:cs typeface="Calibri" pitchFamily="34" charset="-120"/>
              </a:rPr>
              <a:t>COST TO BRAND</a:t>
            </a:r>
            <a:endParaRPr lang="en-US" sz="900" dirty="0"/>
          </a:p>
        </p:txBody>
      </p:sp>
      <p:sp>
        <p:nvSpPr>
          <p:cNvPr id="19" name="Text 17"/>
          <p:cNvSpPr/>
          <p:nvPr/>
        </p:nvSpPr>
        <p:spPr>
          <a:xfrm>
            <a:off x="640080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Free</a:t>
            </a:r>
            <a:endParaRPr lang="en-US" sz="2000" dirty="0"/>
          </a:p>
        </p:txBody>
      </p:sp>
      <p:sp>
        <p:nvSpPr>
          <p:cNvPr id="20" name="Text 18"/>
          <p:cNvSpPr/>
          <p:nvPr/>
        </p:nvSpPr>
        <p:spPr>
          <a:xfrm>
            <a:off x="6400800" y="1965960"/>
            <a:ext cx="2446020" cy="201168"/>
          </a:xfrm>
          <a:prstGeom prst="rect">
            <a:avLst/>
          </a:prstGeom>
          <a:noFill/>
          <a:ln/>
        </p:spPr>
        <p:txBody>
          <a:bodyPr wrap="square" lIns="0" tIns="0" rIns="0" bIns="0" rtlCol="0" anchor="ctr"/>
          <a:lstStyle/>
          <a:p>
            <a:pPr marL="0" indent="0">
              <a:buNone/>
            </a:pPr>
            <a:r>
              <a:rPr lang="en-US" sz="900" dirty="0">
                <a:solidFill>
                  <a:srgbClr val="CBD5E1"/>
                </a:solidFill>
                <a:latin typeface="Calibri" pitchFamily="34" charset="0"/>
                <a:ea typeface="Calibri" pitchFamily="34" charset="-122"/>
                <a:cs typeface="Calibri" pitchFamily="34" charset="-120"/>
              </a:rPr>
              <a:t>Bundled with ad spend</a:t>
            </a:r>
            <a:endParaRPr lang="en-US" sz="900" dirty="0"/>
          </a:p>
        </p:txBody>
      </p:sp>
      <p:sp>
        <p:nvSpPr>
          <p:cNvPr id="21" name="Shape 19"/>
          <p:cNvSpPr/>
          <p:nvPr/>
        </p:nvSpPr>
        <p:spPr>
          <a:xfrm>
            <a:off x="9166860" y="1280160"/>
            <a:ext cx="2720340" cy="914400"/>
          </a:xfrm>
          <a:prstGeom prst="rect">
            <a:avLst/>
          </a:prstGeom>
          <a:solidFill>
            <a:srgbClr val="1C7293"/>
          </a:solidFill>
          <a:ln/>
        </p:spPr>
        <p:txBody>
          <a:bodyPr/>
          <a:lstStyle/>
          <a:p>
            <a:endParaRPr lang="en-US"/>
          </a:p>
        </p:txBody>
      </p:sp>
      <p:sp>
        <p:nvSpPr>
          <p:cNvPr id="22" name="Text 20"/>
          <p:cNvSpPr/>
          <p:nvPr/>
        </p:nvSpPr>
        <p:spPr>
          <a:xfrm>
            <a:off x="9304020" y="1371600"/>
            <a:ext cx="2446020" cy="201168"/>
          </a:xfrm>
          <a:prstGeom prst="rect">
            <a:avLst/>
          </a:prstGeom>
          <a:noFill/>
          <a:ln/>
        </p:spPr>
        <p:txBody>
          <a:bodyPr wrap="square" lIns="0" tIns="0" rIns="0" bIns="0" rtlCol="0" anchor="ctr"/>
          <a:lstStyle/>
          <a:p>
            <a:pPr marL="0" indent="0">
              <a:buNone/>
            </a:pPr>
            <a:r>
              <a:rPr lang="en-US" sz="900" b="1" kern="0" spc="200" dirty="0">
                <a:solidFill>
                  <a:srgbClr val="BAE6FD"/>
                </a:solidFill>
                <a:latin typeface="Calibri" pitchFamily="34" charset="0"/>
                <a:ea typeface="Calibri" pitchFamily="34" charset="-122"/>
                <a:cs typeface="Calibri" pitchFamily="34" charset="-120"/>
              </a:rPr>
              <a:t>DATA SOURCE</a:t>
            </a:r>
            <a:endParaRPr lang="en-US" sz="900" dirty="0"/>
          </a:p>
        </p:txBody>
      </p:sp>
      <p:sp>
        <p:nvSpPr>
          <p:cNvPr id="23" name="Text 21"/>
          <p:cNvSpPr/>
          <p:nvPr/>
        </p:nvSpPr>
        <p:spPr>
          <a:xfrm>
            <a:off x="9304020" y="1572768"/>
            <a:ext cx="244602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First-party</a:t>
            </a:r>
            <a:endParaRPr lang="en-US" sz="2000" dirty="0"/>
          </a:p>
        </p:txBody>
      </p:sp>
      <p:sp>
        <p:nvSpPr>
          <p:cNvPr id="24" name="Text 22"/>
          <p:cNvSpPr/>
          <p:nvPr/>
        </p:nvSpPr>
        <p:spPr>
          <a:xfrm>
            <a:off x="9304020" y="1965960"/>
            <a:ext cx="2446020" cy="201168"/>
          </a:xfrm>
          <a:prstGeom prst="rect">
            <a:avLst/>
          </a:prstGeom>
          <a:noFill/>
          <a:ln/>
        </p:spPr>
        <p:txBody>
          <a:bodyPr wrap="square" lIns="0" tIns="0" rIns="0" bIns="0" rtlCol="0" anchor="ctr"/>
          <a:lstStyle/>
          <a:p>
            <a:pPr marL="0" indent="0">
              <a:buNone/>
            </a:pPr>
            <a:r>
              <a:rPr lang="en-US" sz="900" dirty="0">
                <a:solidFill>
                  <a:srgbClr val="E0F2FE"/>
                </a:solidFill>
                <a:latin typeface="Calibri" pitchFamily="34" charset="0"/>
                <a:ea typeface="Calibri" pitchFamily="34" charset="-122"/>
                <a:cs typeface="Calibri" pitchFamily="34" charset="-120"/>
              </a:rPr>
              <a:t>Walmart POS + ad log</a:t>
            </a:r>
            <a:endParaRPr lang="en-US" sz="900" dirty="0"/>
          </a:p>
        </p:txBody>
      </p:sp>
      <p:sp>
        <p:nvSpPr>
          <p:cNvPr id="25" name="Text 23"/>
          <p:cNvSpPr/>
          <p:nvPr/>
        </p:nvSpPr>
        <p:spPr>
          <a:xfrm>
            <a:off x="6263640" y="2377440"/>
            <a:ext cx="5623560" cy="228600"/>
          </a:xfrm>
          <a:prstGeom prst="rect">
            <a:avLst/>
          </a:prstGeom>
          <a:noFill/>
          <a:ln/>
        </p:spPr>
        <p:txBody>
          <a:bodyPr wrap="square" lIns="0" tIns="0" rIns="0" bIns="0" rtlCol="0" anchor="ctr"/>
          <a:lstStyle/>
          <a:p>
            <a:pPr marL="0" indent="0">
              <a:buNone/>
            </a:pPr>
            <a:r>
              <a:rPr lang="en-US" sz="1000" b="1" kern="0" spc="200" dirty="0">
                <a:solidFill>
                  <a:srgbClr val="F18F01"/>
                </a:solidFill>
                <a:latin typeface="Calibri" pitchFamily="34" charset="0"/>
                <a:ea typeface="Calibri" pitchFamily="34" charset="-122"/>
                <a:cs typeface="Calibri" pitchFamily="34" charset="-120"/>
              </a:rPr>
              <a:t>WHERE THEY WIN DEALS</a:t>
            </a:r>
            <a:endParaRPr lang="en-US" sz="1000" dirty="0"/>
          </a:p>
        </p:txBody>
      </p:sp>
      <p:sp>
        <p:nvSpPr>
          <p:cNvPr id="26" name="Text 24"/>
          <p:cNvSpPr/>
          <p:nvPr/>
        </p:nvSpPr>
        <p:spPr>
          <a:xfrm>
            <a:off x="6263640" y="2606040"/>
            <a:ext cx="5623560" cy="1005840"/>
          </a:xfrm>
          <a:prstGeom prst="rect">
            <a:avLst/>
          </a:prstGeom>
          <a:noFill/>
          <a:ln/>
        </p:spPr>
        <p:txBody>
          <a:bodyPr wrap="square" lIns="0" tIns="0" rIns="0" bIns="0" rtlCol="0" anchor="ctr"/>
          <a:lstStyle/>
          <a:p>
            <a:pPr marL="0" indent="0">
              <a:buNone/>
            </a:pPr>
            <a:r>
              <a:rPr lang="en-US" sz="1050" i="1" dirty="0">
                <a:solidFill>
                  <a:srgbClr val="1E293B"/>
                </a:solidFill>
                <a:latin typeface="Calibri" pitchFamily="34" charset="0"/>
                <a:ea typeface="Calibri" pitchFamily="34" charset="-122"/>
                <a:cs typeface="Calibri" pitchFamily="34" charset="-120"/>
              </a:rPr>
              <a:t>Brand media teams asking 'was my Walmart Connect Sponsored Search spend incremental?' For that specific, narrow question, Walmart's answer is authoritative and free.</a:t>
            </a:r>
            <a:endParaRPr lang="en-US" sz="1050" dirty="0"/>
          </a:p>
        </p:txBody>
      </p:sp>
      <p:sp>
        <p:nvSpPr>
          <p:cNvPr id="27" name="Shape 25"/>
          <p:cNvSpPr/>
          <p:nvPr/>
        </p:nvSpPr>
        <p:spPr>
          <a:xfrm>
            <a:off x="6263640" y="3703320"/>
            <a:ext cx="5623560" cy="2880360"/>
          </a:xfrm>
          <a:prstGeom prst="rect">
            <a:avLst/>
          </a:prstGeom>
          <a:solidFill>
            <a:srgbClr val="0D1B2A"/>
          </a:solidFill>
          <a:ln/>
        </p:spPr>
        <p:txBody>
          <a:bodyPr/>
          <a:lstStyle/>
          <a:p>
            <a:endParaRPr lang="en-US"/>
          </a:p>
        </p:txBody>
      </p:sp>
      <p:sp>
        <p:nvSpPr>
          <p:cNvPr id="28" name="Shape 26"/>
          <p:cNvSpPr/>
          <p:nvPr/>
        </p:nvSpPr>
        <p:spPr>
          <a:xfrm>
            <a:off x="6263640" y="3703320"/>
            <a:ext cx="73152" cy="2880360"/>
          </a:xfrm>
          <a:prstGeom prst="rect">
            <a:avLst/>
          </a:prstGeom>
          <a:solidFill>
            <a:srgbClr val="F18F01"/>
          </a:solidFill>
          <a:ln/>
        </p:spPr>
        <p:txBody>
          <a:bodyPr/>
          <a:lstStyle/>
          <a:p>
            <a:endParaRPr lang="en-US"/>
          </a:p>
        </p:txBody>
      </p:sp>
      <p:sp>
        <p:nvSpPr>
          <p:cNvPr id="29" name="Text 27"/>
          <p:cNvSpPr/>
          <p:nvPr/>
        </p:nvSpPr>
        <p:spPr>
          <a:xfrm>
            <a:off x="6446520" y="3840480"/>
            <a:ext cx="5349240" cy="228600"/>
          </a:xfrm>
          <a:prstGeom prst="rect">
            <a:avLst/>
          </a:prstGeom>
          <a:noFill/>
          <a:ln/>
        </p:spPr>
        <p:txBody>
          <a:bodyPr wrap="square" lIns="0" tIns="0" rIns="0" bIns="0" rtlCol="0" anchor="ctr"/>
          <a:lstStyle/>
          <a:p>
            <a:pPr marL="0" indent="0">
              <a:buNone/>
            </a:pPr>
            <a:r>
              <a:rPr lang="en-US" sz="1000" b="1" kern="0" spc="300" dirty="0">
                <a:solidFill>
                  <a:srgbClr val="F18F01"/>
                </a:solidFill>
                <a:latin typeface="Calibri" pitchFamily="34" charset="0"/>
                <a:ea typeface="Calibri" pitchFamily="34" charset="-122"/>
                <a:cs typeface="Calibri" pitchFamily="34" charset="-120"/>
              </a:rPr>
              <a:t>DATAWEAVE PLAYBOOK</a:t>
            </a:r>
            <a:endParaRPr lang="en-US" sz="1000" dirty="0"/>
          </a:p>
        </p:txBody>
      </p:sp>
      <p:sp>
        <p:nvSpPr>
          <p:cNvPr id="30" name="Text 28"/>
          <p:cNvSpPr/>
          <p:nvPr/>
        </p:nvSpPr>
        <p:spPr>
          <a:xfrm>
            <a:off x="6446520" y="4069080"/>
            <a:ext cx="5349240" cy="228600"/>
          </a:xfrm>
          <a:prstGeom prst="rect">
            <a:avLst/>
          </a:prstGeom>
          <a:noFill/>
          <a:ln/>
        </p:spPr>
        <p:txBody>
          <a:bodyPr wrap="square" lIns="0" tIns="0" rIns="0" bIns="0" rtlCol="0" anchor="ctr"/>
          <a:lstStyle/>
          <a:p>
            <a:pPr marL="0" indent="0">
              <a:buNone/>
            </a:pPr>
            <a:r>
              <a:rPr lang="en-US" sz="1000" i="1" dirty="0">
                <a:solidFill>
                  <a:srgbClr val="9CB4C9"/>
                </a:solidFill>
                <a:latin typeface="Calibri" pitchFamily="34" charset="0"/>
                <a:ea typeface="Calibri" pitchFamily="34" charset="-122"/>
                <a:cs typeface="Calibri" pitchFamily="34" charset="-120"/>
              </a:rPr>
              <a:t>How to position DSIM against them</a:t>
            </a:r>
            <a:endParaRPr lang="en-US" sz="1000" dirty="0"/>
          </a:p>
        </p:txBody>
      </p:sp>
      <p:sp>
        <p:nvSpPr>
          <p:cNvPr id="31" name="Text 29"/>
          <p:cNvSpPr/>
          <p:nvPr/>
        </p:nvSpPr>
        <p:spPr>
          <a:xfrm>
            <a:off x="6446520" y="4389120"/>
            <a:ext cx="5349240" cy="210312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Do not fight Walmart Connect on Sponsored Search incrementality specifically — concede that measurement cleanly. Position DSIM as the broader shelf-and-portfolio view Walmart cannot provide.</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Emphasize that Walmart's data is retailer-reported and has an inherent bias; DSIM provides an independent, brand-controlled measurement layer.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Lean into cross-lever decomposition: 'Walmart Connect tells you media was incremental. DSIM tells you whether you paid too much because availability was the real constraint.'</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Cross-retailer story: brands still need a consistent framework across Walmart, Amazon, Target, Instacart — DSIM offers that; Walmart Connect does not.</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Target RGM, Finance, and Analytics buyers who need a defensible, independent view — not just the Walmart media-ops buyer.</a:t>
            </a:r>
            <a:endParaRPr lang="en-US" sz="1000" dirty="0"/>
          </a:p>
          <a:p>
            <a:pPr marL="342900" indent="-342900">
              <a:spcAft>
                <a:spcPts val="300"/>
              </a:spcAft>
              <a:buSzPct val="100000"/>
              <a:buChar char="▸"/>
            </a:pPr>
            <a:r>
              <a:rPr lang="en-US" sz="1000" dirty="0">
                <a:solidFill>
                  <a:srgbClr val="E2E8F0"/>
                </a:solidFill>
                <a:latin typeface="Calibri" pitchFamily="34" charset="0"/>
                <a:ea typeface="Calibri" pitchFamily="34" charset="-122"/>
                <a:cs typeface="Calibri" pitchFamily="34" charset="-120"/>
              </a:rPr>
              <a:t>Ask: 'If Walmart says your spend was incremental, can you bring that same number to your CFO with confidence — or do you want a second source?'</a:t>
            </a:r>
            <a:endParaRPr lang="en-US" sz="1000" dirty="0"/>
          </a:p>
        </p:txBody>
      </p:sp>
      <p:sp>
        <p:nvSpPr>
          <p:cNvPr id="32" name="Text 30"/>
          <p:cNvSpPr/>
          <p:nvPr/>
        </p:nvSpPr>
        <p:spPr>
          <a:xfrm>
            <a:off x="457200" y="653796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Walmart Connect (in-house)</a:t>
            </a:r>
            <a:endParaRPr lang="en-US" sz="900" dirty="0"/>
          </a:p>
        </p:txBody>
      </p:sp>
      <p:sp>
        <p:nvSpPr>
          <p:cNvPr id="33" name="Text 31"/>
          <p:cNvSpPr/>
          <p:nvPr/>
        </p:nvSpPr>
        <p:spPr>
          <a:xfrm>
            <a:off x="6400800" y="6537960"/>
            <a:ext cx="530352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Battle Card  |  DSIM on Walmart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3200" b="1" dirty="0">
                <a:solidFill>
                  <a:srgbClr val="1E293B"/>
                </a:solidFill>
                <a:latin typeface="Georgia" pitchFamily="34" charset="0"/>
                <a:ea typeface="Georgia" pitchFamily="34" charset="-122"/>
                <a:cs typeface="Georgia" pitchFamily="34" charset="-120"/>
              </a:rPr>
              <a:t>How to Use This Deck</a:t>
            </a:r>
            <a:endParaRPr lang="en-US" sz="32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A tactical guide for DataWeave sales, product marketing, and strategy teams</a:t>
            </a:r>
            <a:endParaRPr lang="en-US" sz="1400" dirty="0"/>
          </a:p>
        </p:txBody>
      </p:sp>
      <p:sp>
        <p:nvSpPr>
          <p:cNvPr id="4" name="Shape 2"/>
          <p:cNvSpPr/>
          <p:nvPr/>
        </p:nvSpPr>
        <p:spPr>
          <a:xfrm>
            <a:off x="457200" y="1554480"/>
            <a:ext cx="3703320" cy="228600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 name="Shape 3"/>
          <p:cNvSpPr/>
          <p:nvPr/>
        </p:nvSpPr>
        <p:spPr>
          <a:xfrm>
            <a:off x="457200" y="1554480"/>
            <a:ext cx="3703320" cy="502920"/>
          </a:xfrm>
          <a:prstGeom prst="rect">
            <a:avLst/>
          </a:prstGeom>
          <a:solidFill>
            <a:srgbClr val="065A82"/>
          </a:solidFill>
          <a:ln/>
        </p:spPr>
        <p:txBody>
          <a:bodyPr/>
          <a:lstStyle/>
          <a:p>
            <a:endParaRPr lang="en-US"/>
          </a:p>
        </p:txBody>
      </p:sp>
      <p:sp>
        <p:nvSpPr>
          <p:cNvPr id="6" name="Text 4"/>
          <p:cNvSpPr/>
          <p:nvPr/>
        </p:nvSpPr>
        <p:spPr>
          <a:xfrm>
            <a:off x="685800" y="1645920"/>
            <a:ext cx="54864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7" name="Text 5"/>
          <p:cNvSpPr/>
          <p:nvPr/>
        </p:nvSpPr>
        <p:spPr>
          <a:xfrm>
            <a:off x="1280160" y="1645920"/>
            <a:ext cx="27889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 Discovery</a:t>
            </a:r>
            <a:endParaRPr lang="en-US" sz="1600" dirty="0"/>
          </a:p>
        </p:txBody>
      </p:sp>
      <p:sp>
        <p:nvSpPr>
          <p:cNvPr id="8" name="Text 6"/>
          <p:cNvSpPr/>
          <p:nvPr/>
        </p:nvSpPr>
        <p:spPr>
          <a:xfrm>
            <a:off x="731520" y="2286000"/>
            <a:ext cx="3246120" cy="13716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Before a prospect call, read the battle card for whoever the incumbent is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Use the 'Where They Win Deals' box to anticipate the prospect's current framing</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Lead with the first 1–2 points from the DataWeave Playbook box — don't wait until objection handling</a:t>
            </a:r>
            <a:endParaRPr lang="en-US" sz="1100" dirty="0"/>
          </a:p>
        </p:txBody>
      </p:sp>
      <p:sp>
        <p:nvSpPr>
          <p:cNvPr id="9" name="Shape 7"/>
          <p:cNvSpPr/>
          <p:nvPr/>
        </p:nvSpPr>
        <p:spPr>
          <a:xfrm>
            <a:off x="4297680" y="1554480"/>
            <a:ext cx="3703320" cy="228600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0" name="Shape 8"/>
          <p:cNvSpPr/>
          <p:nvPr/>
        </p:nvSpPr>
        <p:spPr>
          <a:xfrm>
            <a:off x="4297680" y="1554480"/>
            <a:ext cx="3703320" cy="502920"/>
          </a:xfrm>
          <a:prstGeom prst="rect">
            <a:avLst/>
          </a:prstGeom>
          <a:solidFill>
            <a:srgbClr val="1C7293"/>
          </a:solidFill>
          <a:ln/>
        </p:spPr>
        <p:txBody>
          <a:bodyPr/>
          <a:lstStyle/>
          <a:p>
            <a:endParaRPr lang="en-US"/>
          </a:p>
        </p:txBody>
      </p:sp>
      <p:sp>
        <p:nvSpPr>
          <p:cNvPr id="11" name="Text 9"/>
          <p:cNvSpPr/>
          <p:nvPr/>
        </p:nvSpPr>
        <p:spPr>
          <a:xfrm>
            <a:off x="4526280" y="1645920"/>
            <a:ext cx="54864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2" name="Text 10"/>
          <p:cNvSpPr/>
          <p:nvPr/>
        </p:nvSpPr>
        <p:spPr>
          <a:xfrm>
            <a:off x="5120640" y="1645920"/>
            <a:ext cx="27889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 Objection Handling</a:t>
            </a:r>
            <a:endParaRPr lang="en-US" sz="1600" dirty="0"/>
          </a:p>
        </p:txBody>
      </p:sp>
      <p:sp>
        <p:nvSpPr>
          <p:cNvPr id="13" name="Text 11"/>
          <p:cNvSpPr/>
          <p:nvPr/>
        </p:nvSpPr>
        <p:spPr>
          <a:xfrm>
            <a:off x="4572000" y="2286000"/>
            <a:ext cx="3246120" cy="13716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When the prospect names a competitor, reach for the 'Weaknesses / Gaps' list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Don't attack the competitor's strengths — reframe around what DSIM uniquely does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Always offer the complementary framing where possible: 'better together' disarms displacement fear</a:t>
            </a:r>
            <a:endParaRPr lang="en-US" sz="1100" dirty="0"/>
          </a:p>
        </p:txBody>
      </p:sp>
      <p:sp>
        <p:nvSpPr>
          <p:cNvPr id="14" name="Shape 12"/>
          <p:cNvSpPr/>
          <p:nvPr/>
        </p:nvSpPr>
        <p:spPr>
          <a:xfrm>
            <a:off x="8138160" y="1554480"/>
            <a:ext cx="3703320" cy="228600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5" name="Shape 13"/>
          <p:cNvSpPr/>
          <p:nvPr/>
        </p:nvSpPr>
        <p:spPr>
          <a:xfrm>
            <a:off x="8138160" y="1554480"/>
            <a:ext cx="3703320" cy="502920"/>
          </a:xfrm>
          <a:prstGeom prst="rect">
            <a:avLst/>
          </a:prstGeom>
          <a:solidFill>
            <a:srgbClr val="F18F01"/>
          </a:solidFill>
          <a:ln/>
        </p:spPr>
        <p:txBody>
          <a:bodyPr/>
          <a:lstStyle/>
          <a:p>
            <a:endParaRPr lang="en-US"/>
          </a:p>
        </p:txBody>
      </p:sp>
      <p:sp>
        <p:nvSpPr>
          <p:cNvPr id="16" name="Text 14"/>
          <p:cNvSpPr/>
          <p:nvPr/>
        </p:nvSpPr>
        <p:spPr>
          <a:xfrm>
            <a:off x="8366760" y="1645920"/>
            <a:ext cx="54864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17" name="Text 15"/>
          <p:cNvSpPr/>
          <p:nvPr/>
        </p:nvSpPr>
        <p:spPr>
          <a:xfrm>
            <a:off x="8961120" y="1645920"/>
            <a:ext cx="27889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 Deal Strategy</a:t>
            </a:r>
            <a:endParaRPr lang="en-US" sz="1600" dirty="0"/>
          </a:p>
        </p:txBody>
      </p:sp>
      <p:sp>
        <p:nvSpPr>
          <p:cNvPr id="18" name="Text 16"/>
          <p:cNvSpPr/>
          <p:nvPr/>
        </p:nvSpPr>
        <p:spPr>
          <a:xfrm>
            <a:off x="8412480" y="2286000"/>
            <a:ext cx="3246120" cy="13716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Map every active opportunity to one of the three buckets (Direct / RM Platform / MMM)</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Match the PoC scope to the bucket: narrow for DSA vendors, always-on for MMM, portfolio for RM platforms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Escalate any deal where CommerceIQ or Walmart Connect in-house is already deployed</a:t>
            </a:r>
            <a:endParaRPr lang="en-US" sz="1100" dirty="0"/>
          </a:p>
        </p:txBody>
      </p:sp>
      <p:sp>
        <p:nvSpPr>
          <p:cNvPr id="19" name="Shape 17"/>
          <p:cNvSpPr/>
          <p:nvPr/>
        </p:nvSpPr>
        <p:spPr>
          <a:xfrm>
            <a:off x="457200" y="4114800"/>
            <a:ext cx="11274552" cy="2194560"/>
          </a:xfrm>
          <a:prstGeom prst="rect">
            <a:avLst/>
          </a:prstGeom>
          <a:solidFill>
            <a:srgbClr val="0D1B2A"/>
          </a:solidFill>
          <a:ln/>
        </p:spPr>
        <p:txBody>
          <a:bodyPr/>
          <a:lstStyle/>
          <a:p>
            <a:endParaRPr lang="en-US"/>
          </a:p>
        </p:txBody>
      </p:sp>
      <p:sp>
        <p:nvSpPr>
          <p:cNvPr id="20" name="Shape 18"/>
          <p:cNvSpPr/>
          <p:nvPr/>
        </p:nvSpPr>
        <p:spPr>
          <a:xfrm>
            <a:off x="457200" y="4114800"/>
            <a:ext cx="91440" cy="2194560"/>
          </a:xfrm>
          <a:prstGeom prst="rect">
            <a:avLst/>
          </a:prstGeom>
          <a:solidFill>
            <a:srgbClr val="F18F01"/>
          </a:solidFill>
          <a:ln/>
        </p:spPr>
        <p:txBody>
          <a:bodyPr/>
          <a:lstStyle/>
          <a:p>
            <a:endParaRPr lang="en-US"/>
          </a:p>
        </p:txBody>
      </p:sp>
      <p:sp>
        <p:nvSpPr>
          <p:cNvPr id="21" name="Text 19"/>
          <p:cNvSpPr/>
          <p:nvPr/>
        </p:nvSpPr>
        <p:spPr>
          <a:xfrm>
            <a:off x="731520" y="4251960"/>
            <a:ext cx="10972800" cy="274320"/>
          </a:xfrm>
          <a:prstGeom prst="rect">
            <a:avLst/>
          </a:prstGeom>
          <a:noFill/>
          <a:ln/>
        </p:spPr>
        <p:txBody>
          <a:bodyPr wrap="square" lIns="0" tIns="0" rIns="0" bIns="0" rtlCol="0" anchor="ctr"/>
          <a:lstStyle/>
          <a:p>
            <a:pPr marL="0" indent="0">
              <a:buNone/>
            </a:pPr>
            <a:r>
              <a:rPr lang="en-US" sz="1100" b="1" kern="0" spc="300" dirty="0">
                <a:solidFill>
                  <a:srgbClr val="F18F01"/>
                </a:solidFill>
                <a:latin typeface="Calibri" pitchFamily="34" charset="0"/>
                <a:ea typeface="Calibri" pitchFamily="34" charset="-122"/>
                <a:cs typeface="Calibri" pitchFamily="34" charset="-120"/>
              </a:rPr>
              <a:t>FIVE THINGS TO NEVER FORGET IN A DSIM DEAL</a:t>
            </a:r>
            <a:endParaRPr lang="en-US" sz="1100" dirty="0"/>
          </a:p>
        </p:txBody>
      </p:sp>
      <p:sp>
        <p:nvSpPr>
          <p:cNvPr id="22" name="Shape 20"/>
          <p:cNvSpPr/>
          <p:nvPr/>
        </p:nvSpPr>
        <p:spPr>
          <a:xfrm>
            <a:off x="777240" y="4617720"/>
            <a:ext cx="201168" cy="201168"/>
          </a:xfrm>
          <a:prstGeom prst="ellipse">
            <a:avLst/>
          </a:prstGeom>
          <a:solidFill>
            <a:srgbClr val="F18F01"/>
          </a:solidFill>
          <a:ln/>
        </p:spPr>
        <p:txBody>
          <a:bodyPr/>
          <a:lstStyle/>
          <a:p>
            <a:endParaRPr lang="en-US"/>
          </a:p>
        </p:txBody>
      </p:sp>
      <p:sp>
        <p:nvSpPr>
          <p:cNvPr id="23" name="Text 21"/>
          <p:cNvSpPr/>
          <p:nvPr/>
        </p:nvSpPr>
        <p:spPr>
          <a:xfrm>
            <a:off x="777240" y="4617720"/>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4" name="Text 22"/>
          <p:cNvSpPr/>
          <p:nvPr/>
        </p:nvSpPr>
        <p:spPr>
          <a:xfrm>
            <a:off x="1097280" y="4599432"/>
            <a:ext cx="10515600" cy="25603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DSIM is cross-lever. Every competitor is strong on one or two levers at most.</a:t>
            </a:r>
            <a:endParaRPr lang="en-US" sz="1200" dirty="0"/>
          </a:p>
        </p:txBody>
      </p:sp>
      <p:sp>
        <p:nvSpPr>
          <p:cNvPr id="25" name="Shape 23"/>
          <p:cNvSpPr/>
          <p:nvPr/>
        </p:nvSpPr>
        <p:spPr>
          <a:xfrm>
            <a:off x="777240" y="4910328"/>
            <a:ext cx="201168" cy="201168"/>
          </a:xfrm>
          <a:prstGeom prst="ellipse">
            <a:avLst/>
          </a:prstGeom>
          <a:solidFill>
            <a:srgbClr val="F18F01"/>
          </a:solidFill>
          <a:ln/>
        </p:spPr>
        <p:txBody>
          <a:bodyPr/>
          <a:lstStyle/>
          <a:p>
            <a:endParaRPr lang="en-US"/>
          </a:p>
        </p:txBody>
      </p:sp>
      <p:sp>
        <p:nvSpPr>
          <p:cNvPr id="26" name="Text 24"/>
          <p:cNvSpPr/>
          <p:nvPr/>
        </p:nvSpPr>
        <p:spPr>
          <a:xfrm>
            <a:off x="777240" y="4910328"/>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7" name="Text 25"/>
          <p:cNvSpPr/>
          <p:nvPr/>
        </p:nvSpPr>
        <p:spPr>
          <a:xfrm>
            <a:off x="1097280" y="4892040"/>
            <a:ext cx="10515600" cy="25603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The ~5.9% MAPE and R-squared proof points matter — most competitors don't publish this.</a:t>
            </a:r>
            <a:endParaRPr lang="en-US" sz="1200" dirty="0"/>
          </a:p>
        </p:txBody>
      </p:sp>
      <p:sp>
        <p:nvSpPr>
          <p:cNvPr id="28" name="Shape 26"/>
          <p:cNvSpPr/>
          <p:nvPr/>
        </p:nvSpPr>
        <p:spPr>
          <a:xfrm>
            <a:off x="777240" y="5202936"/>
            <a:ext cx="201168" cy="201168"/>
          </a:xfrm>
          <a:prstGeom prst="ellipse">
            <a:avLst/>
          </a:prstGeom>
          <a:solidFill>
            <a:srgbClr val="F18F01"/>
          </a:solidFill>
          <a:ln/>
        </p:spPr>
        <p:txBody>
          <a:bodyPr/>
          <a:lstStyle/>
          <a:p>
            <a:endParaRPr lang="en-US"/>
          </a:p>
        </p:txBody>
      </p:sp>
      <p:sp>
        <p:nvSpPr>
          <p:cNvPr id="29" name="Text 27"/>
          <p:cNvSpPr/>
          <p:nvPr/>
        </p:nvSpPr>
        <p:spPr>
          <a:xfrm>
            <a:off x="777240" y="5202936"/>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8"/>
          <p:cNvSpPr/>
          <p:nvPr/>
        </p:nvSpPr>
        <p:spPr>
          <a:xfrm>
            <a:off x="1097280" y="5184648"/>
            <a:ext cx="10515600" cy="25603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Store-cluster localization is rare. Most competitors work at national or retailer level only.</a:t>
            </a:r>
            <a:endParaRPr lang="en-US" sz="1200" dirty="0"/>
          </a:p>
        </p:txBody>
      </p:sp>
      <p:sp>
        <p:nvSpPr>
          <p:cNvPr id="31" name="Shape 29"/>
          <p:cNvSpPr/>
          <p:nvPr/>
        </p:nvSpPr>
        <p:spPr>
          <a:xfrm>
            <a:off x="777240" y="5495544"/>
            <a:ext cx="201168" cy="201168"/>
          </a:xfrm>
          <a:prstGeom prst="ellipse">
            <a:avLst/>
          </a:prstGeom>
          <a:solidFill>
            <a:srgbClr val="F18F01"/>
          </a:solidFill>
          <a:ln/>
        </p:spPr>
        <p:txBody>
          <a:bodyPr/>
          <a:lstStyle/>
          <a:p>
            <a:endParaRPr lang="en-US"/>
          </a:p>
        </p:txBody>
      </p:sp>
      <p:sp>
        <p:nvSpPr>
          <p:cNvPr id="32" name="Text 30"/>
          <p:cNvSpPr/>
          <p:nvPr/>
        </p:nvSpPr>
        <p:spPr>
          <a:xfrm>
            <a:off x="777240" y="5495544"/>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3" name="Text 31"/>
          <p:cNvSpPr/>
          <p:nvPr/>
        </p:nvSpPr>
        <p:spPr>
          <a:xfrm>
            <a:off x="1097280" y="5477256"/>
            <a:ext cx="10515600" cy="25603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DataWeave has no activation conflict of interest. Agency- and platform-owned rivals do.</a:t>
            </a:r>
            <a:endParaRPr lang="en-US" sz="1200" dirty="0"/>
          </a:p>
        </p:txBody>
      </p:sp>
      <p:sp>
        <p:nvSpPr>
          <p:cNvPr id="34" name="Shape 32"/>
          <p:cNvSpPr/>
          <p:nvPr/>
        </p:nvSpPr>
        <p:spPr>
          <a:xfrm>
            <a:off x="777240" y="5788152"/>
            <a:ext cx="201168" cy="201168"/>
          </a:xfrm>
          <a:prstGeom prst="ellipse">
            <a:avLst/>
          </a:prstGeom>
          <a:solidFill>
            <a:srgbClr val="F18F01"/>
          </a:solidFill>
          <a:ln/>
        </p:spPr>
        <p:txBody>
          <a:bodyPr/>
          <a:lstStyle/>
          <a:p>
            <a:endParaRPr lang="en-US"/>
          </a:p>
        </p:txBody>
      </p:sp>
      <p:sp>
        <p:nvSpPr>
          <p:cNvPr id="35" name="Text 33"/>
          <p:cNvSpPr/>
          <p:nvPr/>
        </p:nvSpPr>
        <p:spPr>
          <a:xfrm>
            <a:off x="777240" y="5788152"/>
            <a:ext cx="201168"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6" name="Text 34"/>
          <p:cNvSpPr/>
          <p:nvPr/>
        </p:nvSpPr>
        <p:spPr>
          <a:xfrm>
            <a:off x="1097280" y="5769864"/>
            <a:ext cx="10515600" cy="256032"/>
          </a:xfrm>
          <a:prstGeom prst="rect">
            <a:avLst/>
          </a:prstGeom>
          <a:noFill/>
          <a:ln/>
        </p:spPr>
        <p:txBody>
          <a:bodyPr wrap="square" lIns="0" tIns="0" rIns="0" bIns="0" rtlCol="0" anchor="ctr"/>
          <a:lstStyle/>
          <a:p>
            <a:pPr marL="0" indent="0">
              <a:buNone/>
            </a:pPr>
            <a:r>
              <a:rPr lang="en-US" sz="1200" dirty="0">
                <a:solidFill>
                  <a:srgbClr val="E2E8F0"/>
                </a:solidFill>
                <a:latin typeface="Calibri" pitchFamily="34" charset="0"/>
                <a:ea typeface="Calibri" pitchFamily="34" charset="-122"/>
                <a:cs typeface="Calibri" pitchFamily="34" charset="-120"/>
              </a:rPr>
              <a:t>The $500K+ annualized opportunity unlock is the number CFOs remember. Lead with it.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3200" b="1" dirty="0">
                <a:solidFill>
                  <a:srgbClr val="1E293B"/>
                </a:solidFill>
                <a:latin typeface="Georgia" pitchFamily="34" charset="0"/>
                <a:ea typeface="Georgia" pitchFamily="34" charset="-122"/>
                <a:cs typeface="Georgia" pitchFamily="34" charset="-120"/>
              </a:rPr>
              <a:t>Why DataWeave</a:t>
            </a:r>
            <a:endParaRPr lang="en-US" sz="32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Five reasons brands choose DataWeave for digital shelf impact measurement on Walmart</a:t>
            </a:r>
            <a:endParaRPr lang="en-US" sz="1400" dirty="0"/>
          </a:p>
        </p:txBody>
      </p:sp>
      <p:sp>
        <p:nvSpPr>
          <p:cNvPr id="4" name="Shape 2"/>
          <p:cNvSpPr/>
          <p:nvPr/>
        </p:nvSpPr>
        <p:spPr>
          <a:xfrm>
            <a:off x="457200" y="1463040"/>
            <a:ext cx="3703320" cy="219456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5" name="Shape 3"/>
          <p:cNvSpPr/>
          <p:nvPr/>
        </p:nvSpPr>
        <p:spPr>
          <a:xfrm>
            <a:off x="457200" y="1463040"/>
            <a:ext cx="73152" cy="2194560"/>
          </a:xfrm>
          <a:prstGeom prst="rect">
            <a:avLst/>
          </a:prstGeom>
          <a:solidFill>
            <a:srgbClr val="065A82"/>
          </a:solidFill>
          <a:ln/>
        </p:spPr>
        <p:txBody>
          <a:bodyPr/>
          <a:lstStyle/>
          <a:p>
            <a:endParaRPr lang="en-US"/>
          </a:p>
        </p:txBody>
      </p:sp>
      <p:sp>
        <p:nvSpPr>
          <p:cNvPr id="6" name="Text 4"/>
          <p:cNvSpPr/>
          <p:nvPr/>
        </p:nvSpPr>
        <p:spPr>
          <a:xfrm>
            <a:off x="731520" y="1645920"/>
            <a:ext cx="914400" cy="320040"/>
          </a:xfrm>
          <a:prstGeom prst="rect">
            <a:avLst/>
          </a:prstGeom>
          <a:noFill/>
          <a:ln/>
        </p:spPr>
        <p:txBody>
          <a:bodyPr wrap="square" lIns="0" tIns="0" rIns="0" bIns="0" rtlCol="0" anchor="ctr"/>
          <a:lstStyle/>
          <a:p>
            <a:pPr marL="0" indent="0">
              <a:buNone/>
            </a:pPr>
            <a:r>
              <a:rPr lang="en-US" sz="1300" b="1" dirty="0">
                <a:solidFill>
                  <a:srgbClr val="065A82"/>
                </a:solidFill>
                <a:latin typeface="Georgia" pitchFamily="34" charset="0"/>
                <a:ea typeface="Georgia" pitchFamily="34" charset="-122"/>
                <a:cs typeface="Georgia" pitchFamily="34" charset="-120"/>
              </a:rPr>
              <a:t>01</a:t>
            </a:r>
            <a:endParaRPr lang="en-US" sz="1300" dirty="0"/>
          </a:p>
        </p:txBody>
      </p:sp>
      <p:sp>
        <p:nvSpPr>
          <p:cNvPr id="7" name="Text 5"/>
          <p:cNvSpPr/>
          <p:nvPr/>
        </p:nvSpPr>
        <p:spPr>
          <a:xfrm>
            <a:off x="731520" y="1920240"/>
            <a:ext cx="3246120" cy="411480"/>
          </a:xfrm>
          <a:prstGeom prst="rect">
            <a:avLst/>
          </a:prstGeom>
          <a:noFill/>
          <a:ln/>
        </p:spPr>
        <p:txBody>
          <a:bodyPr wrap="square" lIns="0" tIns="0" rIns="0" bIns="0" rtlCol="0" anchor="ctr"/>
          <a:lstStyle/>
          <a:p>
            <a:pPr marL="0" indent="0">
              <a:buNone/>
            </a:pPr>
            <a:r>
              <a:rPr lang="en-US" sz="1700" b="1" dirty="0">
                <a:solidFill>
                  <a:srgbClr val="1E293B"/>
                </a:solidFill>
                <a:latin typeface="Georgia" pitchFamily="34" charset="0"/>
                <a:ea typeface="Georgia" pitchFamily="34" charset="-122"/>
                <a:cs typeface="Georgia" pitchFamily="34" charset="-120"/>
              </a:rPr>
              <a:t>Built on the Shelf</a:t>
            </a:r>
            <a:endParaRPr lang="en-US" sz="1700" dirty="0"/>
          </a:p>
        </p:txBody>
      </p:sp>
      <p:sp>
        <p:nvSpPr>
          <p:cNvPr id="8" name="Text 6"/>
          <p:cNvSpPr/>
          <p:nvPr/>
        </p:nvSpPr>
        <p:spPr>
          <a:xfrm>
            <a:off x="731520" y="2423160"/>
            <a:ext cx="3246120" cy="9144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DSIM is the only impact-modeling framework built on top of a production-grade digital shelf data platform. Availability, content, pricing, sponsored visibility, and competitive pressure are first-class model inputs — not afterthoughts.</a:t>
            </a:r>
            <a:endParaRPr lang="en-US" sz="1050" dirty="0"/>
          </a:p>
        </p:txBody>
      </p:sp>
      <p:sp>
        <p:nvSpPr>
          <p:cNvPr id="9" name="Shape 7"/>
          <p:cNvSpPr/>
          <p:nvPr/>
        </p:nvSpPr>
        <p:spPr>
          <a:xfrm>
            <a:off x="731520" y="3200400"/>
            <a:ext cx="3154680" cy="0"/>
          </a:xfrm>
          <a:prstGeom prst="line">
            <a:avLst/>
          </a:prstGeom>
          <a:noFill/>
          <a:ln w="9525">
            <a:solidFill>
              <a:srgbClr val="E2E8F0"/>
            </a:solidFill>
            <a:prstDash val="solid"/>
          </a:ln>
        </p:spPr>
        <p:txBody>
          <a:bodyPr/>
          <a:lstStyle/>
          <a:p>
            <a:endParaRPr lang="en-US"/>
          </a:p>
        </p:txBody>
      </p:sp>
      <p:sp>
        <p:nvSpPr>
          <p:cNvPr id="10" name="Text 8"/>
          <p:cNvSpPr/>
          <p:nvPr/>
        </p:nvSpPr>
        <p:spPr>
          <a:xfrm>
            <a:off x="731520" y="3291840"/>
            <a:ext cx="3246120" cy="274320"/>
          </a:xfrm>
          <a:prstGeom prst="rect">
            <a:avLst/>
          </a:prstGeom>
          <a:noFill/>
          <a:ln/>
        </p:spPr>
        <p:txBody>
          <a:bodyPr wrap="square" lIns="0" tIns="0" rIns="0" bIns="0" rtlCol="0" anchor="ctr"/>
          <a:lstStyle/>
          <a:p>
            <a:pPr marL="0" indent="0">
              <a:buNone/>
            </a:pPr>
            <a:r>
              <a:rPr lang="en-US" sz="1000" b="1" i="1" dirty="0">
                <a:solidFill>
                  <a:srgbClr val="065A82"/>
                </a:solidFill>
                <a:latin typeface="Calibri" pitchFamily="34" charset="0"/>
                <a:ea typeface="Calibri" pitchFamily="34" charset="-122"/>
                <a:cs typeface="Calibri" pitchFamily="34" charset="-120"/>
              </a:rPr>
              <a:t>Competitors model media in isolation. DataWeave models the shelf.</a:t>
            </a:r>
            <a:endParaRPr lang="en-US" sz="1000" dirty="0"/>
          </a:p>
        </p:txBody>
      </p:sp>
      <p:sp>
        <p:nvSpPr>
          <p:cNvPr id="11" name="Shape 9"/>
          <p:cNvSpPr/>
          <p:nvPr/>
        </p:nvSpPr>
        <p:spPr>
          <a:xfrm>
            <a:off x="4297680" y="1463040"/>
            <a:ext cx="3703320" cy="219456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2" name="Shape 10"/>
          <p:cNvSpPr/>
          <p:nvPr/>
        </p:nvSpPr>
        <p:spPr>
          <a:xfrm>
            <a:off x="4297680" y="1463040"/>
            <a:ext cx="73152" cy="2194560"/>
          </a:xfrm>
          <a:prstGeom prst="rect">
            <a:avLst/>
          </a:prstGeom>
          <a:solidFill>
            <a:srgbClr val="1C7293"/>
          </a:solidFill>
          <a:ln/>
        </p:spPr>
        <p:txBody>
          <a:bodyPr/>
          <a:lstStyle/>
          <a:p>
            <a:endParaRPr lang="en-US"/>
          </a:p>
        </p:txBody>
      </p:sp>
      <p:sp>
        <p:nvSpPr>
          <p:cNvPr id="13" name="Text 11"/>
          <p:cNvSpPr/>
          <p:nvPr/>
        </p:nvSpPr>
        <p:spPr>
          <a:xfrm>
            <a:off x="4572000" y="1645920"/>
            <a:ext cx="914400" cy="320040"/>
          </a:xfrm>
          <a:prstGeom prst="rect">
            <a:avLst/>
          </a:prstGeom>
          <a:noFill/>
          <a:ln/>
        </p:spPr>
        <p:txBody>
          <a:bodyPr wrap="square" lIns="0" tIns="0" rIns="0" bIns="0" rtlCol="0" anchor="ctr"/>
          <a:lstStyle/>
          <a:p>
            <a:pPr marL="0" indent="0">
              <a:buNone/>
            </a:pPr>
            <a:r>
              <a:rPr lang="en-US" sz="1300" b="1" dirty="0">
                <a:solidFill>
                  <a:srgbClr val="1C7293"/>
                </a:solidFill>
                <a:latin typeface="Georgia" pitchFamily="34" charset="0"/>
                <a:ea typeface="Georgia" pitchFamily="34" charset="-122"/>
                <a:cs typeface="Georgia" pitchFamily="34" charset="-120"/>
              </a:rPr>
              <a:t>02</a:t>
            </a:r>
            <a:endParaRPr lang="en-US" sz="1300" dirty="0"/>
          </a:p>
        </p:txBody>
      </p:sp>
      <p:sp>
        <p:nvSpPr>
          <p:cNvPr id="14" name="Text 12"/>
          <p:cNvSpPr/>
          <p:nvPr/>
        </p:nvSpPr>
        <p:spPr>
          <a:xfrm>
            <a:off x="4572000" y="1920240"/>
            <a:ext cx="3246120" cy="411480"/>
          </a:xfrm>
          <a:prstGeom prst="rect">
            <a:avLst/>
          </a:prstGeom>
          <a:noFill/>
          <a:ln/>
        </p:spPr>
        <p:txBody>
          <a:bodyPr wrap="square" lIns="0" tIns="0" rIns="0" bIns="0" rtlCol="0" anchor="ctr"/>
          <a:lstStyle/>
          <a:p>
            <a:pPr marL="0" indent="0">
              <a:buNone/>
            </a:pPr>
            <a:r>
              <a:rPr lang="en-US" sz="1700" b="1" dirty="0">
                <a:solidFill>
                  <a:srgbClr val="1E293B"/>
                </a:solidFill>
                <a:latin typeface="Georgia" pitchFamily="34" charset="0"/>
                <a:ea typeface="Georgia" pitchFamily="34" charset="-122"/>
                <a:cs typeface="Georgia" pitchFamily="34" charset="-120"/>
              </a:rPr>
              <a:t>Proven Model Strength</a:t>
            </a:r>
            <a:endParaRPr lang="en-US" sz="1700" dirty="0"/>
          </a:p>
        </p:txBody>
      </p:sp>
      <p:sp>
        <p:nvSpPr>
          <p:cNvPr id="15" name="Text 13"/>
          <p:cNvSpPr/>
          <p:nvPr/>
        </p:nvSpPr>
        <p:spPr>
          <a:xfrm>
            <a:off x="4572000" y="2423160"/>
            <a:ext cx="3246120" cy="9144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DSIM deployments achieve ~5.9% MAPE forecast accuracy with high R-squared values and stable, predictable variance. Commerce leaders and finance partners can trust the numbers enough to defend them.</a:t>
            </a:r>
            <a:endParaRPr lang="en-US" sz="1050" dirty="0"/>
          </a:p>
        </p:txBody>
      </p:sp>
      <p:sp>
        <p:nvSpPr>
          <p:cNvPr id="16" name="Shape 14"/>
          <p:cNvSpPr/>
          <p:nvPr/>
        </p:nvSpPr>
        <p:spPr>
          <a:xfrm>
            <a:off x="4572000" y="3200400"/>
            <a:ext cx="3154680" cy="0"/>
          </a:xfrm>
          <a:prstGeom prst="line">
            <a:avLst/>
          </a:prstGeom>
          <a:noFill/>
          <a:ln w="9525">
            <a:solidFill>
              <a:srgbClr val="E2E8F0"/>
            </a:solidFill>
            <a:prstDash val="solid"/>
          </a:ln>
        </p:spPr>
        <p:txBody>
          <a:bodyPr/>
          <a:lstStyle/>
          <a:p>
            <a:endParaRPr lang="en-US"/>
          </a:p>
        </p:txBody>
      </p:sp>
      <p:sp>
        <p:nvSpPr>
          <p:cNvPr id="17" name="Text 15"/>
          <p:cNvSpPr/>
          <p:nvPr/>
        </p:nvSpPr>
        <p:spPr>
          <a:xfrm>
            <a:off x="4572000" y="3291840"/>
            <a:ext cx="3246120" cy="274320"/>
          </a:xfrm>
          <a:prstGeom prst="rect">
            <a:avLst/>
          </a:prstGeom>
          <a:noFill/>
          <a:ln/>
        </p:spPr>
        <p:txBody>
          <a:bodyPr wrap="square" lIns="0" tIns="0" rIns="0" bIns="0" rtlCol="0" anchor="ctr"/>
          <a:lstStyle/>
          <a:p>
            <a:pPr marL="0" indent="0">
              <a:buNone/>
            </a:pPr>
            <a:r>
              <a:rPr lang="en-US" sz="1000" b="1" i="1" dirty="0">
                <a:solidFill>
                  <a:srgbClr val="1C7293"/>
                </a:solidFill>
                <a:latin typeface="Calibri" pitchFamily="34" charset="0"/>
                <a:ea typeface="Calibri" pitchFamily="34" charset="-122"/>
                <a:cs typeface="Calibri" pitchFamily="34" charset="-120"/>
              </a:rPr>
              <a:t>Published proof points most competitors do not share.</a:t>
            </a:r>
            <a:endParaRPr lang="en-US" sz="1000" dirty="0"/>
          </a:p>
        </p:txBody>
      </p:sp>
      <p:sp>
        <p:nvSpPr>
          <p:cNvPr id="18" name="Shape 16"/>
          <p:cNvSpPr/>
          <p:nvPr/>
        </p:nvSpPr>
        <p:spPr>
          <a:xfrm>
            <a:off x="8138160" y="1463040"/>
            <a:ext cx="3703320" cy="219456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19" name="Shape 17"/>
          <p:cNvSpPr/>
          <p:nvPr/>
        </p:nvSpPr>
        <p:spPr>
          <a:xfrm>
            <a:off x="8138160" y="1463040"/>
            <a:ext cx="73152" cy="2194560"/>
          </a:xfrm>
          <a:prstGeom prst="rect">
            <a:avLst/>
          </a:prstGeom>
          <a:solidFill>
            <a:srgbClr val="F18F01"/>
          </a:solidFill>
          <a:ln/>
        </p:spPr>
        <p:txBody>
          <a:bodyPr/>
          <a:lstStyle/>
          <a:p>
            <a:endParaRPr lang="en-US"/>
          </a:p>
        </p:txBody>
      </p:sp>
      <p:sp>
        <p:nvSpPr>
          <p:cNvPr id="20" name="Text 18"/>
          <p:cNvSpPr/>
          <p:nvPr/>
        </p:nvSpPr>
        <p:spPr>
          <a:xfrm>
            <a:off x="8412480" y="1645920"/>
            <a:ext cx="914400" cy="320040"/>
          </a:xfrm>
          <a:prstGeom prst="rect">
            <a:avLst/>
          </a:prstGeom>
          <a:noFill/>
          <a:ln/>
        </p:spPr>
        <p:txBody>
          <a:bodyPr wrap="square" lIns="0" tIns="0" rIns="0" bIns="0" rtlCol="0" anchor="ctr"/>
          <a:lstStyle/>
          <a:p>
            <a:pPr marL="0" indent="0">
              <a:buNone/>
            </a:pPr>
            <a:r>
              <a:rPr lang="en-US" sz="1300" b="1" dirty="0">
                <a:solidFill>
                  <a:srgbClr val="F18F01"/>
                </a:solidFill>
                <a:latin typeface="Georgia" pitchFamily="34" charset="0"/>
                <a:ea typeface="Georgia" pitchFamily="34" charset="-122"/>
                <a:cs typeface="Georgia" pitchFamily="34" charset="-120"/>
              </a:rPr>
              <a:t>03</a:t>
            </a:r>
            <a:endParaRPr lang="en-US" sz="1300" dirty="0"/>
          </a:p>
        </p:txBody>
      </p:sp>
      <p:sp>
        <p:nvSpPr>
          <p:cNvPr id="21" name="Text 19"/>
          <p:cNvSpPr/>
          <p:nvPr/>
        </p:nvSpPr>
        <p:spPr>
          <a:xfrm>
            <a:off x="8412480" y="1920240"/>
            <a:ext cx="3246120" cy="411480"/>
          </a:xfrm>
          <a:prstGeom prst="rect">
            <a:avLst/>
          </a:prstGeom>
          <a:noFill/>
          <a:ln/>
        </p:spPr>
        <p:txBody>
          <a:bodyPr wrap="square" lIns="0" tIns="0" rIns="0" bIns="0" rtlCol="0" anchor="ctr"/>
          <a:lstStyle/>
          <a:p>
            <a:pPr marL="0" indent="0">
              <a:buNone/>
            </a:pPr>
            <a:r>
              <a:rPr lang="en-US" sz="1700" b="1" dirty="0">
                <a:solidFill>
                  <a:srgbClr val="1E293B"/>
                </a:solidFill>
                <a:latin typeface="Georgia" pitchFamily="34" charset="0"/>
                <a:ea typeface="Georgia" pitchFamily="34" charset="-122"/>
                <a:cs typeface="Georgia" pitchFamily="34" charset="-120"/>
              </a:rPr>
              <a:t>Localized to How People Shop</a:t>
            </a:r>
            <a:endParaRPr lang="en-US" sz="1700" dirty="0"/>
          </a:p>
        </p:txBody>
      </p:sp>
      <p:sp>
        <p:nvSpPr>
          <p:cNvPr id="22" name="Text 20"/>
          <p:cNvSpPr/>
          <p:nvPr/>
        </p:nvSpPr>
        <p:spPr>
          <a:xfrm>
            <a:off x="8412480" y="2423160"/>
            <a:ext cx="3246120" cy="91440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Store-cluster modeling groups locations by actual shopping and conversion behavior — not by geography. Strategies can be tuned to where a lever truly works, where it is saturated, and where shelf conditions constrain returns.</a:t>
            </a:r>
            <a:endParaRPr lang="en-US" sz="1050" dirty="0"/>
          </a:p>
        </p:txBody>
      </p:sp>
      <p:sp>
        <p:nvSpPr>
          <p:cNvPr id="23" name="Shape 21"/>
          <p:cNvSpPr/>
          <p:nvPr/>
        </p:nvSpPr>
        <p:spPr>
          <a:xfrm>
            <a:off x="8412480" y="3200400"/>
            <a:ext cx="3154680" cy="0"/>
          </a:xfrm>
          <a:prstGeom prst="line">
            <a:avLst/>
          </a:prstGeom>
          <a:noFill/>
          <a:ln w="9525">
            <a:solidFill>
              <a:srgbClr val="E2E8F0"/>
            </a:solidFill>
            <a:prstDash val="solid"/>
          </a:ln>
        </p:spPr>
        <p:txBody>
          <a:bodyPr/>
          <a:lstStyle/>
          <a:p>
            <a:endParaRPr lang="en-US"/>
          </a:p>
        </p:txBody>
      </p:sp>
      <p:sp>
        <p:nvSpPr>
          <p:cNvPr id="24" name="Text 22"/>
          <p:cNvSpPr/>
          <p:nvPr/>
        </p:nvSpPr>
        <p:spPr>
          <a:xfrm>
            <a:off x="8412480" y="3291840"/>
            <a:ext cx="3246120" cy="274320"/>
          </a:xfrm>
          <a:prstGeom prst="rect">
            <a:avLst/>
          </a:prstGeom>
          <a:noFill/>
          <a:ln/>
        </p:spPr>
        <p:txBody>
          <a:bodyPr wrap="square" lIns="0" tIns="0" rIns="0" bIns="0" rtlCol="0" anchor="ctr"/>
          <a:lstStyle/>
          <a:p>
            <a:pPr marL="0" indent="0">
              <a:buNone/>
            </a:pPr>
            <a:r>
              <a:rPr lang="en-US" sz="1000" b="1" i="1" dirty="0">
                <a:solidFill>
                  <a:srgbClr val="F18F01"/>
                </a:solidFill>
                <a:latin typeface="Calibri" pitchFamily="34" charset="0"/>
                <a:ea typeface="Calibri" pitchFamily="34" charset="-122"/>
                <a:cs typeface="Calibri" pitchFamily="34" charset="-120"/>
              </a:rPr>
              <a:t>National averages hide the levers that actually move sales.</a:t>
            </a:r>
            <a:endParaRPr lang="en-US" sz="1000" dirty="0"/>
          </a:p>
        </p:txBody>
      </p:sp>
      <p:sp>
        <p:nvSpPr>
          <p:cNvPr id="25" name="Shape 23"/>
          <p:cNvSpPr/>
          <p:nvPr/>
        </p:nvSpPr>
        <p:spPr>
          <a:xfrm>
            <a:off x="457200" y="3840480"/>
            <a:ext cx="5568696" cy="182880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26" name="Shape 24"/>
          <p:cNvSpPr/>
          <p:nvPr/>
        </p:nvSpPr>
        <p:spPr>
          <a:xfrm>
            <a:off x="457200" y="3840480"/>
            <a:ext cx="73152" cy="1828800"/>
          </a:xfrm>
          <a:prstGeom prst="rect">
            <a:avLst/>
          </a:prstGeom>
          <a:solidFill>
            <a:srgbClr val="065A82"/>
          </a:solidFill>
          <a:ln/>
        </p:spPr>
        <p:txBody>
          <a:bodyPr/>
          <a:lstStyle/>
          <a:p>
            <a:endParaRPr lang="en-US"/>
          </a:p>
        </p:txBody>
      </p:sp>
      <p:sp>
        <p:nvSpPr>
          <p:cNvPr id="27" name="Text 25"/>
          <p:cNvSpPr/>
          <p:nvPr/>
        </p:nvSpPr>
        <p:spPr>
          <a:xfrm>
            <a:off x="731520" y="4023360"/>
            <a:ext cx="914400" cy="320040"/>
          </a:xfrm>
          <a:prstGeom prst="rect">
            <a:avLst/>
          </a:prstGeom>
          <a:noFill/>
          <a:ln/>
        </p:spPr>
        <p:txBody>
          <a:bodyPr wrap="square" lIns="0" tIns="0" rIns="0" bIns="0" rtlCol="0" anchor="ctr"/>
          <a:lstStyle/>
          <a:p>
            <a:pPr marL="0" indent="0">
              <a:buNone/>
            </a:pPr>
            <a:r>
              <a:rPr lang="en-US" sz="1300" b="1" dirty="0">
                <a:solidFill>
                  <a:srgbClr val="065A82"/>
                </a:solidFill>
                <a:latin typeface="Georgia" pitchFamily="34" charset="0"/>
                <a:ea typeface="Georgia" pitchFamily="34" charset="-122"/>
                <a:cs typeface="Georgia" pitchFamily="34" charset="-120"/>
              </a:rPr>
              <a:t>04</a:t>
            </a:r>
            <a:endParaRPr lang="en-US" sz="1300" dirty="0"/>
          </a:p>
        </p:txBody>
      </p:sp>
      <p:sp>
        <p:nvSpPr>
          <p:cNvPr id="28" name="Text 26"/>
          <p:cNvSpPr/>
          <p:nvPr/>
        </p:nvSpPr>
        <p:spPr>
          <a:xfrm>
            <a:off x="731520" y="4297680"/>
            <a:ext cx="5111496" cy="365760"/>
          </a:xfrm>
          <a:prstGeom prst="rect">
            <a:avLst/>
          </a:prstGeom>
          <a:noFill/>
          <a:ln/>
        </p:spPr>
        <p:txBody>
          <a:bodyPr wrap="square" lIns="0" tIns="0" rIns="0" bIns="0" rtlCol="0" anchor="ctr"/>
          <a:lstStyle/>
          <a:p>
            <a:pPr marL="0" indent="0">
              <a:buNone/>
            </a:pPr>
            <a:r>
              <a:rPr lang="en-US" sz="1700" b="1" dirty="0">
                <a:solidFill>
                  <a:srgbClr val="1E293B"/>
                </a:solidFill>
                <a:latin typeface="Georgia" pitchFamily="34" charset="0"/>
                <a:ea typeface="Georgia" pitchFamily="34" charset="-122"/>
                <a:cs typeface="Georgia" pitchFamily="34" charset="-120"/>
              </a:rPr>
              <a:t>Decision Plans, Not Dashboards</a:t>
            </a:r>
            <a:endParaRPr lang="en-US" sz="1700" dirty="0"/>
          </a:p>
        </p:txBody>
      </p:sp>
      <p:sp>
        <p:nvSpPr>
          <p:cNvPr id="29" name="Text 27"/>
          <p:cNvSpPr/>
          <p:nvPr/>
        </p:nvSpPr>
        <p:spPr>
          <a:xfrm>
            <a:off x="731520" y="4754880"/>
            <a:ext cx="5111496"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DSIM produces prescriptive outputs: what to scale, what to maintain, what to reduce, and where availability caps returns. Brand engagements have unlocked $500K+ in annualized incremental sales opportunity by reallocating existing budget — without adding tactics or headcount.</a:t>
            </a:r>
            <a:endParaRPr lang="en-US" sz="1050" dirty="0"/>
          </a:p>
        </p:txBody>
      </p:sp>
      <p:sp>
        <p:nvSpPr>
          <p:cNvPr id="30" name="Shape 28"/>
          <p:cNvSpPr/>
          <p:nvPr/>
        </p:nvSpPr>
        <p:spPr>
          <a:xfrm>
            <a:off x="6163056" y="3840480"/>
            <a:ext cx="5568696" cy="1828800"/>
          </a:xfrm>
          <a:prstGeom prst="rect">
            <a:avLst/>
          </a:prstGeom>
          <a:solidFill>
            <a:srgbClr val="F7F9FB"/>
          </a:solidFill>
          <a:ln w="6350">
            <a:solidFill>
              <a:srgbClr val="E2E8F0"/>
            </a:solidFill>
            <a:prstDash val="solid"/>
          </a:ln>
          <a:effectLst>
            <a:outerShdw blurRad="101600" dist="25400" dir="5400000" algn="bl" rotWithShape="0">
              <a:srgbClr val="000000">
                <a:alpha val="10000"/>
              </a:srgbClr>
            </a:outerShdw>
          </a:effectLst>
        </p:spPr>
        <p:txBody>
          <a:bodyPr/>
          <a:lstStyle/>
          <a:p>
            <a:endParaRPr lang="en-US"/>
          </a:p>
        </p:txBody>
      </p:sp>
      <p:sp>
        <p:nvSpPr>
          <p:cNvPr id="31" name="Shape 29"/>
          <p:cNvSpPr/>
          <p:nvPr/>
        </p:nvSpPr>
        <p:spPr>
          <a:xfrm>
            <a:off x="6163056" y="3840480"/>
            <a:ext cx="73152" cy="1828800"/>
          </a:xfrm>
          <a:prstGeom prst="rect">
            <a:avLst/>
          </a:prstGeom>
          <a:solidFill>
            <a:srgbClr val="1C7293"/>
          </a:solidFill>
          <a:ln/>
        </p:spPr>
        <p:txBody>
          <a:bodyPr/>
          <a:lstStyle/>
          <a:p>
            <a:endParaRPr lang="en-US"/>
          </a:p>
        </p:txBody>
      </p:sp>
      <p:sp>
        <p:nvSpPr>
          <p:cNvPr id="32" name="Text 30"/>
          <p:cNvSpPr/>
          <p:nvPr/>
        </p:nvSpPr>
        <p:spPr>
          <a:xfrm>
            <a:off x="6437376" y="4023360"/>
            <a:ext cx="914400" cy="320040"/>
          </a:xfrm>
          <a:prstGeom prst="rect">
            <a:avLst/>
          </a:prstGeom>
          <a:noFill/>
          <a:ln/>
        </p:spPr>
        <p:txBody>
          <a:bodyPr wrap="square" lIns="0" tIns="0" rIns="0" bIns="0" rtlCol="0" anchor="ctr"/>
          <a:lstStyle/>
          <a:p>
            <a:pPr marL="0" indent="0">
              <a:buNone/>
            </a:pPr>
            <a:r>
              <a:rPr lang="en-US" sz="1300" b="1" dirty="0">
                <a:solidFill>
                  <a:srgbClr val="1C7293"/>
                </a:solidFill>
                <a:latin typeface="Georgia" pitchFamily="34" charset="0"/>
                <a:ea typeface="Georgia" pitchFamily="34" charset="-122"/>
                <a:cs typeface="Georgia" pitchFamily="34" charset="-120"/>
              </a:rPr>
              <a:t>05</a:t>
            </a:r>
            <a:endParaRPr lang="en-US" sz="1300" dirty="0"/>
          </a:p>
        </p:txBody>
      </p:sp>
      <p:sp>
        <p:nvSpPr>
          <p:cNvPr id="33" name="Text 31"/>
          <p:cNvSpPr/>
          <p:nvPr/>
        </p:nvSpPr>
        <p:spPr>
          <a:xfrm>
            <a:off x="6437376" y="4297680"/>
            <a:ext cx="5111496" cy="365760"/>
          </a:xfrm>
          <a:prstGeom prst="rect">
            <a:avLst/>
          </a:prstGeom>
          <a:noFill/>
          <a:ln/>
        </p:spPr>
        <p:txBody>
          <a:bodyPr wrap="square" lIns="0" tIns="0" rIns="0" bIns="0" rtlCol="0" anchor="ctr"/>
          <a:lstStyle/>
          <a:p>
            <a:pPr marL="0" indent="0">
              <a:buNone/>
            </a:pPr>
            <a:r>
              <a:rPr lang="en-US" sz="1700" b="1" dirty="0">
                <a:solidFill>
                  <a:srgbClr val="1E293B"/>
                </a:solidFill>
                <a:latin typeface="Georgia" pitchFamily="34" charset="0"/>
                <a:ea typeface="Georgia" pitchFamily="34" charset="-122"/>
                <a:cs typeface="Georgia" pitchFamily="34" charset="-120"/>
              </a:rPr>
              <a:t>Independent and Aligned to the Brand</a:t>
            </a:r>
            <a:endParaRPr lang="en-US" sz="1700" dirty="0"/>
          </a:p>
        </p:txBody>
      </p:sp>
      <p:sp>
        <p:nvSpPr>
          <p:cNvPr id="34" name="Text 32"/>
          <p:cNvSpPr/>
          <p:nvPr/>
        </p:nvSpPr>
        <p:spPr>
          <a:xfrm>
            <a:off x="6437376" y="4754880"/>
            <a:ext cx="5111496"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DataWeave does not sell activation, run media, or own an agency. DSIM's recommendations have no incentive to push more spend. That independence matters when the output has to defend budget in front of Finance or contradict what an agency is selling.</a:t>
            </a:r>
            <a:endParaRPr lang="en-US" sz="1050" dirty="0"/>
          </a:p>
        </p:txBody>
      </p:sp>
      <p:sp>
        <p:nvSpPr>
          <p:cNvPr id="35" name="Shape 33"/>
          <p:cNvSpPr/>
          <p:nvPr/>
        </p:nvSpPr>
        <p:spPr>
          <a:xfrm>
            <a:off x="457200" y="5852160"/>
            <a:ext cx="11274552" cy="777240"/>
          </a:xfrm>
          <a:prstGeom prst="rect">
            <a:avLst/>
          </a:prstGeom>
          <a:solidFill>
            <a:srgbClr val="0D1B2A"/>
          </a:solidFill>
          <a:ln/>
        </p:spPr>
        <p:txBody>
          <a:bodyPr/>
          <a:lstStyle/>
          <a:p>
            <a:endParaRPr lang="en-US"/>
          </a:p>
        </p:txBody>
      </p:sp>
      <p:sp>
        <p:nvSpPr>
          <p:cNvPr id="36" name="Shape 34"/>
          <p:cNvSpPr/>
          <p:nvPr/>
        </p:nvSpPr>
        <p:spPr>
          <a:xfrm>
            <a:off x="457200" y="5852160"/>
            <a:ext cx="91440" cy="777240"/>
          </a:xfrm>
          <a:prstGeom prst="rect">
            <a:avLst/>
          </a:prstGeom>
          <a:solidFill>
            <a:srgbClr val="F18F01"/>
          </a:solidFill>
          <a:ln/>
        </p:spPr>
        <p:txBody>
          <a:bodyPr/>
          <a:lstStyle/>
          <a:p>
            <a:endParaRPr lang="en-US"/>
          </a:p>
        </p:txBody>
      </p:sp>
      <p:sp>
        <p:nvSpPr>
          <p:cNvPr id="37" name="Text 35"/>
          <p:cNvSpPr/>
          <p:nvPr/>
        </p:nvSpPr>
        <p:spPr>
          <a:xfrm>
            <a:off x="777240" y="5897880"/>
            <a:ext cx="2011680" cy="685800"/>
          </a:xfrm>
          <a:prstGeom prst="rect">
            <a:avLst/>
          </a:prstGeom>
          <a:noFill/>
          <a:ln/>
        </p:spPr>
        <p:txBody>
          <a:bodyPr wrap="square" lIns="0" tIns="0" rIns="0" bIns="0" rtlCol="0" anchor="ctr"/>
          <a:lstStyle/>
          <a:p>
            <a:pPr marL="0" indent="0">
              <a:buNone/>
            </a:pPr>
            <a:r>
              <a:rPr lang="en-US" sz="3200" b="1" dirty="0">
                <a:solidFill>
                  <a:srgbClr val="F18F01"/>
                </a:solidFill>
                <a:latin typeface="Georgia" pitchFamily="34" charset="0"/>
                <a:ea typeface="Georgia" pitchFamily="34" charset="-122"/>
                <a:cs typeface="Georgia" pitchFamily="34" charset="-120"/>
              </a:rPr>
              <a:t>$500K+</a:t>
            </a:r>
            <a:endParaRPr lang="en-US" sz="3200" dirty="0"/>
          </a:p>
        </p:txBody>
      </p:sp>
      <p:sp>
        <p:nvSpPr>
          <p:cNvPr id="38" name="Text 36"/>
          <p:cNvSpPr/>
          <p:nvPr/>
        </p:nvSpPr>
        <p:spPr>
          <a:xfrm>
            <a:off x="2834640" y="5852160"/>
            <a:ext cx="9144000" cy="7772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Annualized incremental sales opportunity </a:t>
            </a:r>
            <a:r>
              <a:rPr lang="en-US" sz="1200" dirty="0">
                <a:solidFill>
                  <a:srgbClr val="CBD5E1"/>
                </a:solidFill>
                <a:latin typeface="Calibri" pitchFamily="34" charset="0"/>
                <a:ea typeface="Calibri" pitchFamily="34" charset="-122"/>
                <a:cs typeface="Calibri" pitchFamily="34" charset="-120"/>
              </a:rPr>
              <a:t>typically unlocked by aligning investment to the most effective tactics and optimal spend ranges — achieved by reallocating existing resources, not by spending more.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18F01"/>
          </a:solidFill>
          <a:ln/>
        </p:spPr>
        <p:txBody>
          <a:bodyPr/>
          <a:lstStyle/>
          <a:p>
            <a:endParaRPr lang="en-US"/>
          </a:p>
        </p:txBody>
      </p:sp>
      <p:sp>
        <p:nvSpPr>
          <p:cNvPr id="3" name="Text 1"/>
          <p:cNvSpPr/>
          <p:nvPr/>
        </p:nvSpPr>
        <p:spPr>
          <a:xfrm>
            <a:off x="731520" y="2194560"/>
            <a:ext cx="10058400" cy="457200"/>
          </a:xfrm>
          <a:prstGeom prst="rect">
            <a:avLst/>
          </a:prstGeom>
          <a:noFill/>
          <a:ln/>
        </p:spPr>
        <p:txBody>
          <a:bodyPr wrap="square" lIns="0" tIns="0" rIns="0" bIns="0" rtlCol="0" anchor="ctr"/>
          <a:lstStyle/>
          <a:p>
            <a:pPr marL="0" indent="0">
              <a:buNone/>
            </a:pPr>
            <a:r>
              <a:rPr lang="en-US" sz="2200" b="1" kern="0" spc="400" dirty="0">
                <a:solidFill>
                  <a:srgbClr val="F18F01"/>
                </a:solidFill>
                <a:latin typeface="Calibri" pitchFamily="34" charset="0"/>
                <a:ea typeface="Calibri" pitchFamily="34" charset="-122"/>
                <a:cs typeface="Calibri" pitchFamily="34" charset="-120"/>
              </a:rPr>
              <a:t>The bottom line</a:t>
            </a:r>
            <a:endParaRPr lang="en-US" sz="2200" dirty="0"/>
          </a:p>
        </p:txBody>
      </p:sp>
      <p:sp>
        <p:nvSpPr>
          <p:cNvPr id="4" name="Text 2"/>
          <p:cNvSpPr/>
          <p:nvPr/>
        </p:nvSpPr>
        <p:spPr>
          <a:xfrm>
            <a:off x="731520" y="2743200"/>
            <a:ext cx="10058400" cy="2743200"/>
          </a:xfrm>
          <a:prstGeom prst="rect">
            <a:avLst/>
          </a:prstGeom>
          <a:noFill/>
          <a:ln/>
        </p:spPr>
        <p:txBody>
          <a:bodyPr wrap="square" lIns="0" tIns="0" rIns="0" bIns="0" rtlCol="0" anchor="ctr"/>
          <a:lstStyle/>
          <a:p>
            <a:pPr marL="0" indent="0">
              <a:spcAft>
                <a:spcPts val="600"/>
              </a:spcAft>
              <a:buNone/>
            </a:pPr>
            <a:r>
              <a:rPr lang="en-US" sz="2000" b="1" dirty="0">
                <a:solidFill>
                  <a:srgbClr val="FFFFFF"/>
                </a:solidFill>
                <a:latin typeface="Georgia" pitchFamily="34" charset="0"/>
                <a:ea typeface="Georgia" pitchFamily="34" charset="-122"/>
                <a:cs typeface="Georgia" pitchFamily="34" charset="-120"/>
              </a:rPr>
              <a:t>No competitor occupies the exact intersection DSIM does.
</a:t>
            </a:r>
            <a:r>
              <a:rPr lang="en-US" sz="1400" dirty="0">
                <a:solidFill>
                  <a:srgbClr val="000000"/>
                </a:solidFill>
                <a:latin typeface="Georgia" pitchFamily="34" charset="0"/>
                <a:ea typeface="Georgia" pitchFamily="34" charset="-122"/>
                <a:cs typeface="Georgia" pitchFamily="34" charset="-120"/>
              </a:rPr>
              <a:t>
</a:t>
            </a:r>
            <a:r>
              <a:rPr lang="en-US" sz="2000" dirty="0">
                <a:solidFill>
                  <a:srgbClr val="CBD5E1"/>
                </a:solidFill>
                <a:latin typeface="Georgia" pitchFamily="34" charset="0"/>
                <a:ea typeface="Georgia" pitchFamily="34" charset="-122"/>
                <a:cs typeface="Georgia" pitchFamily="34" charset="-120"/>
              </a:rPr>
              <a:t>CommerceIQ is closest, but tethered to its activation stack.</a:t>
            </a:r>
            <a:endParaRPr lang="en-US" sz="2000" dirty="0"/>
          </a:p>
          <a:p>
            <a:pPr marL="0" indent="0">
              <a:spcAft>
                <a:spcPts val="600"/>
              </a:spcAft>
              <a:buNone/>
            </a:pPr>
            <a:r>
              <a:rPr lang="en-US" sz="2000" dirty="0">
                <a:solidFill>
                  <a:srgbClr val="CBD5E1"/>
                </a:solidFill>
                <a:latin typeface="Georgia" pitchFamily="34" charset="0"/>
                <a:ea typeface="Georgia" pitchFamily="34" charset="-122"/>
                <a:cs typeface="Georgia" pitchFamily="34" charset="-120"/>
              </a:rPr>
              <a:t>Profitero owns coverage but not causation.</a:t>
            </a:r>
            <a:endParaRPr lang="en-US" sz="2000" dirty="0"/>
          </a:p>
          <a:p>
            <a:pPr marL="0" indent="0">
              <a:spcAft>
                <a:spcPts val="600"/>
              </a:spcAft>
              <a:buNone/>
            </a:pPr>
            <a:r>
              <a:rPr lang="en-US" sz="2000" dirty="0">
                <a:solidFill>
                  <a:srgbClr val="CBD5E1"/>
                </a:solidFill>
                <a:latin typeface="Georgia" pitchFamily="34" charset="0"/>
                <a:ea typeface="Georgia" pitchFamily="34" charset="-122"/>
                <a:cs typeface="Georgia" pitchFamily="34" charset="-120"/>
              </a:rPr>
              <a:t>Pacvue owns activation but not measurement.</a:t>
            </a:r>
            <a:endParaRPr lang="en-US" sz="2000" dirty="0"/>
          </a:p>
          <a:p>
            <a:pPr marL="0" indent="0">
              <a:spcAft>
                <a:spcPts val="600"/>
              </a:spcAft>
              <a:buNone/>
            </a:pPr>
            <a:r>
              <a:rPr lang="en-US" sz="2000" dirty="0">
                <a:solidFill>
                  <a:srgbClr val="CBD5E1"/>
                </a:solidFill>
                <a:latin typeface="Georgia" pitchFamily="34" charset="0"/>
                <a:ea typeface="Georgia" pitchFamily="34" charset="-122"/>
                <a:cs typeface="Georgia" pitchFamily="34" charset="-120"/>
              </a:rPr>
              <a:t>Analytic Partners and Nielsen own the CFO but are slow and shelf-blind.</a:t>
            </a:r>
            <a:endParaRPr lang="en-US" sz="2000" dirty="0"/>
          </a:p>
          <a:p>
            <a:pPr marL="0" indent="0">
              <a:spcAft>
                <a:spcPts val="600"/>
              </a:spcAft>
              <a:buNone/>
            </a:pPr>
            <a:r>
              <a:rPr lang="en-US" sz="2000" dirty="0">
                <a:solidFill>
                  <a:srgbClr val="CBD5E1"/>
                </a:solidFill>
                <a:latin typeface="Georgia" pitchFamily="34" charset="0"/>
                <a:ea typeface="Georgia" pitchFamily="34" charset="-122"/>
                <a:cs typeface="Georgia" pitchFamily="34" charset="-120"/>
              </a:rPr>
              <a:t>Walmart Connect is free but narrow and conflicted.</a:t>
            </a:r>
            <a:endParaRPr lang="en-US" sz="2000" dirty="0"/>
          </a:p>
        </p:txBody>
      </p:sp>
      <p:sp>
        <p:nvSpPr>
          <p:cNvPr id="5" name="Shape 3"/>
          <p:cNvSpPr/>
          <p:nvPr/>
        </p:nvSpPr>
        <p:spPr>
          <a:xfrm>
            <a:off x="731520" y="5669280"/>
            <a:ext cx="1371600" cy="0"/>
          </a:xfrm>
          <a:prstGeom prst="line">
            <a:avLst/>
          </a:prstGeom>
          <a:noFill/>
          <a:ln w="38100">
            <a:solidFill>
              <a:srgbClr val="F18F01"/>
            </a:solidFill>
            <a:prstDash val="solid"/>
          </a:ln>
        </p:spPr>
        <p:txBody>
          <a:bodyPr/>
          <a:lstStyle/>
          <a:p>
            <a:endParaRPr lang="en-US"/>
          </a:p>
        </p:txBody>
      </p:sp>
      <p:sp>
        <p:nvSpPr>
          <p:cNvPr id="6" name="Text 4"/>
          <p:cNvSpPr/>
          <p:nvPr/>
        </p:nvSpPr>
        <p:spPr>
          <a:xfrm>
            <a:off x="731520" y="5852160"/>
            <a:ext cx="10058400" cy="457200"/>
          </a:xfrm>
          <a:prstGeom prst="rect">
            <a:avLst/>
          </a:prstGeom>
          <a:noFill/>
          <a:ln/>
        </p:spPr>
        <p:txBody>
          <a:bodyPr wrap="square" lIns="0" tIns="0" rIns="0" bIns="0" rtlCol="0" anchor="ctr"/>
          <a:lstStyle/>
          <a:p>
            <a:pPr marL="0" indent="0">
              <a:buNone/>
            </a:pPr>
            <a:r>
              <a:rPr lang="en-US" sz="1400" i="1" dirty="0">
                <a:solidFill>
                  <a:srgbClr val="9CB4C9"/>
                </a:solidFill>
                <a:latin typeface="Calibri" pitchFamily="34" charset="0"/>
                <a:ea typeface="Calibri" pitchFamily="34" charset="-122"/>
                <a:cs typeface="Calibri" pitchFamily="34" charset="-120"/>
              </a:rPr>
              <a:t>DSIM wins when we lead the conversation — not when we respond to someone else's.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6588</Words>
  <Application>Microsoft Macintosh PowerPoint</Application>
  <PresentationFormat>Widescreen</PresentationFormat>
  <Paragraphs>708</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DSIM Competitive Landscape — Walmart</dc:title>
  <dc:subject>PptxGenJS Presentation</dc:subject>
  <dc:creator>DataWeave Competitive Intelligence</dc:creator>
  <cp:lastModifiedBy>Karthik Bettadapura</cp:lastModifiedBy>
  <cp:revision>1</cp:revision>
  <dcterms:created xsi:type="dcterms:W3CDTF">2026-04-16T04:35:10Z</dcterms:created>
  <dcterms:modified xsi:type="dcterms:W3CDTF">2026-04-16T04:37:11Z</dcterms:modified>
</cp:coreProperties>
</file>